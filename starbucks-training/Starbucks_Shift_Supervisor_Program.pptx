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c7a931f-274e-b12d-89c0-fe3a5d6ee17b}">
          <p14:sldIdLst>
            <p14:sldId id="256"/>
            <p14:sldId id="257"/>
            <p14:sldId id="258"/>
          </p14:sldIdLst>
        </p14:section>
        <p14:section name="01 Transition Effectively" id="{05c9779c-d095-329c-343c-c758e41b0398}">
          <p14:sldIdLst>
            <p14:sldId id="259"/>
            <p14:sldId id="260"/>
            <p14:sldId id="261"/>
            <p14:sldId id="262"/>
            <p14:sldId id="263"/>
            <p14:sldId id="264"/>
            <p14:sldId id="265"/>
          </p14:sldIdLst>
        </p14:section>
        <p14:section name="02 Communicate Effectively" id="{ac5b2153-8726-6cf7-03f4-774c53538eaf}">
          <p14:sldIdLst>
            <p14:sldId id="266"/>
            <p14:sldId id="267"/>
            <p14:sldId id="268"/>
            <p14:sldId id="269"/>
            <p14:sldId id="270"/>
            <p14:sldId id="271"/>
            <p14:sldId id="272"/>
            <p14:sldId id="273"/>
          </p14:sldIdLst>
        </p14:section>
        <p14:section name="03 Effective Time Management" id="{c8c120ac-4f3a-e1cf-558c-d10e941d769a}">
          <p14:sldIdLst>
            <p14:sldId id="274"/>
            <p14:sldId id="275"/>
            <p14:sldId id="276"/>
            <p14:sldId id="277"/>
            <p14:sldId id="278"/>
            <p14:sldId id="279"/>
          </p14:sldIdLst>
        </p14:section>
        <p14:section name="Closing" id="{b10a767a-13c0-34c8-f23a-3c360627ebf0}">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partners. This program brings together three sessions that every new Shift Supervisor goes through: Transition Effectively to be a Supervisor, Communicate Effectively, and Effective Time Management.
مرحباً بكم. هذا البرنامج يجمع ثلاث جلسات أساسية لكل مشرف شفت جديد: الانتقال الفعّال لدور المشرف، التواصل الفعّال، وإدارة الوقت بفعالية.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sessions, one journey. Session 1 builds the leadership identity; Session 2 gives the communication tools to lead people; Session 3 gives the planning tools to lead the shift. Each session ends with practical tools you can use on your next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Shift Supervisor does connects back to the mission and the four values. The official self-reflection for shift supervisors is built on these same values: 'I create a culture of warmth and belonging', 'I act with courage and challenge the status quo', 'I deliver my very best every day and achieve results'.
كل ما يفعله مشرف الشفت يرتبط بالرسالة والقيم الأربع.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Goal: understand what changes when you move from barista to Shift Supervisor, and learn the official Starbucks tools for running a shift: the Shift Pattern (Prepare &gt; Lead &gt; Transition) and the ACT Decision Making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Starbucks Excellence in Operations Standards – Shift Supervisor Approach.
The biggest change is identity: you are no longer measured only by what you produce on bar, but by what the whole team delivers on your shift. Discuss: which of these five shifts feels hardest for you?
أكبر تغيير هو الهوية: لم تعد تُقاس بما تنتجه أنت، بل بما يقدمه الفريق كله خلال شفتك.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activities come straight from the Starbucks Shift Supervisor Approach (Excellence in Operations Standards). Observable behaviours of a supervisor in the 'owning' stage include: using the Prepare &gt; Lead &gt; Transition pattern on each shift; using Partner Hub, the Daily Plan and the Store Walk to prioritise; using the Quick Connect so partners have what they need; documenting key information for smooth shift-to-shift transitions; and creating moments every shift to share craft and coffee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Pattern is 'the consistent way to prepare, lead and transition your shift so that teamwork can thrive' (Starbucks Shift Supervisor Approach).
PREPARE – check in with yourself, your store (Daily Coverage Report, Daily Plan, Operations Station) and communications (Partner Hub, Weekly Readiness Chart).
LEAD – run the play, Quick Connect with partners as they check in, read customer cues, flex the play and coach.
TRANSITION – check out with your store (share useful information for the next shift or your manager on the Daily Plan), your team (thank and recognise partners) and yourself ('How did I lead today?' and 'What will I do differently on my next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 Decision Making Model 'helps those leading the shift understand how to keep the store safe, welcoming and meeting customer and partner needs' (Starbucks Shift Supervisor Approach).
Assess → Consider ('If you don't take action, how will it impact the customer and partner experience?') → Take Action (Coach, Flex the Play, Contact Your Resources).
Level examples from the guide: (1) long customer or product queue, not achieving standard; (2) facilities or equipment issue, POS down, partner/customer injury, delivery issue, call out/no show, product outage; (3) disruptive behaviour, personal hygiene, smoking or alcohol, solicitation; (4) potential danger → follow Store Safety Procedures; immediate danger (fire, robbery, medical emergency) → call emergency services.
Activity: give each table a scenario card and ask them to place it on the right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Starbucks Career Development Guide describes the developmental shift toward leadership as 'Acting Courageously': moving from a focus on maintaining peer relationships to balancing positional and personal influence to solve problems, and being willing to make the hard calls when necessary.
Discussion: share a moment when leading a friend felt uncomfortable. What did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Starbucks describes development in three stages: Learning, Owning and Advising (L-O-A). The official reflection asks supervisors to rate themselves L, O or A on statements such as 'Consistently, I transition my shift by checking out with the store, the team and myself.'
The 30-60-90 plan here is a recommended structure to agree with your Store Manager; adapt it to your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A supervisor communicates in four directions: with the team on shift, with customers, with the Store Manager, and with the next shift. This session gives tools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Shift Supervisor Approach: supervisors 'use communication tracking tools, Weekly Update and Now Brewing to ensure they are prepared to share information with baristas as they check in', 'use the Quick Connect to ensure partners on shift have the information they need to delight customers', and 'document and share key information to uphold Starbucks standards and ensure smooth transitions from shift to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Connect' is the Starbucks term for the brief connection a supervisor has with partners on shift (Shift Supervisor Approach). The 4-step structure Connect › Inform › Focus › Energise is a recommended way to run it consistently.
Practice: pair up and run a 2-minute Quick Connect for tomorrow's morning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listening underpins every other tool in this session – LATTE starts with Listen, and the Interaction Guidelines say 'listen actively, use a calm tone and clearly state what you need'. In peak, if you can't listen fully, say so and set a time: 'I want to hear this properly – can we talk at 10:30 on your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LATTE was created by Starbucks after internal studies found most service lapses happened in high-stress moments – a rush of orders or an upset customer. A rehearsed routine means partners don't have to rely on willpower in those moments (Charles Duhigg, The Power of Habit).
The supervisor's role: model LATTE, coach partners to use it, and step in when a situation escalates. Role-play: 'My drink is wrong and I've been waiting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'Ways of Being' come from The Green Apron Book given to every partner: Be Welcoming, Be Genuine (Connect, Discover, Respond), Be Knowledgeable, Be Considerate, Be Involved.
In 2025 Starbucks rolled out the 'Green Apron Service' model across North America as part of 'Back to Starbucks': warm greetings, offering a mug for 'for here' orders, handwritten messages on cups, connection at hand-off, clean welcoming cafés, supported by an evolved staffing/deployment model and a goal of serving in four minutes or less. Check with your Store Manager for how it applies in your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Supervisor Approach asks supervisors to 'identify teachable moments and provide redirection and coaching, as appropriate' and to 'encourage teamwork and motivate partners through recognition and celebrating team wins'.
SBI (Situation-Behaviour-Impact, developed by the Center for Creative Leadership) plus an agreed Next step is a simple, fair structure for both praise and redirection. Practice writing one SBI-N for a partner on your last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Guidelines are quoted from the Starbucks Shift Supervisor Approach (ACT model, level 3: 'the situation is relatively safe, but disrupts the third place'). If the behaviour does not stop or there is potential danger, move up the ACT escalation levels: follow Store Safety Procedures, and in immediate danger call emergency services.
The partner-conflict steps are recommended practice; always follow your local partner policies and involve your Store Manager for anything involving policy, harassment 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On a shift, time is the scarcest resource. A supervisor manages three clocks at once: the customer's wait time, the team's labour hours and breaks, and the store's routines and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Shift Supervisor Approach: 'Uses information from Partner Hub, Daily Plan and Store Walk to prioritize activities on shift' and 'Uses the Daily Coverage Report and store plays to determine positions, routines, tasks and the plan for rest and meal breaks'; 'Completes tasks on the Operations Station Play Caller Cards'.
Rule of thumb: invest the first 10–15 minutes of your shift in preparing – it saves hours of reacting.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Supervisor Approach asks supervisors to put themselves 'in the best position to read customer cues throughout the shift' and to 'understand when and how to flex the play to optimize the customer experience'.
Figures: Starbucks' Green Apron Service model targets getting orders to customers in four minutes or less; in the pilot, about three-quarters of in-store orders at the busiest times were completed within four minutes and average wait times fell by about two minutes (company-reported, 2025).
Key habit: move tasks out of peak, not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Eisenhower (Urgent/Important) matrix applied to a Starbucks shift. Most supervisors live in 'Do now'; great supervisors protect time for 'Schedule' – coaching and preparing for the next peak – which is what reduces tomorrow's emergencies.
Activity: list everything you did on your last shift and sort it into the four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 putting the right partner in the right position at the right time. In 2025 Starbucks moved to an evolved staffing model that adjusts roster size, labour hours, peak coverage and deployment, with more deployment decisions in the hands of store leaders rather than a fixed script – which makes the supervisor's judgement on shift even more important.
When delegating, state the task, the expected outcome and when it should be done – then follow up and say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only – adapt times to your store's peaks, trading hours and Daily Coverage Report. The pattern is what matters: prepare before the doors open, protect the peaks, use the valleys for breaks, cleaning, restocking and coaching, and always finish with a clean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statements are taken from the official Shift Supervisor Approach reflection. Ask each participant to circle L, O or A and be ready to discuss an example with their coach / Store Manager. Then ask everyone to write ONE commitment for their next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two questions from the Shift Pattern: start every shift with 'How will I lead today?' and end it with 'How did I lead today?' and 'What will I do differently on my next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Invite questions. Remind everyone to share their one commitment with their Store Manager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76127" y="347472"/>
            <a:ext cx="566928" cy="566928"/>
          </a:xfrm>
          <a:prstGeom prst="rect">
            <a:avLst/>
          </a:prstGeom>
        </p:spPr>
      </p:pic>
      <p:sp>
        <p:nvSpPr>
          <p:cNvPr id="3" name="Text 0"/>
          <p:cNvSpPr/>
          <p:nvPr>
            <p:ph idx="101" type="title" hasCustomPrompt="1"/>
          </p:nvPr>
        </p:nvSpPr>
        <p:spPr>
          <a:xfrm>
            <a:off x="548640" y="292608"/>
            <a:ext cx="1024128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548640" y="896112"/>
            <a:ext cx="11094415" cy="457200"/>
          </a:xfrm>
          <a:prstGeom prst="rect">
            <a:avLst/>
          </a:prstGeom>
          <a:noFill/>
          <a:ln/>
        </p:spPr>
        <p:txBody>
          <a:bodyPr wrap="square" rtlCol="0"/>
          <a:lstStyle>
            <a:lvl1pPr algn="r" indent="0" marL="0">
              <a:buNone/>
              <a:defRPr lang="en-US" sz="2000" b="1" dirty="0">
                <a:solidFill>
                  <a:schemeClr val="tx2"/>
                </a:solidFill>
              </a:defRPr>
            </a:lvl1pPr>
          </a:lstStyle>
          <a:p>
            <a:pPr algn="r" indent="0" marL="0">
              <a:buNone/>
            </a:pPr>
            <a:endParaRPr lang="en-US" sz="2000" dirty="0"/>
          </a:p>
        </p:txBody>
      </p:sp>
      <p:sp>
        <p:nvSpPr>
          <p:cNvPr id="5"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Starbucks  |  Shift Supervisor Development  |  تطوير مشرفي الشفت</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3200400" cy="1371600"/>
          </a:xfrm>
          <a:prstGeom prst="rect">
            <a:avLst/>
          </a:prstGeom>
          <a:noFill/>
          <a:ln/>
        </p:spPr>
        <p:txBody>
          <a:bodyPr wrap="square" rtlCol="0"/>
          <a:lstStyle>
            <a:lvl1pPr algn="l" indent="0" marL="0">
              <a:buNone/>
              <a:defRPr lang="en-US" sz="9600" b="1" dirty="0">
                <a:solidFill>
                  <a:schemeClr val="accent3"/>
                </a:solidFill>
              </a:defRPr>
            </a:lvl1pPr>
          </a:lstStyle>
          <a:p>
            <a:pPr algn="l" indent="0" marL="0">
              <a:buNone/>
            </a:pPr>
            <a:endParaRPr lang="en-US" sz="9600" dirty="0"/>
          </a:p>
        </p:txBody>
      </p:sp>
      <p:sp>
        <p:nvSpPr>
          <p:cNvPr id="3" name="Text 0"/>
          <p:cNvSpPr/>
          <p:nvPr>
            <p:ph idx="101" type="title" hasCustomPrompt="1"/>
          </p:nvPr>
        </p:nvSpPr>
        <p:spPr>
          <a:xfrm>
            <a:off x="640080" y="2743200"/>
            <a:ext cx="694944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4160520"/>
            <a:ext cx="6949440" cy="731520"/>
          </a:xfrm>
          <a:prstGeom prst="rect">
            <a:avLst/>
          </a:prstGeom>
          <a:noFill/>
          <a:ln/>
        </p:spPr>
        <p:txBody>
          <a:bodyPr wrap="square" rtlCol="0"/>
          <a:lstStyle>
            <a:lvl1pPr algn="r" indent="0" marL="0">
              <a:buNone/>
              <a:defRPr lang="en-US" sz="2800" b="1" dirty="0">
                <a:solidFill>
                  <a:schemeClr val="accent4"/>
                </a:solidFill>
              </a:defRPr>
            </a:lvl1pPr>
          </a:lstStyle>
          <a:p>
            <a:pPr algn="r" indent="0" marL="0">
              <a:buNone/>
            </a:pPr>
            <a:endParaRPr lang="en-US" sz="2800" dirty="0"/>
          </a:p>
        </p:txBody>
      </p:sp>
      <p:sp>
        <p:nvSpPr>
          <p:cNvPr id="5" name="Text 0"/>
          <p:cNvSpPr/>
          <p:nvPr>
            <p:ph idx="103" type="body" hasCustomPrompt="1"/>
          </p:nvPr>
        </p:nvSpPr>
        <p:spPr>
          <a:xfrm>
            <a:off x="640080" y="5074920"/>
            <a:ext cx="6949440" cy="822960"/>
          </a:xfrm>
          <a:prstGeom prst="rect">
            <a:avLst/>
          </a:prstGeom>
          <a:noFill/>
          <a:ln/>
        </p:spPr>
        <p:txBody>
          <a:bodyPr wrap="square" rtlCol="0"/>
          <a:lstStyle>
            <a:lvl1pPr algn="l" indent="0" marL="0">
              <a:buNone/>
              <a:defRPr lang="en-US" sz="1500" dirty="0">
                <a:solidFill>
                  <a:schemeClr val="accent4"/>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circle"/>
          <p:cNvSpPr/>
          <p:nvPr/>
        </p:nvSpPr>
        <p:spPr>
          <a:xfrm>
            <a:off x="6675120" y="868680"/>
            <a:ext cx="5120640" cy="5120640"/>
          </a:xfrm>
          <a:prstGeom prst="ellipse">
            <a:avLst/>
          </a:prstGeom>
          <a:solidFill>
            <a:schemeClr val="accent1"/>
          </a:solidFill>
          <a:ln w="12700">
            <a:solidFill>
              <a:schemeClr val="accent1"/>
            </a:solidFill>
            <a:prstDash val="solid"/>
          </a:ln>
        </p:spPr>
      </p:sp>
      <p:sp>
        <p:nvSpPr>
          <p:cNvPr id="3" name="cover-dot"/>
          <p:cNvSpPr/>
          <p:nvPr/>
        </p:nvSpPr>
        <p:spPr>
          <a:xfrm>
            <a:off x="10744200" y="4983480"/>
            <a:ext cx="1005840" cy="1005840"/>
          </a:xfrm>
          <a:prstGeom prst="ellipse">
            <a:avLst/>
          </a:prstGeom>
          <a:solidFill>
            <a:schemeClr val="accent3"/>
          </a:solidFill>
          <a:ln w="12700">
            <a:solidFill>
              <a:schemeClr val="accent3"/>
            </a:solidFill>
            <a:prstDash val="solid"/>
          </a:ln>
        </p:spPr>
      </p:sp>
      <p:pic>
        <p:nvPicPr>
          <p:cNvPr id="4" name="cover-logo" descr="preencoded.png">    </p:cNvPr>
          <p:cNvPicPr>
            <a:picLocks noChangeAspect="1"/>
          </p:cNvPicPr>
          <p:nvPr/>
        </p:nvPicPr>
        <p:blipFill>
          <a:blip r:embed="rId1"/>
          <a:stretch>
            <a:fillRect/>
          </a:stretch>
        </p:blipFill>
        <p:spPr>
          <a:xfrm>
            <a:off x="7589520" y="1783080"/>
            <a:ext cx="3291840" cy="3291840"/>
          </a:xfrm>
          <a:prstGeom prst="rect">
            <a:avLst/>
          </a:prstGeom>
        </p:spPr>
      </p:pic>
      <p:sp>
        <p:nvSpPr>
          <p:cNvPr id="5" name="text-1"/>
          <p:cNvSpPr txBox="1"/>
          <p:nvPr/>
        </p:nvSpPr>
        <p:spPr>
          <a:xfrm>
            <a:off x="640080" y="822960"/>
            <a:ext cx="6400800" cy="365760"/>
          </a:xfrm>
          <a:prstGeom prst="rect">
            <a:avLst/>
          </a:prstGeom>
          <a:noFill/>
          <a:ln/>
        </p:spPr>
        <p:txBody>
          <a:bodyPr wrap="square" lIns="0" tIns="0" rIns="0" bIns="0" rtlCol="0" anchor="t"/>
          <a:lstStyle/>
          <a:p>
            <a:pPr indent="0" marL="0">
              <a:buNone/>
            </a:pPr>
            <a:r>
              <a:rPr lang="en-US" sz="1400" b="1" spc="300" kern="0" dirty="0">
                <a:solidFill>
                  <a:schemeClr val="accent3"/>
                </a:solidFill>
              </a:rPr>
              <a:t>STARBUCKS  ·  PARTNER DEVELOPMENT</a:t>
            </a:r>
            <a:endParaRPr lang="en-US" sz="1400" dirty="0"/>
          </a:p>
        </p:txBody>
      </p:sp>
      <p:sp>
        <p:nvSpPr>
          <p:cNvPr id="6" name="text-2"/>
          <p:cNvSpPr txBox="1"/>
          <p:nvPr/>
        </p:nvSpPr>
        <p:spPr>
          <a:xfrm>
            <a:off x="640080" y="1371600"/>
            <a:ext cx="5852160" cy="1554480"/>
          </a:xfrm>
          <a:prstGeom prst="rect">
            <a:avLst/>
          </a:prstGeom>
          <a:noFill/>
          <a:ln/>
        </p:spPr>
        <p:txBody>
          <a:bodyPr wrap="square" lIns="0" tIns="0" rIns="0" bIns="0" rtlCol="0" anchor="t"/>
          <a:lstStyle/>
          <a:p>
            <a:pPr indent="0" marL="0">
              <a:buNone/>
            </a:pPr>
            <a:r>
              <a:rPr lang="en-US" sz="4400" b="1" dirty="0">
                <a:solidFill>
                  <a:schemeClr val="bg1"/>
                </a:solidFill>
              </a:rPr>
              <a:t>Shift Supervisor Leadership Program</a:t>
            </a:r>
            <a:endParaRPr lang="en-US" sz="4400" dirty="0"/>
          </a:p>
        </p:txBody>
      </p:sp>
      <p:sp>
        <p:nvSpPr>
          <p:cNvPr id="7" name="text-3"/>
          <p:cNvSpPr txBox="1"/>
          <p:nvPr/>
        </p:nvSpPr>
        <p:spPr>
          <a:xfrm>
            <a:off x="640080" y="2971800"/>
            <a:ext cx="5760720" cy="685800"/>
          </a:xfrm>
          <a:prstGeom prst="rect">
            <a:avLst/>
          </a:prstGeom>
          <a:noFill/>
          <a:ln/>
        </p:spPr>
        <p:txBody>
          <a:bodyPr wrap="square" lIns="0" tIns="0" rIns="0" bIns="0" rtlCol="0" anchor="t"/>
          <a:lstStyle/>
          <a:p>
            <a:pPr rtl="1" algn="r" indent="0" marL="0">
              <a:buNone/>
            </a:pPr>
            <a:r>
              <a:rPr lang="ar-EG" altLang="en-US" sz="3200" b="1" dirty="0">
                <a:solidFill>
                  <a:schemeClr val="accent4"/>
                </a:solidFill>
              </a:rPr>
              <a:t>برنامج قيادة مشرفي الشفت</a:t>
            </a:r>
            <a:endParaRPr lang="en-US" sz="3200" dirty="0"/>
          </a:p>
        </p:txBody>
      </p:sp>
      <p:sp>
        <p:nvSpPr>
          <p:cNvPr id="8" name="chip-4"/>
          <p:cNvSpPr/>
          <p:nvPr/>
        </p:nvSpPr>
        <p:spPr>
          <a:xfrm>
            <a:off x="640080" y="3977640"/>
            <a:ext cx="5760720" cy="512064"/>
          </a:xfrm>
          <a:prstGeom prst="roundRect">
            <a:avLst>
              <a:gd name="adj" fmla="val 50000"/>
            </a:avLst>
          </a:prstGeom>
          <a:solidFill>
            <a:schemeClr val="accent5"/>
          </a:solidFill>
          <a:ln w="12700">
            <a:solidFill>
              <a:schemeClr val="accent5"/>
            </a:solidFill>
            <a:prstDash val="solid"/>
          </a:ln>
        </p:spPr>
      </p:sp>
      <p:sp>
        <p:nvSpPr>
          <p:cNvPr id="9" name="text-5"/>
          <p:cNvSpPr txBox="1"/>
          <p:nvPr/>
        </p:nvSpPr>
        <p:spPr>
          <a:xfrm>
            <a:off x="868680" y="3977640"/>
            <a:ext cx="3840480" cy="512064"/>
          </a:xfrm>
          <a:prstGeom prst="rect">
            <a:avLst/>
          </a:prstGeom>
          <a:noFill/>
          <a:ln/>
        </p:spPr>
        <p:txBody>
          <a:bodyPr wrap="square" lIns="0" tIns="0" rIns="0" bIns="0" rtlCol="0" anchor="ctr"/>
          <a:lstStyle/>
          <a:p>
            <a:pPr indent="0" marL="0">
              <a:buNone/>
            </a:pPr>
            <a:r>
              <a:rPr lang="en-US" sz="1500" b="1" dirty="0">
                <a:solidFill>
                  <a:schemeClr val="bg1"/>
                </a:solidFill>
              </a:rPr>
              <a:t>01   Transition Effectively</a:t>
            </a:r>
            <a:endParaRPr lang="en-US" sz="1500" dirty="0"/>
          </a:p>
        </p:txBody>
      </p:sp>
      <p:sp>
        <p:nvSpPr>
          <p:cNvPr id="10" name="text-6"/>
          <p:cNvSpPr txBox="1"/>
          <p:nvPr/>
        </p:nvSpPr>
        <p:spPr>
          <a:xfrm>
            <a:off x="3931920" y="3977640"/>
            <a:ext cx="2286000" cy="512064"/>
          </a:xfrm>
          <a:prstGeom prst="rect">
            <a:avLst/>
          </a:prstGeom>
          <a:noFill/>
          <a:ln/>
        </p:spPr>
        <p:txBody>
          <a:bodyPr wrap="square" lIns="0" tIns="0" rIns="0" bIns="0" rtlCol="0" anchor="ctr"/>
          <a:lstStyle/>
          <a:p>
            <a:pPr rtl="1" algn="r" indent="0" marL="0">
              <a:buNone/>
            </a:pPr>
            <a:r>
              <a:rPr lang="ar-EG" altLang="en-US" sz="1500" b="1" dirty="0">
                <a:solidFill>
                  <a:schemeClr val="accent4"/>
                </a:solidFill>
              </a:rPr>
              <a:t>الانتقال الفعّال</a:t>
            </a:r>
            <a:endParaRPr lang="en-US" sz="1500" dirty="0"/>
          </a:p>
        </p:txBody>
      </p:sp>
      <p:sp>
        <p:nvSpPr>
          <p:cNvPr id="11" name="chip-7"/>
          <p:cNvSpPr/>
          <p:nvPr/>
        </p:nvSpPr>
        <p:spPr>
          <a:xfrm>
            <a:off x="640080" y="4599432"/>
            <a:ext cx="5760720" cy="512064"/>
          </a:xfrm>
          <a:prstGeom prst="roundRect">
            <a:avLst>
              <a:gd name="adj" fmla="val 50000"/>
            </a:avLst>
          </a:prstGeom>
          <a:solidFill>
            <a:schemeClr val="accent5"/>
          </a:solidFill>
          <a:ln w="12700">
            <a:solidFill>
              <a:schemeClr val="accent5"/>
            </a:solidFill>
            <a:prstDash val="solid"/>
          </a:ln>
        </p:spPr>
      </p:sp>
      <p:sp>
        <p:nvSpPr>
          <p:cNvPr id="12" name="text-8"/>
          <p:cNvSpPr txBox="1"/>
          <p:nvPr/>
        </p:nvSpPr>
        <p:spPr>
          <a:xfrm>
            <a:off x="868680" y="4599432"/>
            <a:ext cx="3840480" cy="512064"/>
          </a:xfrm>
          <a:prstGeom prst="rect">
            <a:avLst/>
          </a:prstGeom>
          <a:noFill/>
          <a:ln/>
        </p:spPr>
        <p:txBody>
          <a:bodyPr wrap="square" lIns="0" tIns="0" rIns="0" bIns="0" rtlCol="0" anchor="ctr"/>
          <a:lstStyle/>
          <a:p>
            <a:pPr indent="0" marL="0">
              <a:buNone/>
            </a:pPr>
            <a:r>
              <a:rPr lang="en-US" sz="1500" b="1" dirty="0">
                <a:solidFill>
                  <a:schemeClr val="bg1"/>
                </a:solidFill>
              </a:rPr>
              <a:t>02   Communicate Effectively</a:t>
            </a:r>
            <a:endParaRPr lang="en-US" sz="1500" dirty="0"/>
          </a:p>
        </p:txBody>
      </p:sp>
      <p:sp>
        <p:nvSpPr>
          <p:cNvPr id="13" name="text-9"/>
          <p:cNvSpPr txBox="1"/>
          <p:nvPr/>
        </p:nvSpPr>
        <p:spPr>
          <a:xfrm>
            <a:off x="3931920" y="4599432"/>
            <a:ext cx="2286000" cy="512064"/>
          </a:xfrm>
          <a:prstGeom prst="rect">
            <a:avLst/>
          </a:prstGeom>
          <a:noFill/>
          <a:ln/>
        </p:spPr>
        <p:txBody>
          <a:bodyPr wrap="square" lIns="0" tIns="0" rIns="0" bIns="0" rtlCol="0" anchor="ctr"/>
          <a:lstStyle/>
          <a:p>
            <a:pPr rtl="1" algn="r" indent="0" marL="0">
              <a:buNone/>
            </a:pPr>
            <a:r>
              <a:rPr lang="ar-EG" altLang="en-US" sz="1500" b="1" dirty="0">
                <a:solidFill>
                  <a:schemeClr val="accent4"/>
                </a:solidFill>
              </a:rPr>
              <a:t>التواصل الفعّال</a:t>
            </a:r>
            <a:endParaRPr lang="en-US" sz="1500" dirty="0"/>
          </a:p>
        </p:txBody>
      </p:sp>
      <p:sp>
        <p:nvSpPr>
          <p:cNvPr id="14" name="chip-10"/>
          <p:cNvSpPr/>
          <p:nvPr/>
        </p:nvSpPr>
        <p:spPr>
          <a:xfrm>
            <a:off x="640080" y="5221224"/>
            <a:ext cx="5760720" cy="512064"/>
          </a:xfrm>
          <a:prstGeom prst="roundRect">
            <a:avLst>
              <a:gd name="adj" fmla="val 50000"/>
            </a:avLst>
          </a:prstGeom>
          <a:solidFill>
            <a:schemeClr val="accent5"/>
          </a:solidFill>
          <a:ln w="12700">
            <a:solidFill>
              <a:schemeClr val="accent5"/>
            </a:solidFill>
            <a:prstDash val="solid"/>
          </a:ln>
        </p:spPr>
      </p:sp>
      <p:sp>
        <p:nvSpPr>
          <p:cNvPr id="15" name="text-11"/>
          <p:cNvSpPr txBox="1"/>
          <p:nvPr/>
        </p:nvSpPr>
        <p:spPr>
          <a:xfrm>
            <a:off x="868680" y="5221224"/>
            <a:ext cx="3840480" cy="512064"/>
          </a:xfrm>
          <a:prstGeom prst="rect">
            <a:avLst/>
          </a:prstGeom>
          <a:noFill/>
          <a:ln/>
        </p:spPr>
        <p:txBody>
          <a:bodyPr wrap="square" lIns="0" tIns="0" rIns="0" bIns="0" rtlCol="0" anchor="ctr"/>
          <a:lstStyle/>
          <a:p>
            <a:pPr indent="0" marL="0">
              <a:buNone/>
            </a:pPr>
            <a:r>
              <a:rPr lang="en-US" sz="1500" b="1" dirty="0">
                <a:solidFill>
                  <a:schemeClr val="bg1"/>
                </a:solidFill>
              </a:rPr>
              <a:t>03   Effective Time Management</a:t>
            </a:r>
            <a:endParaRPr lang="en-US" sz="1500" dirty="0"/>
          </a:p>
        </p:txBody>
      </p:sp>
      <p:sp>
        <p:nvSpPr>
          <p:cNvPr id="16" name="text-12"/>
          <p:cNvSpPr txBox="1"/>
          <p:nvPr/>
        </p:nvSpPr>
        <p:spPr>
          <a:xfrm>
            <a:off x="3931920" y="5221224"/>
            <a:ext cx="2286000" cy="512064"/>
          </a:xfrm>
          <a:prstGeom prst="rect">
            <a:avLst/>
          </a:prstGeom>
          <a:noFill/>
          <a:ln/>
        </p:spPr>
        <p:txBody>
          <a:bodyPr wrap="square" lIns="0" tIns="0" rIns="0" bIns="0" rtlCol="0" anchor="ctr"/>
          <a:lstStyle/>
          <a:p>
            <a:pPr rtl="1" algn="r" indent="0" marL="0">
              <a:buNone/>
            </a:pPr>
            <a:r>
              <a:rPr lang="ar-EG" altLang="en-US" sz="1500" b="1" dirty="0">
                <a:solidFill>
                  <a:schemeClr val="accent4"/>
                </a:solidFill>
              </a:rPr>
              <a:t>إدارة الوقت بفعالية</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Program Roadmap</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خريطة البرنامج</a:t>
            </a:r>
            <a:endParaRPr lang="ar-EG" sz="2000" dirty="0"/>
          </a:p>
        </p:txBody>
      </p:sp>
      <p:sp>
        <p:nvSpPr>
          <p:cNvPr id="4" name="card-13"/>
          <p:cNvSpPr/>
          <p:nvPr/>
        </p:nvSpPr>
        <p:spPr>
          <a:xfrm>
            <a:off x="548640"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14"/>
          <p:cNvSpPr/>
          <p:nvPr/>
        </p:nvSpPr>
        <p:spPr>
          <a:xfrm>
            <a:off x="822960" y="1984248"/>
            <a:ext cx="731520" cy="731520"/>
          </a:xfrm>
          <a:prstGeom prst="ellipse">
            <a:avLst/>
          </a:prstGeom>
          <a:solidFill>
            <a:schemeClr val="accent1"/>
          </a:solidFill>
          <a:ln w="12700">
            <a:solidFill>
              <a:schemeClr val="accent1"/>
            </a:solidFill>
            <a:prstDash val="solid"/>
          </a:ln>
        </p:spPr>
      </p:sp>
      <p:pic>
        <p:nvPicPr>
          <p:cNvPr id="6" name="icon-15" descr="preencoded.png">    </p:cNvPr>
          <p:cNvPicPr>
            <a:picLocks noChangeAspect="1"/>
          </p:cNvPicPr>
          <p:nvPr/>
        </p:nvPicPr>
        <p:blipFill>
          <a:blip r:embed="rId1"/>
          <a:stretch>
            <a:fillRect/>
          </a:stretch>
        </p:blipFill>
        <p:spPr>
          <a:xfrm>
            <a:off x="983894" y="2145182"/>
            <a:ext cx="409651" cy="409651"/>
          </a:xfrm>
          <a:prstGeom prst="rect">
            <a:avLst/>
          </a:prstGeom>
        </p:spPr>
      </p:pic>
      <p:sp>
        <p:nvSpPr>
          <p:cNvPr id="7" name="text-16"/>
          <p:cNvSpPr txBox="1"/>
          <p:nvPr/>
        </p:nvSpPr>
        <p:spPr>
          <a:xfrm>
            <a:off x="2578608" y="1947672"/>
            <a:ext cx="1188720" cy="777240"/>
          </a:xfrm>
          <a:prstGeom prst="rect">
            <a:avLst/>
          </a:prstGeom>
          <a:noFill/>
          <a:ln/>
        </p:spPr>
        <p:txBody>
          <a:bodyPr wrap="square" lIns="0" tIns="0" rIns="0" bIns="0" rtlCol="0" anchor="t"/>
          <a:lstStyle/>
          <a:p>
            <a:pPr algn="r" indent="0" marL="0">
              <a:buNone/>
            </a:pPr>
            <a:r>
              <a:rPr lang="en-US" sz="4000" b="1" dirty="0">
                <a:solidFill>
                  <a:schemeClr val="accent3"/>
                </a:solidFill>
              </a:rPr>
              <a:t>01</a:t>
            </a:r>
            <a:endParaRPr lang="en-US" sz="4000" dirty="0"/>
          </a:p>
        </p:txBody>
      </p:sp>
      <p:sp>
        <p:nvSpPr>
          <p:cNvPr id="8" name="text-17"/>
          <p:cNvSpPr txBox="1"/>
          <p:nvPr/>
        </p:nvSpPr>
        <p:spPr>
          <a:xfrm>
            <a:off x="822960" y="2971800"/>
            <a:ext cx="2944368" cy="2971800"/>
          </a:xfrm>
          <a:prstGeom prst="rect">
            <a:avLst/>
          </a:prstGeom>
          <a:noFill/>
          <a:ln/>
        </p:spPr>
        <p:txBody>
          <a:bodyPr wrap="square" lIns="0" tIns="0" rIns="0" bIns="0" rtlCol="0" anchor="t"/>
          <a:lstStyle/>
          <a:p>
            <a:pPr algn="l" indent="0" marL="0">
              <a:spcAft>
                <a:spcPts val="200"/>
              </a:spcAft>
              <a:buNone/>
            </a:pPr>
            <a:r>
              <a:rPr lang="en-US" sz="2000" b="1" dirty="0">
                <a:solidFill>
                  <a:schemeClr val="tx1"/>
                </a:solidFill>
              </a:rPr>
              <a:t>Transition Effectively to be a Supervisor</a:t>
            </a:r>
            <a:endParaRPr lang="en-US" sz="2000" dirty="0"/>
          </a:p>
          <a:p>
            <a:pPr algn="l" indent="0" marL="0">
              <a:spcAft>
                <a:spcPts val="600"/>
              </a:spcAft>
              <a:buNone/>
            </a:pPr>
            <a:r>
              <a:rPr lang="en-US" sz="1600" dirty="0">
                <a:solidFill>
                  <a:schemeClr val="tx1"/>
                </a:solidFill>
              </a:rPr>
              <a:t>From barista to shift leader: the role, the mindset, the shift pattern and the ACT model</a:t>
            </a:r>
            <a:endParaRPr lang="en-US" sz="2000" dirty="0"/>
          </a:p>
          <a:p>
            <a:pPr rtl="1" algn="r" indent="0" marL="0">
              <a:spcAft>
                <a:spcPts val="200"/>
              </a:spcAft>
              <a:buNone/>
            </a:pPr>
            <a:r>
              <a:rPr lang="ar-EG" altLang="en-US" sz="2000" b="1" dirty="0">
                <a:solidFill>
                  <a:schemeClr val="tx2"/>
                </a:solidFill>
              </a:rPr>
              <a:t>الانتقال الفعّال لدور المشرف</a:t>
            </a:r>
            <a:endParaRPr lang="en-US" sz="2000" dirty="0"/>
          </a:p>
          <a:p>
            <a:pPr rtl="1" algn="r" indent="0" marL="0">
              <a:buNone/>
            </a:pPr>
            <a:r>
              <a:rPr lang="ar-EG" altLang="en-US" sz="1600" dirty="0">
                <a:solidFill>
                  <a:schemeClr val="tx1"/>
                </a:solidFill>
              </a:rPr>
              <a:t>من باريستا إلى قائد شفت: الدور والعقلية ونمط الشفت ونموذج ACT</a:t>
            </a:r>
            <a:endParaRPr lang="en-US" sz="2000" dirty="0"/>
          </a:p>
        </p:txBody>
      </p:sp>
      <p:sp>
        <p:nvSpPr>
          <p:cNvPr id="9" name="card-18"/>
          <p:cNvSpPr/>
          <p:nvPr/>
        </p:nvSpPr>
        <p:spPr>
          <a:xfrm>
            <a:off x="4315968"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0" name="icon-bg-19"/>
          <p:cNvSpPr/>
          <p:nvPr/>
        </p:nvSpPr>
        <p:spPr>
          <a:xfrm>
            <a:off x="4590288" y="1984248"/>
            <a:ext cx="731520" cy="731520"/>
          </a:xfrm>
          <a:prstGeom prst="ellipse">
            <a:avLst/>
          </a:prstGeom>
          <a:solidFill>
            <a:schemeClr val="accent1"/>
          </a:solidFill>
          <a:ln w="12700">
            <a:solidFill>
              <a:schemeClr val="accent1"/>
            </a:solidFill>
            <a:prstDash val="solid"/>
          </a:ln>
        </p:spPr>
      </p:sp>
      <p:pic>
        <p:nvPicPr>
          <p:cNvPr id="11" name="icon-20" descr="preencoded.png">    </p:cNvPr>
          <p:cNvPicPr>
            <a:picLocks noChangeAspect="1"/>
          </p:cNvPicPr>
          <p:nvPr/>
        </p:nvPicPr>
        <p:blipFill>
          <a:blip r:embed="rId2"/>
          <a:stretch>
            <a:fillRect/>
          </a:stretch>
        </p:blipFill>
        <p:spPr>
          <a:xfrm>
            <a:off x="4751222" y="2145182"/>
            <a:ext cx="409651" cy="409651"/>
          </a:xfrm>
          <a:prstGeom prst="rect">
            <a:avLst/>
          </a:prstGeom>
        </p:spPr>
      </p:pic>
      <p:sp>
        <p:nvSpPr>
          <p:cNvPr id="12" name="text-21"/>
          <p:cNvSpPr txBox="1"/>
          <p:nvPr/>
        </p:nvSpPr>
        <p:spPr>
          <a:xfrm>
            <a:off x="6345936" y="1947672"/>
            <a:ext cx="1188720" cy="777240"/>
          </a:xfrm>
          <a:prstGeom prst="rect">
            <a:avLst/>
          </a:prstGeom>
          <a:noFill/>
          <a:ln/>
        </p:spPr>
        <p:txBody>
          <a:bodyPr wrap="square" lIns="0" tIns="0" rIns="0" bIns="0" rtlCol="0" anchor="t"/>
          <a:lstStyle/>
          <a:p>
            <a:pPr algn="r" indent="0" marL="0">
              <a:buNone/>
            </a:pPr>
            <a:r>
              <a:rPr lang="en-US" sz="4000" b="1" dirty="0">
                <a:solidFill>
                  <a:schemeClr val="accent3"/>
                </a:solidFill>
              </a:rPr>
              <a:t>02</a:t>
            </a:r>
            <a:endParaRPr lang="en-US" sz="4000" dirty="0"/>
          </a:p>
        </p:txBody>
      </p:sp>
      <p:sp>
        <p:nvSpPr>
          <p:cNvPr id="13" name="text-22"/>
          <p:cNvSpPr txBox="1"/>
          <p:nvPr/>
        </p:nvSpPr>
        <p:spPr>
          <a:xfrm>
            <a:off x="4590288" y="2971800"/>
            <a:ext cx="2944368" cy="2971800"/>
          </a:xfrm>
          <a:prstGeom prst="rect">
            <a:avLst/>
          </a:prstGeom>
          <a:noFill/>
          <a:ln/>
        </p:spPr>
        <p:txBody>
          <a:bodyPr wrap="square" lIns="0" tIns="0" rIns="0" bIns="0" rtlCol="0" anchor="t"/>
          <a:lstStyle/>
          <a:p>
            <a:pPr algn="l" indent="0" marL="0">
              <a:spcAft>
                <a:spcPts val="200"/>
              </a:spcAft>
              <a:buNone/>
            </a:pPr>
            <a:r>
              <a:rPr lang="en-US" sz="2000" b="1" dirty="0">
                <a:solidFill>
                  <a:schemeClr val="tx1"/>
                </a:solidFill>
              </a:rPr>
              <a:t>Communicate Effectively</a:t>
            </a:r>
            <a:endParaRPr lang="en-US" sz="2000" dirty="0"/>
          </a:p>
          <a:p>
            <a:pPr algn="l" indent="0" marL="0">
              <a:spcAft>
                <a:spcPts val="600"/>
              </a:spcAft>
              <a:buNone/>
            </a:pPr>
            <a:r>
              <a:rPr lang="en-US" sz="1600" dirty="0">
                <a:solidFill>
                  <a:schemeClr val="tx1"/>
                </a:solidFill>
              </a:rPr>
              <a:t>Huddles, active listening, LATTE, coaching, feedback and difficult moments</a:t>
            </a:r>
            <a:endParaRPr lang="en-US" sz="2000" dirty="0"/>
          </a:p>
          <a:p>
            <a:pPr rtl="1" algn="r" indent="0" marL="0">
              <a:spcAft>
                <a:spcPts val="200"/>
              </a:spcAft>
              <a:buNone/>
            </a:pPr>
            <a:r>
              <a:rPr lang="ar-EG" altLang="en-US" sz="2000" b="1" dirty="0">
                <a:solidFill>
                  <a:schemeClr val="tx2"/>
                </a:solidFill>
              </a:rPr>
              <a:t>التواصل الفعّال</a:t>
            </a:r>
            <a:endParaRPr lang="en-US" sz="2000" dirty="0"/>
          </a:p>
          <a:p>
            <a:pPr rtl="1" algn="r" indent="0" marL="0">
              <a:buNone/>
            </a:pPr>
            <a:r>
              <a:rPr lang="ar-EG" altLang="en-US" sz="1600" dirty="0">
                <a:solidFill>
                  <a:schemeClr val="tx1"/>
                </a:solidFill>
              </a:rPr>
              <a:t>الاجتماع السريع والإنصات ونموذج LATTE والتوجيه والمواقف الصعبة</a:t>
            </a:r>
            <a:endParaRPr lang="en-US" sz="2000" dirty="0"/>
          </a:p>
        </p:txBody>
      </p:sp>
      <p:sp>
        <p:nvSpPr>
          <p:cNvPr id="14" name="card-23"/>
          <p:cNvSpPr/>
          <p:nvPr/>
        </p:nvSpPr>
        <p:spPr>
          <a:xfrm>
            <a:off x="8083296"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5" name="icon-bg-24"/>
          <p:cNvSpPr/>
          <p:nvPr/>
        </p:nvSpPr>
        <p:spPr>
          <a:xfrm>
            <a:off x="8357616" y="1984248"/>
            <a:ext cx="731520" cy="731520"/>
          </a:xfrm>
          <a:prstGeom prst="ellipse">
            <a:avLst/>
          </a:prstGeom>
          <a:solidFill>
            <a:schemeClr val="accent1"/>
          </a:solidFill>
          <a:ln w="12700">
            <a:solidFill>
              <a:schemeClr val="accent1"/>
            </a:solidFill>
            <a:prstDash val="solid"/>
          </a:ln>
        </p:spPr>
      </p:sp>
      <p:pic>
        <p:nvPicPr>
          <p:cNvPr id="16" name="icon-25" descr="preencoded.png">    </p:cNvPr>
          <p:cNvPicPr>
            <a:picLocks noChangeAspect="1"/>
          </p:cNvPicPr>
          <p:nvPr/>
        </p:nvPicPr>
        <p:blipFill>
          <a:blip r:embed="rId3"/>
          <a:stretch>
            <a:fillRect/>
          </a:stretch>
        </p:blipFill>
        <p:spPr>
          <a:xfrm>
            <a:off x="8518550" y="2145182"/>
            <a:ext cx="409651" cy="409651"/>
          </a:xfrm>
          <a:prstGeom prst="rect">
            <a:avLst/>
          </a:prstGeom>
        </p:spPr>
      </p:pic>
      <p:sp>
        <p:nvSpPr>
          <p:cNvPr id="17" name="text-26"/>
          <p:cNvSpPr txBox="1"/>
          <p:nvPr/>
        </p:nvSpPr>
        <p:spPr>
          <a:xfrm>
            <a:off x="10113264" y="1947672"/>
            <a:ext cx="1188720" cy="777240"/>
          </a:xfrm>
          <a:prstGeom prst="rect">
            <a:avLst/>
          </a:prstGeom>
          <a:noFill/>
          <a:ln/>
        </p:spPr>
        <p:txBody>
          <a:bodyPr wrap="square" lIns="0" tIns="0" rIns="0" bIns="0" rtlCol="0" anchor="t"/>
          <a:lstStyle/>
          <a:p>
            <a:pPr algn="r" indent="0" marL="0">
              <a:buNone/>
            </a:pPr>
            <a:r>
              <a:rPr lang="en-US" sz="4000" b="1" dirty="0">
                <a:solidFill>
                  <a:schemeClr val="accent3"/>
                </a:solidFill>
              </a:rPr>
              <a:t>03</a:t>
            </a:r>
            <a:endParaRPr lang="en-US" sz="4000" dirty="0"/>
          </a:p>
        </p:txBody>
      </p:sp>
      <p:sp>
        <p:nvSpPr>
          <p:cNvPr id="18" name="text-27"/>
          <p:cNvSpPr txBox="1"/>
          <p:nvPr/>
        </p:nvSpPr>
        <p:spPr>
          <a:xfrm>
            <a:off x="8357616" y="2971800"/>
            <a:ext cx="2944368" cy="2971800"/>
          </a:xfrm>
          <a:prstGeom prst="rect">
            <a:avLst/>
          </a:prstGeom>
          <a:noFill/>
          <a:ln/>
        </p:spPr>
        <p:txBody>
          <a:bodyPr wrap="square" lIns="0" tIns="0" rIns="0" bIns="0" rtlCol="0" anchor="t"/>
          <a:lstStyle/>
          <a:p>
            <a:pPr algn="l" indent="0" marL="0">
              <a:spcAft>
                <a:spcPts val="200"/>
              </a:spcAft>
              <a:buNone/>
            </a:pPr>
            <a:r>
              <a:rPr lang="en-US" sz="2000" b="1" dirty="0">
                <a:solidFill>
                  <a:schemeClr val="tx1"/>
                </a:solidFill>
              </a:rPr>
              <a:t>Effective Time Management</a:t>
            </a:r>
            <a:endParaRPr lang="en-US" sz="2000" dirty="0"/>
          </a:p>
          <a:p>
            <a:pPr algn="l" indent="0" marL="0">
              <a:spcAft>
                <a:spcPts val="600"/>
              </a:spcAft>
              <a:buNone/>
            </a:pPr>
            <a:r>
              <a:rPr lang="en-US" sz="1600" dirty="0">
                <a:solidFill>
                  <a:schemeClr val="tx1"/>
                </a:solidFill>
              </a:rPr>
              <a:t>Plan the shift, prioritise, deploy the team and protect peak for the customer</a:t>
            </a:r>
            <a:endParaRPr lang="en-US" sz="2000" dirty="0"/>
          </a:p>
          <a:p>
            <a:pPr rtl="1" algn="r" indent="0" marL="0">
              <a:spcAft>
                <a:spcPts val="200"/>
              </a:spcAft>
              <a:buNone/>
            </a:pPr>
            <a:r>
              <a:rPr lang="ar-EG" altLang="en-US" sz="2000" b="1" dirty="0">
                <a:solidFill>
                  <a:schemeClr val="tx2"/>
                </a:solidFill>
              </a:rPr>
              <a:t>إدارة الوقت بفعالية</a:t>
            </a:r>
            <a:endParaRPr lang="en-US" sz="2000" dirty="0"/>
          </a:p>
          <a:p>
            <a:pPr rtl="1" algn="r" indent="0" marL="0">
              <a:buNone/>
            </a:pPr>
            <a:r>
              <a:rPr lang="ar-EG" altLang="en-US" sz="1600" dirty="0">
                <a:solidFill>
                  <a:schemeClr val="tx1"/>
                </a:solidFill>
              </a:rPr>
              <a:t>خطّط للشفت ورتّب الأولويات ووزّع الفريق واحمِ وقت الذروة</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Our Foundation: Mission &amp; Values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أساسنا: الرسالة والقيم</a:t>
            </a:r>
            <a:endParaRPr lang="ar-EG" sz="2000" dirty="0"/>
          </a:p>
        </p:txBody>
      </p:sp>
      <p:sp>
        <p:nvSpPr>
          <p:cNvPr id="4" name="card-28"/>
          <p:cNvSpPr/>
          <p:nvPr/>
        </p:nvSpPr>
        <p:spPr>
          <a:xfrm>
            <a:off x="548640" y="1691640"/>
            <a:ext cx="4206240" cy="4434840"/>
          </a:xfrm>
          <a:prstGeom prst="roundRect">
            <a:avLst>
              <a:gd name="adj" fmla="val 2609"/>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pic>
        <p:nvPicPr>
          <p:cNvPr id="5" name="quote-mark" descr="preencoded.png">    </p:cNvPr>
          <p:cNvPicPr>
            <a:picLocks noChangeAspect="1"/>
          </p:cNvPicPr>
          <p:nvPr/>
        </p:nvPicPr>
        <p:blipFill>
          <a:blip r:embed="rId1"/>
          <a:stretch>
            <a:fillRect/>
          </a:stretch>
        </p:blipFill>
        <p:spPr>
          <a:xfrm>
            <a:off x="868680" y="1920240"/>
            <a:ext cx="502920" cy="502920"/>
          </a:xfrm>
          <a:prstGeom prst="rect">
            <a:avLst/>
          </a:prstGeom>
        </p:spPr>
      </p:pic>
      <p:sp>
        <p:nvSpPr>
          <p:cNvPr id="6" name="text-29"/>
          <p:cNvSpPr txBox="1"/>
          <p:nvPr/>
        </p:nvSpPr>
        <p:spPr>
          <a:xfrm>
            <a:off x="868680" y="2606040"/>
            <a:ext cx="3566160" cy="3291840"/>
          </a:xfrm>
          <a:prstGeom prst="rect">
            <a:avLst/>
          </a:prstGeom>
          <a:noFill/>
          <a:ln/>
        </p:spPr>
        <p:txBody>
          <a:bodyPr wrap="square" lIns="0" tIns="0" rIns="0" bIns="0" rtlCol="0" anchor="t"/>
          <a:lstStyle/>
          <a:p>
            <a:pPr indent="0" marL="0">
              <a:spcAft>
                <a:spcPts val="1400"/>
              </a:spcAft>
              <a:buNone/>
            </a:pPr>
            <a:r>
              <a:rPr lang="en-US" sz="1800" i="1" dirty="0">
                <a:solidFill>
                  <a:schemeClr val="bg1"/>
                </a:solidFill>
              </a:rPr>
              <a:t>With every cup, with every conversation, with every community – we nurture the limitless possibilities of human connection.</a:t>
            </a:r>
            <a:endParaRPr lang="en-US" sz="1800" dirty="0"/>
          </a:p>
          <a:p>
            <a:pPr rtl="1" algn="r" indent="0" marL="0">
              <a:spcAft>
                <a:spcPts val="1000"/>
              </a:spcAft>
              <a:buNone/>
            </a:pPr>
            <a:r>
              <a:rPr lang="ar-EG" altLang="en-US" sz="1700" b="1" dirty="0">
                <a:solidFill>
                  <a:schemeClr val="accent4"/>
                </a:solidFill>
              </a:rPr>
              <a:t>مع كل كوب، ومع كل حوار، وفي كل مجتمع – نرعى الإمكانات اللامحدودة للتواصل الإنساني.</a:t>
            </a:r>
            <a:endParaRPr lang="en-US" sz="1800" dirty="0"/>
          </a:p>
          <a:p>
            <a:pPr indent="0" marL="0">
              <a:buNone/>
            </a:pPr>
            <a:r>
              <a:rPr lang="en-US" sz="1200" b="1" dirty="0">
                <a:solidFill>
                  <a:schemeClr val="accent3"/>
                </a:solidFill>
              </a:rPr>
              <a:t>Starbucks Mission</a:t>
            </a:r>
            <a:endParaRPr lang="en-US" sz="1800" dirty="0"/>
          </a:p>
        </p:txBody>
      </p:sp>
      <p:sp>
        <p:nvSpPr>
          <p:cNvPr id="7" name="card-30"/>
          <p:cNvSpPr/>
          <p:nvPr/>
        </p:nvSpPr>
        <p:spPr>
          <a:xfrm>
            <a:off x="5120640" y="1691640"/>
            <a:ext cx="30175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8" name="icon-bg-31"/>
          <p:cNvSpPr/>
          <p:nvPr/>
        </p:nvSpPr>
        <p:spPr>
          <a:xfrm>
            <a:off x="5349240" y="1920240"/>
            <a:ext cx="530352" cy="530352"/>
          </a:xfrm>
          <a:prstGeom prst="ellipse">
            <a:avLst/>
          </a:prstGeom>
          <a:solidFill>
            <a:schemeClr val="accent1"/>
          </a:solidFill>
          <a:ln w="12700">
            <a:solidFill>
              <a:schemeClr val="accent1"/>
            </a:solidFill>
            <a:prstDash val="solid"/>
          </a:ln>
        </p:spPr>
      </p:sp>
      <p:pic>
        <p:nvPicPr>
          <p:cNvPr id="9" name="icon-32" descr="preencoded.png">    </p:cNvPr>
          <p:cNvPicPr>
            <a:picLocks noChangeAspect="1"/>
          </p:cNvPicPr>
          <p:nvPr/>
        </p:nvPicPr>
        <p:blipFill>
          <a:blip r:embed="rId2"/>
          <a:stretch>
            <a:fillRect/>
          </a:stretch>
        </p:blipFill>
        <p:spPr>
          <a:xfrm>
            <a:off x="5465917" y="2036917"/>
            <a:ext cx="296997" cy="296997"/>
          </a:xfrm>
          <a:prstGeom prst="rect">
            <a:avLst/>
          </a:prstGeom>
        </p:spPr>
      </p:pic>
      <p:sp>
        <p:nvSpPr>
          <p:cNvPr id="10" name="text-33"/>
          <p:cNvSpPr txBox="1"/>
          <p:nvPr/>
        </p:nvSpPr>
        <p:spPr>
          <a:xfrm>
            <a:off x="5349240" y="2560320"/>
            <a:ext cx="2560320" cy="11430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Warmth &amp; belonging</a:t>
            </a:r>
            <a:endParaRPr lang="en-US" sz="1500" dirty="0"/>
          </a:p>
          <a:p>
            <a:pPr algn="l" indent="0" marL="0">
              <a:spcAft>
                <a:spcPts val="600"/>
              </a:spcAft>
              <a:buNone/>
            </a:pPr>
            <a:r>
              <a:rPr lang="en-US" sz="1300" dirty="0">
                <a:solidFill>
                  <a:schemeClr val="tx1"/>
                </a:solidFill>
              </a:rPr>
              <a:t>Create a culture where everyone is welcome</a:t>
            </a:r>
            <a:endParaRPr lang="en-US" sz="1500" dirty="0"/>
          </a:p>
          <a:p>
            <a:pPr rtl="1" algn="r" indent="0" marL="0">
              <a:spcAft>
                <a:spcPts val="200"/>
              </a:spcAft>
              <a:buNone/>
            </a:pPr>
            <a:r>
              <a:rPr lang="ar-EG" altLang="en-US" sz="1500" b="1" dirty="0">
                <a:solidFill>
                  <a:schemeClr val="tx2"/>
                </a:solidFill>
              </a:rPr>
              <a:t>الدفء والانتماء</a:t>
            </a:r>
            <a:endParaRPr lang="en-US" sz="1500" dirty="0"/>
          </a:p>
          <a:p>
            <a:pPr rtl="1" algn="r" indent="0" marL="0">
              <a:buNone/>
            </a:pPr>
            <a:r>
              <a:rPr lang="ar-EG" altLang="en-US" sz="1300" dirty="0">
                <a:solidFill>
                  <a:schemeClr val="tx1"/>
                </a:solidFill>
              </a:rPr>
              <a:t>ثقافة يُرحَّب فيها بالجميع</a:t>
            </a:r>
            <a:endParaRPr lang="en-US" sz="1500" dirty="0"/>
          </a:p>
        </p:txBody>
      </p:sp>
      <p:sp>
        <p:nvSpPr>
          <p:cNvPr id="11" name="card-34"/>
          <p:cNvSpPr/>
          <p:nvPr/>
        </p:nvSpPr>
        <p:spPr>
          <a:xfrm>
            <a:off x="8412480" y="1691640"/>
            <a:ext cx="30175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2" name="icon-bg-35"/>
          <p:cNvSpPr/>
          <p:nvPr/>
        </p:nvSpPr>
        <p:spPr>
          <a:xfrm>
            <a:off x="8641080" y="1920240"/>
            <a:ext cx="530352" cy="530352"/>
          </a:xfrm>
          <a:prstGeom prst="ellipse">
            <a:avLst/>
          </a:prstGeom>
          <a:solidFill>
            <a:schemeClr val="accent1"/>
          </a:solidFill>
          <a:ln w="12700">
            <a:solidFill>
              <a:schemeClr val="accent1"/>
            </a:solidFill>
            <a:prstDash val="solid"/>
          </a:ln>
        </p:spPr>
      </p:sp>
      <p:pic>
        <p:nvPicPr>
          <p:cNvPr id="13" name="icon-36" descr="preencoded.png">    </p:cNvPr>
          <p:cNvPicPr>
            <a:picLocks noChangeAspect="1"/>
          </p:cNvPicPr>
          <p:nvPr/>
        </p:nvPicPr>
        <p:blipFill>
          <a:blip r:embed="rId3"/>
          <a:stretch>
            <a:fillRect/>
          </a:stretch>
        </p:blipFill>
        <p:spPr>
          <a:xfrm>
            <a:off x="8757757" y="2036917"/>
            <a:ext cx="296997" cy="296997"/>
          </a:xfrm>
          <a:prstGeom prst="rect">
            <a:avLst/>
          </a:prstGeom>
        </p:spPr>
      </p:pic>
      <p:sp>
        <p:nvSpPr>
          <p:cNvPr id="14" name="text-37"/>
          <p:cNvSpPr txBox="1"/>
          <p:nvPr/>
        </p:nvSpPr>
        <p:spPr>
          <a:xfrm>
            <a:off x="8641080" y="2560320"/>
            <a:ext cx="2560320" cy="11430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Act with courage</a:t>
            </a:r>
            <a:endParaRPr lang="en-US" sz="1500" dirty="0"/>
          </a:p>
          <a:p>
            <a:pPr algn="l" indent="0" marL="0">
              <a:spcAft>
                <a:spcPts val="600"/>
              </a:spcAft>
              <a:buNone/>
            </a:pPr>
            <a:r>
              <a:rPr lang="en-US" sz="1300" dirty="0">
                <a:solidFill>
                  <a:schemeClr val="tx1"/>
                </a:solidFill>
              </a:rPr>
              <a:t>Challenge the status quo, find new ways to grow</a:t>
            </a:r>
            <a:endParaRPr lang="en-US" sz="1500" dirty="0"/>
          </a:p>
          <a:p>
            <a:pPr rtl="1" algn="r" indent="0" marL="0">
              <a:spcAft>
                <a:spcPts val="200"/>
              </a:spcAft>
              <a:buNone/>
            </a:pPr>
            <a:r>
              <a:rPr lang="ar-EG" altLang="en-US" sz="1500" b="1" dirty="0">
                <a:solidFill>
                  <a:schemeClr val="tx2"/>
                </a:solidFill>
              </a:rPr>
              <a:t>التصرف بشجاعة</a:t>
            </a:r>
            <a:endParaRPr lang="en-US" sz="1500" dirty="0"/>
          </a:p>
          <a:p>
            <a:pPr rtl="1" algn="r" indent="0" marL="0">
              <a:buNone/>
            </a:pPr>
            <a:r>
              <a:rPr lang="ar-EG" altLang="en-US" sz="1300" dirty="0">
                <a:solidFill>
                  <a:schemeClr val="tx1"/>
                </a:solidFill>
              </a:rPr>
              <a:t>نتحدى المألوف ونبحث عن طرق جديدة للنمو</a:t>
            </a:r>
            <a:endParaRPr lang="en-US" sz="1500" dirty="0"/>
          </a:p>
        </p:txBody>
      </p:sp>
      <p:sp>
        <p:nvSpPr>
          <p:cNvPr id="15" name="card-38"/>
          <p:cNvSpPr/>
          <p:nvPr/>
        </p:nvSpPr>
        <p:spPr>
          <a:xfrm>
            <a:off x="5120640" y="3977640"/>
            <a:ext cx="30175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6" name="icon-bg-39"/>
          <p:cNvSpPr/>
          <p:nvPr/>
        </p:nvSpPr>
        <p:spPr>
          <a:xfrm>
            <a:off x="5349240" y="4206240"/>
            <a:ext cx="530352" cy="530352"/>
          </a:xfrm>
          <a:prstGeom prst="ellipse">
            <a:avLst/>
          </a:prstGeom>
          <a:solidFill>
            <a:schemeClr val="accent1"/>
          </a:solidFill>
          <a:ln w="12700">
            <a:solidFill>
              <a:schemeClr val="accent1"/>
            </a:solidFill>
            <a:prstDash val="solid"/>
          </a:ln>
        </p:spPr>
      </p:sp>
      <p:pic>
        <p:nvPicPr>
          <p:cNvPr id="17" name="icon-40" descr="preencoded.png">    </p:cNvPr>
          <p:cNvPicPr>
            <a:picLocks noChangeAspect="1"/>
          </p:cNvPicPr>
          <p:nvPr/>
        </p:nvPicPr>
        <p:blipFill>
          <a:blip r:embed="rId4"/>
          <a:stretch>
            <a:fillRect/>
          </a:stretch>
        </p:blipFill>
        <p:spPr>
          <a:xfrm>
            <a:off x="5465917" y="4322917"/>
            <a:ext cx="296997" cy="296997"/>
          </a:xfrm>
          <a:prstGeom prst="rect">
            <a:avLst/>
          </a:prstGeom>
        </p:spPr>
      </p:pic>
      <p:sp>
        <p:nvSpPr>
          <p:cNvPr id="18" name="text-41"/>
          <p:cNvSpPr txBox="1"/>
          <p:nvPr/>
        </p:nvSpPr>
        <p:spPr>
          <a:xfrm>
            <a:off x="5349240" y="4846320"/>
            <a:ext cx="2560320" cy="11430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Be present</a:t>
            </a:r>
            <a:endParaRPr lang="en-US" sz="1500" dirty="0"/>
          </a:p>
          <a:p>
            <a:pPr algn="l" indent="0" marL="0">
              <a:spcAft>
                <a:spcPts val="600"/>
              </a:spcAft>
              <a:buNone/>
            </a:pPr>
            <a:r>
              <a:rPr lang="en-US" sz="1300" dirty="0">
                <a:solidFill>
                  <a:schemeClr val="tx1"/>
                </a:solidFill>
              </a:rPr>
              <a:t>Connect with transparency, dignity and respect</a:t>
            </a:r>
            <a:endParaRPr lang="en-US" sz="1500" dirty="0"/>
          </a:p>
          <a:p>
            <a:pPr rtl="1" algn="r" indent="0" marL="0">
              <a:spcAft>
                <a:spcPts val="200"/>
              </a:spcAft>
              <a:buNone/>
            </a:pPr>
            <a:r>
              <a:rPr lang="ar-EG" altLang="en-US" sz="1500" b="1" dirty="0">
                <a:solidFill>
                  <a:schemeClr val="tx2"/>
                </a:solidFill>
              </a:rPr>
              <a:t>الحضور الحقيقي</a:t>
            </a:r>
            <a:endParaRPr lang="en-US" sz="1500" dirty="0"/>
          </a:p>
          <a:p>
            <a:pPr rtl="1" algn="r" indent="0" marL="0">
              <a:buNone/>
            </a:pPr>
            <a:r>
              <a:rPr lang="ar-EG" altLang="en-US" sz="1300" dirty="0">
                <a:solidFill>
                  <a:schemeClr val="tx1"/>
                </a:solidFill>
              </a:rPr>
              <a:t>نتواصل بشفافية وكرامة واحترام</a:t>
            </a:r>
            <a:endParaRPr lang="en-US" sz="1500" dirty="0"/>
          </a:p>
        </p:txBody>
      </p:sp>
      <p:sp>
        <p:nvSpPr>
          <p:cNvPr id="19" name="card-42"/>
          <p:cNvSpPr/>
          <p:nvPr/>
        </p:nvSpPr>
        <p:spPr>
          <a:xfrm>
            <a:off x="8412480" y="3977640"/>
            <a:ext cx="30175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0" name="icon-bg-43"/>
          <p:cNvSpPr/>
          <p:nvPr/>
        </p:nvSpPr>
        <p:spPr>
          <a:xfrm>
            <a:off x="8641080" y="4206240"/>
            <a:ext cx="530352" cy="530352"/>
          </a:xfrm>
          <a:prstGeom prst="ellipse">
            <a:avLst/>
          </a:prstGeom>
          <a:solidFill>
            <a:schemeClr val="accent1"/>
          </a:solidFill>
          <a:ln w="12700">
            <a:solidFill>
              <a:schemeClr val="accent1"/>
            </a:solidFill>
            <a:prstDash val="solid"/>
          </a:ln>
        </p:spPr>
      </p:sp>
      <p:pic>
        <p:nvPicPr>
          <p:cNvPr id="21" name="icon-44" descr="preencoded.png">    </p:cNvPr>
          <p:cNvPicPr>
            <a:picLocks noChangeAspect="1"/>
          </p:cNvPicPr>
          <p:nvPr/>
        </p:nvPicPr>
        <p:blipFill>
          <a:blip r:embed="rId5"/>
          <a:stretch>
            <a:fillRect/>
          </a:stretch>
        </p:blipFill>
        <p:spPr>
          <a:xfrm>
            <a:off x="8757757" y="4322917"/>
            <a:ext cx="296997" cy="296997"/>
          </a:xfrm>
          <a:prstGeom prst="rect">
            <a:avLst/>
          </a:prstGeom>
        </p:spPr>
      </p:pic>
      <p:sp>
        <p:nvSpPr>
          <p:cNvPr id="22" name="text-45"/>
          <p:cNvSpPr txBox="1"/>
          <p:nvPr/>
        </p:nvSpPr>
        <p:spPr>
          <a:xfrm>
            <a:off x="8641080" y="4846320"/>
            <a:ext cx="2560320" cy="11430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Deliver our very best</a:t>
            </a:r>
            <a:endParaRPr lang="en-US" sz="1500" dirty="0"/>
          </a:p>
          <a:p>
            <a:pPr algn="l" indent="0" marL="0">
              <a:spcAft>
                <a:spcPts val="600"/>
              </a:spcAft>
              <a:buNone/>
            </a:pPr>
            <a:r>
              <a:rPr lang="en-US" sz="1300" dirty="0">
                <a:solidFill>
                  <a:schemeClr val="tx1"/>
                </a:solidFill>
              </a:rPr>
              <a:t>Hold ourselves accountable for results</a:t>
            </a:r>
            <a:endParaRPr lang="en-US" sz="1500" dirty="0"/>
          </a:p>
          <a:p>
            <a:pPr rtl="1" algn="r" indent="0" marL="0">
              <a:spcAft>
                <a:spcPts val="200"/>
              </a:spcAft>
              <a:buNone/>
            </a:pPr>
            <a:r>
              <a:rPr lang="ar-EG" altLang="en-US" sz="1500" b="1" dirty="0">
                <a:solidFill>
                  <a:schemeClr val="tx2"/>
                </a:solidFill>
              </a:rPr>
              <a:t>تقديم أفضل ما لدينا</a:t>
            </a:r>
            <a:endParaRPr lang="en-US" sz="1500" dirty="0"/>
          </a:p>
          <a:p>
            <a:pPr rtl="1" algn="r" indent="0" marL="0">
              <a:buNone/>
            </a:pPr>
            <a:r>
              <a:rPr lang="ar-EG" altLang="en-US" sz="1300" dirty="0">
                <a:solidFill>
                  <a:schemeClr val="tx1"/>
                </a:solidFill>
              </a:rPr>
              <a:t>نتحمّل مسؤولية النتائج</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3200400" cy="1371600"/>
          </a:xfrm>
          <a:prstGeom prst="rect">
            <a:avLst/>
          </a:prstGeom>
          <a:noFill/>
          <a:ln/>
        </p:spPr>
        <p:txBody>
          <a:bodyPr wrap="square" lIns="0" tIns="0" rIns="0" bIns="0" rtlCol="0" anchor="ctr"/>
          <a:lstStyle/>
          <a:p>
            <a:pPr algn="l" indent="0" marL="0">
              <a:buNone/>
            </a:pPr>
            <a:r>
              <a:rPr lang="en-US" sz="9600" b="1" dirty="0">
                <a:solidFill>
                  <a:schemeClr val="accent3"/>
                </a:solidFill>
              </a:rPr>
              <a:t>01</a:t>
            </a:r>
            <a:endParaRPr lang="en-US" sz="9600" dirty="0"/>
          </a:p>
        </p:txBody>
      </p:sp>
      <p:sp>
        <p:nvSpPr>
          <p:cNvPr id="3" name="Text 0"/>
          <p:cNvSpPr/>
          <p:nvPr>
            <p:ph idx="101" type="title" hasCustomPrompt="1"/>
          </p:nvPr>
        </p:nvSpPr>
        <p:spPr>
          <a:xfrm>
            <a:off x="640080" y="27432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rPr>
              <a:t>Transition Effectively to be a Supervisor</a:t>
            </a:r>
            <a:endParaRPr lang="en-US" sz="4000" dirty="0"/>
          </a:p>
        </p:txBody>
      </p:sp>
      <p:sp>
        <p:nvSpPr>
          <p:cNvPr id="4" name="Text 0"/>
          <p:cNvSpPr/>
          <p:nvPr>
            <p:ph idx="102" type="body" hasCustomPrompt="1"/>
          </p:nvPr>
        </p:nvSpPr>
        <p:spPr>
          <a:xfrm>
            <a:off x="640080" y="4160520"/>
            <a:ext cx="6949440" cy="731520"/>
          </a:xfrm>
          <a:prstGeom prst="rect">
            <a:avLst/>
          </a:prstGeom>
          <a:noFill/>
          <a:ln/>
        </p:spPr>
        <p:txBody>
          <a:bodyPr wrap="square" lIns="0" tIns="0" rIns="0" bIns="0" rtlCol="0" anchor="t"/>
          <a:lstStyle/>
          <a:p>
            <a:pPr rtl="1" algn="r" indent="0" marL="0">
              <a:buNone/>
            </a:pPr>
            <a:r>
              <a:rPr lang="ar-EG" altLang="en-US" sz="2800" b="1" dirty="0">
                <a:solidFill>
                  <a:schemeClr val="accent4"/>
                </a:solidFill>
              </a:rPr>
              <a:t>الانتقال الفعّال لدور المشرف</a:t>
            </a:r>
            <a:endParaRPr lang="ar-EG" sz="2800" dirty="0"/>
          </a:p>
        </p:txBody>
      </p:sp>
      <p:sp>
        <p:nvSpPr>
          <p:cNvPr id="5" name="Text 0"/>
          <p:cNvSpPr/>
          <p:nvPr>
            <p:ph idx="103" type="body" hasCustomPrompt="1"/>
          </p:nvPr>
        </p:nvSpPr>
        <p:spPr>
          <a:xfrm>
            <a:off x="640080" y="5074920"/>
            <a:ext cx="6949440" cy="822960"/>
          </a:xfrm>
          <a:prstGeom prst="rect">
            <a:avLst/>
          </a:prstGeom>
          <a:noFill/>
          <a:ln/>
        </p:spPr>
        <p:txBody>
          <a:bodyPr wrap="square" lIns="0" tIns="0" rIns="0" bIns="0" rtlCol="0" anchor="t"/>
          <a:lstStyle/>
          <a:p>
            <a:pPr algn="l" indent="0" marL="0">
              <a:buNone/>
            </a:pPr>
            <a:r>
              <a:rPr lang="en-US" sz="1500" dirty="0">
                <a:solidFill>
                  <a:schemeClr val="accent4"/>
                </a:solidFill>
              </a:rPr>
              <a:t>From doing the work to leading the shift</a:t>
            </a:r>
            <a:endParaRPr lang="en-US" sz="1500" dirty="0"/>
          </a:p>
        </p:txBody>
      </p:sp>
      <p:sp>
        <p:nvSpPr>
          <p:cNvPr id="6" name="sec-circle"/>
          <p:cNvSpPr/>
          <p:nvPr/>
        </p:nvSpPr>
        <p:spPr>
          <a:xfrm>
            <a:off x="8229600" y="1463040"/>
            <a:ext cx="3566160" cy="3566160"/>
          </a:xfrm>
          <a:prstGeom prst="ellipse">
            <a:avLst/>
          </a:prstGeom>
          <a:solidFill>
            <a:schemeClr val="accent1"/>
          </a:solidFill>
          <a:ln w="12700">
            <a:solidFill>
              <a:schemeClr val="accent1"/>
            </a:solidFill>
            <a:prstDash val="solid"/>
          </a:ln>
        </p:spPr>
      </p:sp>
      <p:pic>
        <p:nvPicPr>
          <p:cNvPr id="7" name="sec-icon" descr="preencoded.png">    </p:cNvPr>
          <p:cNvPicPr>
            <a:picLocks noChangeAspect="1"/>
          </p:cNvPicPr>
          <p:nvPr/>
        </p:nvPicPr>
        <p:blipFill>
          <a:blip r:embed="rId1"/>
          <a:stretch>
            <a:fillRect/>
          </a:stretch>
        </p:blipFill>
        <p:spPr>
          <a:xfrm>
            <a:off x="9235440" y="2468880"/>
            <a:ext cx="1554480" cy="1554480"/>
          </a:xfrm>
          <a:prstGeom prst="rect">
            <a:avLst/>
          </a:prstGeom>
        </p:spPr>
      </p:pic>
      <p:pic>
        <p:nvPicPr>
          <p:cNvPr id="8" name="sec-logo" descr="preencoded.png">    </p:cNvPr>
          <p:cNvPicPr>
            <a:picLocks noChangeAspect="1"/>
          </p:cNvPicPr>
          <p:nvPr/>
        </p:nvPicPr>
        <p:blipFill>
          <a:blip r:embed="rId2"/>
          <a:stretch>
            <a:fillRect/>
          </a:stretch>
        </p:blipFill>
        <p:spPr>
          <a:xfrm>
            <a:off x="11076127" y="365760"/>
            <a:ext cx="566928" cy="56692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From Barista to Supervisor: The Mindset Shift</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من باريستا إلى مشرف: تحوّل العقلية</a:t>
            </a:r>
            <a:endParaRPr lang="ar-EG" sz="2000" dirty="0"/>
          </a:p>
        </p:txBody>
      </p:sp>
      <p:sp>
        <p:nvSpPr>
          <p:cNvPr id="4" name="text-46"/>
          <p:cNvSpPr txBox="1"/>
          <p:nvPr/>
        </p:nvSpPr>
        <p:spPr>
          <a:xfrm>
            <a:off x="731520" y="1572768"/>
            <a:ext cx="2743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FROM  ·  من</a:t>
            </a:r>
            <a:endParaRPr lang="en-US" sz="1200" dirty="0"/>
          </a:p>
        </p:txBody>
      </p:sp>
      <p:sp>
        <p:nvSpPr>
          <p:cNvPr id="5" name="text-47"/>
          <p:cNvSpPr txBox="1"/>
          <p:nvPr/>
        </p:nvSpPr>
        <p:spPr>
          <a:xfrm>
            <a:off x="4526280" y="1572768"/>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TO  ·  إلى</a:t>
            </a:r>
            <a:endParaRPr lang="en-US" sz="1200" dirty="0"/>
          </a:p>
        </p:txBody>
      </p:sp>
      <p:sp>
        <p:nvSpPr>
          <p:cNvPr id="6" name="from-48"/>
          <p:cNvSpPr/>
          <p:nvPr/>
        </p:nvSpPr>
        <p:spPr>
          <a:xfrm>
            <a:off x="548640" y="1920240"/>
            <a:ext cx="3337560" cy="731520"/>
          </a:xfrm>
          <a:prstGeom prst="roundRect">
            <a:avLst>
              <a:gd name="adj" fmla="val 12500"/>
            </a:avLst>
          </a:prstGeom>
          <a:solidFill>
            <a:schemeClr val="bg2"/>
          </a:solidFill>
          <a:ln w="12700">
            <a:solidFill>
              <a:schemeClr val="bg2"/>
            </a:solidFill>
            <a:prstDash val="solid"/>
          </a:ln>
        </p:spPr>
      </p:sp>
      <p:sp>
        <p:nvSpPr>
          <p:cNvPr id="7" name="text-49"/>
          <p:cNvSpPr txBox="1"/>
          <p:nvPr/>
        </p:nvSpPr>
        <p:spPr>
          <a:xfrm>
            <a:off x="731520" y="1975104"/>
            <a:ext cx="2971800" cy="621792"/>
          </a:xfrm>
          <a:prstGeom prst="rect">
            <a:avLst/>
          </a:prstGeom>
          <a:noFill/>
          <a:ln/>
        </p:spPr>
        <p:txBody>
          <a:bodyPr wrap="square" lIns="0" tIns="0" rIns="0" bIns="0" rtlCol="0" anchor="ctr"/>
          <a:lstStyle/>
          <a:p>
            <a:pPr algn="l" indent="0" marL="0">
              <a:buNone/>
            </a:pPr>
            <a:r>
              <a:rPr lang="en-US" sz="1400" dirty="0">
                <a:solidFill>
                  <a:schemeClr val="tx1"/>
                </a:solidFill>
              </a:rPr>
              <a:t>Doing the tasks</a:t>
            </a:r>
            <a:endParaRPr lang="en-US" sz="1400" dirty="0"/>
          </a:p>
          <a:p>
            <a:pPr rtl="1" algn="r" indent="0" marL="0">
              <a:buNone/>
            </a:pPr>
            <a:r>
              <a:rPr lang="ar-EG" altLang="en-US" sz="1300" dirty="0">
                <a:solidFill>
                  <a:schemeClr val="accent6"/>
                </a:solidFill>
              </a:rPr>
              <a:t>تنفيذ المهام</a:t>
            </a:r>
            <a:endParaRPr lang="en-US" sz="1400" dirty="0"/>
          </a:p>
        </p:txBody>
      </p:sp>
      <p:pic>
        <p:nvPicPr>
          <p:cNvPr id="8" name="arrow-50" descr="preencoded.png">    </p:cNvPr>
          <p:cNvPicPr>
            <a:picLocks noChangeAspect="1"/>
          </p:cNvPicPr>
          <p:nvPr/>
        </p:nvPicPr>
        <p:blipFill>
          <a:blip r:embed="rId1"/>
          <a:stretch>
            <a:fillRect/>
          </a:stretch>
        </p:blipFill>
        <p:spPr>
          <a:xfrm>
            <a:off x="4023360" y="2148840"/>
            <a:ext cx="274320" cy="274320"/>
          </a:xfrm>
          <a:prstGeom prst="rect">
            <a:avLst/>
          </a:prstGeom>
        </p:spPr>
      </p:pic>
      <p:sp>
        <p:nvSpPr>
          <p:cNvPr id="9" name="to-51"/>
          <p:cNvSpPr/>
          <p:nvPr/>
        </p:nvSpPr>
        <p:spPr>
          <a:xfrm>
            <a:off x="4434840" y="1920240"/>
            <a:ext cx="3337560" cy="731520"/>
          </a:xfrm>
          <a:prstGeom prst="roundRect">
            <a:avLst>
              <a:gd name="adj" fmla="val 12500"/>
            </a:avLst>
          </a:prstGeom>
          <a:solidFill>
            <a:schemeClr val="accent1"/>
          </a:solidFill>
          <a:ln w="12700">
            <a:solidFill>
              <a:schemeClr val="accent1"/>
            </a:solidFill>
            <a:prstDash val="solid"/>
          </a:ln>
        </p:spPr>
      </p:sp>
      <p:sp>
        <p:nvSpPr>
          <p:cNvPr id="10" name="text-52"/>
          <p:cNvSpPr txBox="1"/>
          <p:nvPr/>
        </p:nvSpPr>
        <p:spPr>
          <a:xfrm>
            <a:off x="4617720" y="1975104"/>
            <a:ext cx="2971800" cy="621792"/>
          </a:xfrm>
          <a:prstGeom prst="rect">
            <a:avLst/>
          </a:prstGeom>
          <a:noFill/>
          <a:ln/>
        </p:spPr>
        <p:txBody>
          <a:bodyPr wrap="square" lIns="0" tIns="0" rIns="0" bIns="0" rtlCol="0" anchor="ctr"/>
          <a:lstStyle/>
          <a:p>
            <a:pPr algn="l" indent="0" marL="0">
              <a:buNone/>
            </a:pPr>
            <a:r>
              <a:rPr lang="en-US" sz="1400" b="1" dirty="0">
                <a:solidFill>
                  <a:schemeClr val="bg1"/>
                </a:solidFill>
              </a:rPr>
              <a:t>Leading the play</a:t>
            </a:r>
            <a:endParaRPr lang="en-US" sz="1400" dirty="0"/>
          </a:p>
          <a:p>
            <a:pPr rtl="1" algn="r" indent="0" marL="0">
              <a:buNone/>
            </a:pPr>
            <a:r>
              <a:rPr lang="ar-EG" altLang="en-US" sz="1300" b="1" dirty="0">
                <a:solidFill>
                  <a:schemeClr val="accent4"/>
                </a:solidFill>
              </a:rPr>
              <a:t>قيادة خطة الشفت</a:t>
            </a:r>
            <a:endParaRPr lang="en-US" sz="1400" dirty="0"/>
          </a:p>
        </p:txBody>
      </p:sp>
      <p:sp>
        <p:nvSpPr>
          <p:cNvPr id="11" name="from-53"/>
          <p:cNvSpPr/>
          <p:nvPr/>
        </p:nvSpPr>
        <p:spPr>
          <a:xfrm>
            <a:off x="548640" y="2770632"/>
            <a:ext cx="3337560" cy="731520"/>
          </a:xfrm>
          <a:prstGeom prst="roundRect">
            <a:avLst>
              <a:gd name="adj" fmla="val 12500"/>
            </a:avLst>
          </a:prstGeom>
          <a:solidFill>
            <a:schemeClr val="bg2"/>
          </a:solidFill>
          <a:ln w="12700">
            <a:solidFill>
              <a:schemeClr val="bg2"/>
            </a:solidFill>
            <a:prstDash val="solid"/>
          </a:ln>
        </p:spPr>
      </p:sp>
      <p:sp>
        <p:nvSpPr>
          <p:cNvPr id="12" name="text-54"/>
          <p:cNvSpPr txBox="1"/>
          <p:nvPr/>
        </p:nvSpPr>
        <p:spPr>
          <a:xfrm>
            <a:off x="731520" y="2825496"/>
            <a:ext cx="2971800" cy="621792"/>
          </a:xfrm>
          <a:prstGeom prst="rect">
            <a:avLst/>
          </a:prstGeom>
          <a:noFill/>
          <a:ln/>
        </p:spPr>
        <p:txBody>
          <a:bodyPr wrap="square" lIns="0" tIns="0" rIns="0" bIns="0" rtlCol="0" anchor="ctr"/>
          <a:lstStyle/>
          <a:p>
            <a:pPr algn="l" indent="0" marL="0">
              <a:buNone/>
            </a:pPr>
            <a:r>
              <a:rPr lang="en-US" sz="1400" dirty="0">
                <a:solidFill>
                  <a:schemeClr val="tx1"/>
                </a:solidFill>
              </a:rPr>
              <a:t>Being a peer</a:t>
            </a:r>
            <a:endParaRPr lang="en-US" sz="1400" dirty="0"/>
          </a:p>
          <a:p>
            <a:pPr rtl="1" algn="r" indent="0" marL="0">
              <a:buNone/>
            </a:pPr>
            <a:r>
              <a:rPr lang="ar-EG" altLang="en-US" sz="1300" dirty="0">
                <a:solidFill>
                  <a:schemeClr val="accent6"/>
                </a:solidFill>
              </a:rPr>
              <a:t>زميل بين الزملاء</a:t>
            </a:r>
            <a:endParaRPr lang="en-US" sz="1400" dirty="0"/>
          </a:p>
        </p:txBody>
      </p:sp>
      <p:pic>
        <p:nvPicPr>
          <p:cNvPr id="13" name="arrow-55" descr="preencoded.png">    </p:cNvPr>
          <p:cNvPicPr>
            <a:picLocks noChangeAspect="1"/>
          </p:cNvPicPr>
          <p:nvPr/>
        </p:nvPicPr>
        <p:blipFill>
          <a:blip r:embed="rId2"/>
          <a:stretch>
            <a:fillRect/>
          </a:stretch>
        </p:blipFill>
        <p:spPr>
          <a:xfrm>
            <a:off x="4023360" y="2999232"/>
            <a:ext cx="274320" cy="274320"/>
          </a:xfrm>
          <a:prstGeom prst="rect">
            <a:avLst/>
          </a:prstGeom>
        </p:spPr>
      </p:pic>
      <p:sp>
        <p:nvSpPr>
          <p:cNvPr id="14" name="to-56"/>
          <p:cNvSpPr/>
          <p:nvPr/>
        </p:nvSpPr>
        <p:spPr>
          <a:xfrm>
            <a:off x="4434840" y="2770632"/>
            <a:ext cx="3337560" cy="731520"/>
          </a:xfrm>
          <a:prstGeom prst="roundRect">
            <a:avLst>
              <a:gd name="adj" fmla="val 12500"/>
            </a:avLst>
          </a:prstGeom>
          <a:solidFill>
            <a:schemeClr val="accent1"/>
          </a:solidFill>
          <a:ln w="12700">
            <a:solidFill>
              <a:schemeClr val="accent1"/>
            </a:solidFill>
            <a:prstDash val="solid"/>
          </a:ln>
        </p:spPr>
      </p:sp>
      <p:sp>
        <p:nvSpPr>
          <p:cNvPr id="15" name="text-57"/>
          <p:cNvSpPr txBox="1"/>
          <p:nvPr/>
        </p:nvSpPr>
        <p:spPr>
          <a:xfrm>
            <a:off x="4617720" y="2825496"/>
            <a:ext cx="2971800" cy="621792"/>
          </a:xfrm>
          <a:prstGeom prst="rect">
            <a:avLst/>
          </a:prstGeom>
          <a:noFill/>
          <a:ln/>
        </p:spPr>
        <p:txBody>
          <a:bodyPr wrap="square" lIns="0" tIns="0" rIns="0" bIns="0" rtlCol="0" anchor="ctr"/>
          <a:lstStyle/>
          <a:p>
            <a:pPr algn="l" indent="0" marL="0">
              <a:buNone/>
            </a:pPr>
            <a:r>
              <a:rPr lang="en-US" sz="1400" b="1" dirty="0">
                <a:solidFill>
                  <a:schemeClr val="bg1"/>
                </a:solidFill>
              </a:rPr>
              <a:t>Being the role model</a:t>
            </a:r>
            <a:endParaRPr lang="en-US" sz="1400" dirty="0"/>
          </a:p>
          <a:p>
            <a:pPr rtl="1" algn="r" indent="0" marL="0">
              <a:buNone/>
            </a:pPr>
            <a:r>
              <a:rPr lang="ar-EG" altLang="en-US" sz="1300" b="1" dirty="0">
                <a:solidFill>
                  <a:schemeClr val="accent4"/>
                </a:solidFill>
              </a:rPr>
              <a:t>قدوة للفريق</a:t>
            </a:r>
            <a:endParaRPr lang="en-US" sz="1400" dirty="0"/>
          </a:p>
        </p:txBody>
      </p:sp>
      <p:sp>
        <p:nvSpPr>
          <p:cNvPr id="16" name="from-58"/>
          <p:cNvSpPr/>
          <p:nvPr/>
        </p:nvSpPr>
        <p:spPr>
          <a:xfrm>
            <a:off x="548640" y="3621024"/>
            <a:ext cx="3337560" cy="731520"/>
          </a:xfrm>
          <a:prstGeom prst="roundRect">
            <a:avLst>
              <a:gd name="adj" fmla="val 12500"/>
            </a:avLst>
          </a:prstGeom>
          <a:solidFill>
            <a:schemeClr val="bg2"/>
          </a:solidFill>
          <a:ln w="12700">
            <a:solidFill>
              <a:schemeClr val="bg2"/>
            </a:solidFill>
            <a:prstDash val="solid"/>
          </a:ln>
        </p:spPr>
      </p:sp>
      <p:sp>
        <p:nvSpPr>
          <p:cNvPr id="17" name="text-59"/>
          <p:cNvSpPr txBox="1"/>
          <p:nvPr/>
        </p:nvSpPr>
        <p:spPr>
          <a:xfrm>
            <a:off x="731520" y="3675888"/>
            <a:ext cx="2971800" cy="621792"/>
          </a:xfrm>
          <a:prstGeom prst="rect">
            <a:avLst/>
          </a:prstGeom>
          <a:noFill/>
          <a:ln/>
        </p:spPr>
        <p:txBody>
          <a:bodyPr wrap="square" lIns="0" tIns="0" rIns="0" bIns="0" rtlCol="0" anchor="ctr"/>
          <a:lstStyle/>
          <a:p>
            <a:pPr algn="l" indent="0" marL="0">
              <a:buNone/>
            </a:pPr>
            <a:r>
              <a:rPr lang="en-US" sz="1400" dirty="0">
                <a:solidFill>
                  <a:schemeClr val="tx1"/>
                </a:solidFill>
              </a:rPr>
              <a:t>My station</a:t>
            </a:r>
            <a:endParaRPr lang="en-US" sz="1400" dirty="0"/>
          </a:p>
          <a:p>
            <a:pPr rtl="1" algn="r" indent="0" marL="0">
              <a:buNone/>
            </a:pPr>
            <a:r>
              <a:rPr lang="ar-EG" altLang="en-US" sz="1300" dirty="0">
                <a:solidFill>
                  <a:schemeClr val="accent6"/>
                </a:solidFill>
              </a:rPr>
              <a:t>محطتي فقط</a:t>
            </a:r>
            <a:endParaRPr lang="en-US" sz="1400" dirty="0"/>
          </a:p>
        </p:txBody>
      </p:sp>
      <p:pic>
        <p:nvPicPr>
          <p:cNvPr id="18" name="arrow-60" descr="preencoded.png">    </p:cNvPr>
          <p:cNvPicPr>
            <a:picLocks noChangeAspect="1"/>
          </p:cNvPicPr>
          <p:nvPr/>
        </p:nvPicPr>
        <p:blipFill>
          <a:blip r:embed="rId3"/>
          <a:stretch>
            <a:fillRect/>
          </a:stretch>
        </p:blipFill>
        <p:spPr>
          <a:xfrm>
            <a:off x="4023360" y="3849624"/>
            <a:ext cx="274320" cy="274320"/>
          </a:xfrm>
          <a:prstGeom prst="rect">
            <a:avLst/>
          </a:prstGeom>
        </p:spPr>
      </p:pic>
      <p:sp>
        <p:nvSpPr>
          <p:cNvPr id="19" name="to-61"/>
          <p:cNvSpPr/>
          <p:nvPr/>
        </p:nvSpPr>
        <p:spPr>
          <a:xfrm>
            <a:off x="4434840" y="3621024"/>
            <a:ext cx="3337560" cy="731520"/>
          </a:xfrm>
          <a:prstGeom prst="roundRect">
            <a:avLst>
              <a:gd name="adj" fmla="val 12500"/>
            </a:avLst>
          </a:prstGeom>
          <a:solidFill>
            <a:schemeClr val="accent1"/>
          </a:solidFill>
          <a:ln w="12700">
            <a:solidFill>
              <a:schemeClr val="accent1"/>
            </a:solidFill>
            <a:prstDash val="solid"/>
          </a:ln>
        </p:spPr>
      </p:sp>
      <p:sp>
        <p:nvSpPr>
          <p:cNvPr id="20" name="text-62"/>
          <p:cNvSpPr txBox="1"/>
          <p:nvPr/>
        </p:nvSpPr>
        <p:spPr>
          <a:xfrm>
            <a:off x="4617720" y="3675888"/>
            <a:ext cx="2971800" cy="621792"/>
          </a:xfrm>
          <a:prstGeom prst="rect">
            <a:avLst/>
          </a:prstGeom>
          <a:noFill/>
          <a:ln/>
        </p:spPr>
        <p:txBody>
          <a:bodyPr wrap="square" lIns="0" tIns="0" rIns="0" bIns="0" rtlCol="0" anchor="ctr"/>
          <a:lstStyle/>
          <a:p>
            <a:pPr algn="l" indent="0" marL="0">
              <a:buNone/>
            </a:pPr>
            <a:r>
              <a:rPr lang="en-US" sz="1400" b="1" dirty="0">
                <a:solidFill>
                  <a:schemeClr val="bg1"/>
                </a:solidFill>
              </a:rPr>
              <a:t>The whole store</a:t>
            </a:r>
            <a:endParaRPr lang="en-US" sz="1400" dirty="0"/>
          </a:p>
          <a:p>
            <a:pPr rtl="1" algn="r" indent="0" marL="0">
              <a:buNone/>
            </a:pPr>
            <a:r>
              <a:rPr lang="ar-EG" altLang="en-US" sz="1300" b="1" dirty="0">
                <a:solidFill>
                  <a:schemeClr val="accent4"/>
                </a:solidFill>
              </a:rPr>
              <a:t>المتجر بالكامل</a:t>
            </a:r>
            <a:endParaRPr lang="en-US" sz="1400" dirty="0"/>
          </a:p>
        </p:txBody>
      </p:sp>
      <p:sp>
        <p:nvSpPr>
          <p:cNvPr id="21" name="from-63"/>
          <p:cNvSpPr/>
          <p:nvPr/>
        </p:nvSpPr>
        <p:spPr>
          <a:xfrm>
            <a:off x="548640" y="4471416"/>
            <a:ext cx="3337560" cy="731520"/>
          </a:xfrm>
          <a:prstGeom prst="roundRect">
            <a:avLst>
              <a:gd name="adj" fmla="val 12500"/>
            </a:avLst>
          </a:prstGeom>
          <a:solidFill>
            <a:schemeClr val="bg2"/>
          </a:solidFill>
          <a:ln w="12700">
            <a:solidFill>
              <a:schemeClr val="bg2"/>
            </a:solidFill>
            <a:prstDash val="solid"/>
          </a:ln>
        </p:spPr>
      </p:sp>
      <p:sp>
        <p:nvSpPr>
          <p:cNvPr id="22" name="text-64"/>
          <p:cNvSpPr txBox="1"/>
          <p:nvPr/>
        </p:nvSpPr>
        <p:spPr>
          <a:xfrm>
            <a:off x="731520" y="4526280"/>
            <a:ext cx="2971800" cy="621792"/>
          </a:xfrm>
          <a:prstGeom prst="rect">
            <a:avLst/>
          </a:prstGeom>
          <a:noFill/>
          <a:ln/>
        </p:spPr>
        <p:txBody>
          <a:bodyPr wrap="square" lIns="0" tIns="0" rIns="0" bIns="0" rtlCol="0" anchor="ctr"/>
          <a:lstStyle/>
          <a:p>
            <a:pPr algn="l" indent="0" marL="0">
              <a:buNone/>
            </a:pPr>
            <a:r>
              <a:rPr lang="en-US" sz="1400" dirty="0">
                <a:solidFill>
                  <a:schemeClr val="tx1"/>
                </a:solidFill>
              </a:rPr>
              <a:t>Reacting to problems</a:t>
            </a:r>
            <a:endParaRPr lang="en-US" sz="1400" dirty="0"/>
          </a:p>
          <a:p>
            <a:pPr rtl="1" algn="r" indent="0" marL="0">
              <a:buNone/>
            </a:pPr>
            <a:r>
              <a:rPr lang="ar-EG" altLang="en-US" sz="1300" dirty="0">
                <a:solidFill>
                  <a:schemeClr val="accent6"/>
                </a:solidFill>
              </a:rPr>
              <a:t>رد الفعل</a:t>
            </a:r>
            <a:endParaRPr lang="en-US" sz="1400" dirty="0"/>
          </a:p>
        </p:txBody>
      </p:sp>
      <p:pic>
        <p:nvPicPr>
          <p:cNvPr id="23" name="arrow-65" descr="preencoded.png">    </p:cNvPr>
          <p:cNvPicPr>
            <a:picLocks noChangeAspect="1"/>
          </p:cNvPicPr>
          <p:nvPr/>
        </p:nvPicPr>
        <p:blipFill>
          <a:blip r:embed="rId4"/>
          <a:stretch>
            <a:fillRect/>
          </a:stretch>
        </p:blipFill>
        <p:spPr>
          <a:xfrm>
            <a:off x="4023360" y="4700016"/>
            <a:ext cx="274320" cy="274320"/>
          </a:xfrm>
          <a:prstGeom prst="rect">
            <a:avLst/>
          </a:prstGeom>
        </p:spPr>
      </p:pic>
      <p:sp>
        <p:nvSpPr>
          <p:cNvPr id="24" name="to-66"/>
          <p:cNvSpPr/>
          <p:nvPr/>
        </p:nvSpPr>
        <p:spPr>
          <a:xfrm>
            <a:off x="4434840" y="4471416"/>
            <a:ext cx="3337560" cy="731520"/>
          </a:xfrm>
          <a:prstGeom prst="roundRect">
            <a:avLst>
              <a:gd name="adj" fmla="val 12500"/>
            </a:avLst>
          </a:prstGeom>
          <a:solidFill>
            <a:schemeClr val="accent1"/>
          </a:solidFill>
          <a:ln w="12700">
            <a:solidFill>
              <a:schemeClr val="accent1"/>
            </a:solidFill>
            <a:prstDash val="solid"/>
          </a:ln>
        </p:spPr>
      </p:sp>
      <p:sp>
        <p:nvSpPr>
          <p:cNvPr id="25" name="text-67"/>
          <p:cNvSpPr txBox="1"/>
          <p:nvPr/>
        </p:nvSpPr>
        <p:spPr>
          <a:xfrm>
            <a:off x="4617720" y="4526280"/>
            <a:ext cx="2971800" cy="621792"/>
          </a:xfrm>
          <a:prstGeom prst="rect">
            <a:avLst/>
          </a:prstGeom>
          <a:noFill/>
          <a:ln/>
        </p:spPr>
        <p:txBody>
          <a:bodyPr wrap="square" lIns="0" tIns="0" rIns="0" bIns="0" rtlCol="0" anchor="ctr"/>
          <a:lstStyle/>
          <a:p>
            <a:pPr algn="l" indent="0" marL="0">
              <a:buNone/>
            </a:pPr>
            <a:r>
              <a:rPr lang="en-US" sz="1400" b="1" dirty="0">
                <a:solidFill>
                  <a:schemeClr val="bg1"/>
                </a:solidFill>
              </a:rPr>
              <a:t>Anticipating them</a:t>
            </a:r>
            <a:endParaRPr lang="en-US" sz="1400" dirty="0"/>
          </a:p>
          <a:p>
            <a:pPr rtl="1" algn="r" indent="0" marL="0">
              <a:buNone/>
            </a:pPr>
            <a:r>
              <a:rPr lang="ar-EG" altLang="en-US" sz="1300" b="1" dirty="0">
                <a:solidFill>
                  <a:schemeClr val="accent4"/>
                </a:solidFill>
              </a:rPr>
              <a:t>الاستباق والتوقّع</a:t>
            </a:r>
            <a:endParaRPr lang="en-US" sz="1400" dirty="0"/>
          </a:p>
        </p:txBody>
      </p:sp>
      <p:sp>
        <p:nvSpPr>
          <p:cNvPr id="26" name="from-68"/>
          <p:cNvSpPr/>
          <p:nvPr/>
        </p:nvSpPr>
        <p:spPr>
          <a:xfrm>
            <a:off x="548640" y="5321808"/>
            <a:ext cx="3337560" cy="731520"/>
          </a:xfrm>
          <a:prstGeom prst="roundRect">
            <a:avLst>
              <a:gd name="adj" fmla="val 12500"/>
            </a:avLst>
          </a:prstGeom>
          <a:solidFill>
            <a:schemeClr val="bg2"/>
          </a:solidFill>
          <a:ln w="12700">
            <a:solidFill>
              <a:schemeClr val="bg2"/>
            </a:solidFill>
            <a:prstDash val="solid"/>
          </a:ln>
        </p:spPr>
      </p:sp>
      <p:sp>
        <p:nvSpPr>
          <p:cNvPr id="27" name="text-69"/>
          <p:cNvSpPr txBox="1"/>
          <p:nvPr/>
        </p:nvSpPr>
        <p:spPr>
          <a:xfrm>
            <a:off x="731520" y="5376672"/>
            <a:ext cx="2971800" cy="621792"/>
          </a:xfrm>
          <a:prstGeom prst="rect">
            <a:avLst/>
          </a:prstGeom>
          <a:noFill/>
          <a:ln/>
        </p:spPr>
        <p:txBody>
          <a:bodyPr wrap="square" lIns="0" tIns="0" rIns="0" bIns="0" rtlCol="0" anchor="ctr"/>
          <a:lstStyle/>
          <a:p>
            <a:pPr algn="l" indent="0" marL="0">
              <a:buNone/>
            </a:pPr>
            <a:r>
              <a:rPr lang="en-US" sz="1400" dirty="0">
                <a:solidFill>
                  <a:schemeClr val="tx1"/>
                </a:solidFill>
              </a:rPr>
              <a:t>Following the plan</a:t>
            </a:r>
            <a:endParaRPr lang="en-US" sz="1400" dirty="0"/>
          </a:p>
          <a:p>
            <a:pPr rtl="1" algn="r" indent="0" marL="0">
              <a:buNone/>
            </a:pPr>
            <a:r>
              <a:rPr lang="ar-EG" altLang="en-US" sz="1300" dirty="0">
                <a:solidFill>
                  <a:schemeClr val="accent6"/>
                </a:solidFill>
              </a:rPr>
              <a:t>اتباع الخطة</a:t>
            </a:r>
            <a:endParaRPr lang="en-US" sz="1400" dirty="0"/>
          </a:p>
        </p:txBody>
      </p:sp>
      <p:pic>
        <p:nvPicPr>
          <p:cNvPr id="28" name="arrow-70" descr="preencoded.png">    </p:cNvPr>
          <p:cNvPicPr>
            <a:picLocks noChangeAspect="1"/>
          </p:cNvPicPr>
          <p:nvPr/>
        </p:nvPicPr>
        <p:blipFill>
          <a:blip r:embed="rId5"/>
          <a:stretch>
            <a:fillRect/>
          </a:stretch>
        </p:blipFill>
        <p:spPr>
          <a:xfrm>
            <a:off x="4023360" y="5550408"/>
            <a:ext cx="274320" cy="274320"/>
          </a:xfrm>
          <a:prstGeom prst="rect">
            <a:avLst/>
          </a:prstGeom>
        </p:spPr>
      </p:pic>
      <p:sp>
        <p:nvSpPr>
          <p:cNvPr id="29" name="to-71"/>
          <p:cNvSpPr/>
          <p:nvPr/>
        </p:nvSpPr>
        <p:spPr>
          <a:xfrm>
            <a:off x="4434840" y="5321808"/>
            <a:ext cx="3337560" cy="731520"/>
          </a:xfrm>
          <a:prstGeom prst="roundRect">
            <a:avLst>
              <a:gd name="adj" fmla="val 12500"/>
            </a:avLst>
          </a:prstGeom>
          <a:solidFill>
            <a:schemeClr val="accent1"/>
          </a:solidFill>
          <a:ln w="12700">
            <a:solidFill>
              <a:schemeClr val="accent1"/>
            </a:solidFill>
            <a:prstDash val="solid"/>
          </a:ln>
        </p:spPr>
      </p:sp>
      <p:sp>
        <p:nvSpPr>
          <p:cNvPr id="30" name="text-72"/>
          <p:cNvSpPr txBox="1"/>
          <p:nvPr/>
        </p:nvSpPr>
        <p:spPr>
          <a:xfrm>
            <a:off x="4617720" y="5376672"/>
            <a:ext cx="2971800" cy="621792"/>
          </a:xfrm>
          <a:prstGeom prst="rect">
            <a:avLst/>
          </a:prstGeom>
          <a:noFill/>
          <a:ln/>
        </p:spPr>
        <p:txBody>
          <a:bodyPr wrap="square" lIns="0" tIns="0" rIns="0" bIns="0" rtlCol="0" anchor="ctr"/>
          <a:lstStyle/>
          <a:p>
            <a:pPr algn="l" indent="0" marL="0">
              <a:buNone/>
            </a:pPr>
            <a:r>
              <a:rPr lang="en-US" sz="1400" b="1" dirty="0">
                <a:solidFill>
                  <a:schemeClr val="bg1"/>
                </a:solidFill>
              </a:rPr>
              <a:t>Owning the results</a:t>
            </a:r>
            <a:endParaRPr lang="en-US" sz="1400" dirty="0"/>
          </a:p>
          <a:p>
            <a:pPr rtl="1" algn="r" indent="0" marL="0">
              <a:buNone/>
            </a:pPr>
            <a:r>
              <a:rPr lang="ar-EG" altLang="en-US" sz="1300" b="1" dirty="0">
                <a:solidFill>
                  <a:schemeClr val="accent4"/>
                </a:solidFill>
              </a:rPr>
              <a:t>امتلاك النتائج</a:t>
            </a:r>
            <a:endParaRPr lang="en-US" sz="1400" dirty="0"/>
          </a:p>
        </p:txBody>
      </p:sp>
      <p:sp>
        <p:nvSpPr>
          <p:cNvPr id="31" name="card-73"/>
          <p:cNvSpPr/>
          <p:nvPr/>
        </p:nvSpPr>
        <p:spPr>
          <a:xfrm>
            <a:off x="8138160" y="1691640"/>
            <a:ext cx="3504895" cy="4434840"/>
          </a:xfrm>
          <a:prstGeom prst="roundRect">
            <a:avLst>
              <a:gd name="adj" fmla="val 3131"/>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32" name="text-74"/>
          <p:cNvSpPr txBox="1"/>
          <p:nvPr/>
        </p:nvSpPr>
        <p:spPr>
          <a:xfrm>
            <a:off x="8412480" y="1920240"/>
            <a:ext cx="2956255" cy="4023360"/>
          </a:xfrm>
          <a:prstGeom prst="rect">
            <a:avLst/>
          </a:prstGeom>
          <a:noFill/>
          <a:ln/>
        </p:spPr>
        <p:txBody>
          <a:bodyPr wrap="square" lIns="0" tIns="0" rIns="0" bIns="0" rtlCol="0" anchor="t"/>
          <a:lstStyle/>
          <a:p>
            <a:pPr indent="0" marL="0">
              <a:spcAft>
                <a:spcPts val="800"/>
              </a:spcAft>
              <a:buNone/>
            </a:pPr>
            <a:r>
              <a:rPr lang="en-US" sz="1300" b="1" dirty="0">
                <a:solidFill>
                  <a:schemeClr val="accent3"/>
                </a:solidFill>
              </a:rPr>
              <a:t>The role, in Starbucks' words</a:t>
            </a:r>
            <a:endParaRPr lang="en-US" sz="1300" dirty="0"/>
          </a:p>
          <a:p>
            <a:pPr indent="0" marL="0">
              <a:spcAft>
                <a:spcPts val="1000"/>
              </a:spcAft>
              <a:buNone/>
            </a:pPr>
            <a:r>
              <a:rPr lang="en-US" sz="1400" i="1" dirty="0">
                <a:solidFill>
                  <a:schemeClr val="bg1"/>
                </a:solidFill>
              </a:rPr>
              <a:t>“Shift supervisors model making every moment right for our customers, ensure the delivery of high-quality products in a clean, safe and welcoming store, and confidently run shifts that create the Starbucks Experience for customers and partners.”</a:t>
            </a:r>
            <a:endParaRPr lang="en-US" sz="1300" dirty="0"/>
          </a:p>
          <a:p>
            <a:pPr rtl="1" algn="r" indent="0" marL="0">
              <a:buNone/>
            </a:pPr>
            <a:r>
              <a:rPr lang="ar-EG" altLang="en-US" sz="1300" dirty="0">
                <a:solidFill>
                  <a:schemeClr val="accent4"/>
                </a:solidFill>
              </a:rPr>
              <a:t>المشرف قدوة في جعل كل لحظة مثالية للعميل، ويضمن منتجاً عالي الجودة في متجر نظيف وآمن ومرحِّب، ويدير الشفت بثقة.</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The Shift Supervisor Approach: 3 Core Activities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نهج مشرف الشفت: ثلاثة أنشطة أساسية</a:t>
            </a:r>
            <a:endParaRPr lang="ar-EG" sz="2000" dirty="0"/>
          </a:p>
        </p:txBody>
      </p:sp>
      <p:sp>
        <p:nvSpPr>
          <p:cNvPr id="4" name="card-75"/>
          <p:cNvSpPr/>
          <p:nvPr/>
        </p:nvSpPr>
        <p:spPr>
          <a:xfrm>
            <a:off x="548640"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76"/>
          <p:cNvSpPr/>
          <p:nvPr/>
        </p:nvSpPr>
        <p:spPr>
          <a:xfrm>
            <a:off x="822960" y="1965960"/>
            <a:ext cx="685800" cy="685800"/>
          </a:xfrm>
          <a:prstGeom prst="ellipse">
            <a:avLst/>
          </a:prstGeom>
          <a:solidFill>
            <a:schemeClr val="accent1"/>
          </a:solidFill>
          <a:ln w="12700">
            <a:solidFill>
              <a:schemeClr val="accent1"/>
            </a:solidFill>
            <a:prstDash val="solid"/>
          </a:ln>
        </p:spPr>
      </p:sp>
      <p:pic>
        <p:nvPicPr>
          <p:cNvPr id="6" name="icon-77" descr="preencoded.png">    </p:cNvPr>
          <p:cNvPicPr>
            <a:picLocks noChangeAspect="1"/>
          </p:cNvPicPr>
          <p:nvPr/>
        </p:nvPicPr>
        <p:blipFill>
          <a:blip r:embed="rId1"/>
          <a:stretch>
            <a:fillRect/>
          </a:stretch>
        </p:blipFill>
        <p:spPr>
          <a:xfrm>
            <a:off x="973836" y="2116836"/>
            <a:ext cx="384048" cy="384048"/>
          </a:xfrm>
          <a:prstGeom prst="rect">
            <a:avLst/>
          </a:prstGeom>
        </p:spPr>
      </p:pic>
      <p:sp>
        <p:nvSpPr>
          <p:cNvPr id="7" name="text-78"/>
          <p:cNvSpPr txBox="1"/>
          <p:nvPr/>
        </p:nvSpPr>
        <p:spPr>
          <a:xfrm>
            <a:off x="1828800" y="2103120"/>
            <a:ext cx="1938528" cy="365760"/>
          </a:xfrm>
          <a:prstGeom prst="rect">
            <a:avLst/>
          </a:prstGeom>
          <a:noFill/>
          <a:ln/>
        </p:spPr>
        <p:txBody>
          <a:bodyPr wrap="square" lIns="0" tIns="0" rIns="0" bIns="0" rtlCol="0" anchor="ctr"/>
          <a:lstStyle/>
          <a:p>
            <a:pPr algn="r" indent="0" marL="0">
              <a:buNone/>
            </a:pPr>
            <a:r>
              <a:rPr lang="en-US" sz="1100" b="1" spc="200" kern="0" dirty="0">
                <a:solidFill>
                  <a:schemeClr val="tx2"/>
                </a:solidFill>
              </a:rPr>
              <a:t>OPERATIONS</a:t>
            </a:r>
            <a:endParaRPr lang="en-US" sz="1100" dirty="0"/>
          </a:p>
        </p:txBody>
      </p:sp>
      <p:sp>
        <p:nvSpPr>
          <p:cNvPr id="8" name="text-79"/>
          <p:cNvSpPr txBox="1"/>
          <p:nvPr/>
        </p:nvSpPr>
        <p:spPr>
          <a:xfrm>
            <a:off x="822960" y="2880360"/>
            <a:ext cx="2944368" cy="310896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Running Shifts with Customers at Our Core</a:t>
            </a:r>
            <a:endParaRPr lang="en-US" sz="1600" dirty="0"/>
          </a:p>
          <a:p>
            <a:pPr algn="l" indent="0" marL="0">
              <a:spcAft>
                <a:spcPts val="600"/>
              </a:spcAft>
              <a:buNone/>
            </a:pPr>
            <a:r>
              <a:rPr lang="en-US" sz="1400" dirty="0">
                <a:solidFill>
                  <a:schemeClr val="tx1"/>
                </a:solidFill>
              </a:rPr>
              <a:t>Understand today's plan; use the Daily Coverage Report, store plays and Play Caller Cards; stay where you can read customer cues.</a:t>
            </a:r>
            <a:endParaRPr lang="en-US" sz="1600" dirty="0"/>
          </a:p>
          <a:p>
            <a:pPr rtl="1" algn="r" indent="0" marL="0">
              <a:spcAft>
                <a:spcPts val="200"/>
              </a:spcAft>
              <a:buNone/>
            </a:pPr>
            <a:r>
              <a:rPr lang="ar-EG" altLang="en-US" sz="1600" b="1" dirty="0">
                <a:solidFill>
                  <a:schemeClr val="tx2"/>
                </a:solidFill>
              </a:rPr>
              <a:t>إدارة الشفت والعميل في المركز</a:t>
            </a:r>
            <a:endParaRPr lang="en-US" sz="1600" dirty="0"/>
          </a:p>
          <a:p>
            <a:pPr rtl="1" algn="r" indent="0" marL="0">
              <a:buNone/>
            </a:pPr>
            <a:r>
              <a:rPr lang="ar-EG" altLang="en-US" sz="1400" dirty="0">
                <a:solidFill>
                  <a:schemeClr val="tx1"/>
                </a:solidFill>
              </a:rPr>
              <a:t>افهم خطة اليوم، واستخدم تقرير التغطية اليومي وخطط المتجر، وكن حيث ترى احتياج العميل.</a:t>
            </a:r>
            <a:endParaRPr lang="en-US" sz="1600" dirty="0"/>
          </a:p>
        </p:txBody>
      </p:sp>
      <p:sp>
        <p:nvSpPr>
          <p:cNvPr id="9" name="card-80"/>
          <p:cNvSpPr/>
          <p:nvPr/>
        </p:nvSpPr>
        <p:spPr>
          <a:xfrm>
            <a:off x="4315968"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0" name="icon-bg-81"/>
          <p:cNvSpPr/>
          <p:nvPr/>
        </p:nvSpPr>
        <p:spPr>
          <a:xfrm>
            <a:off x="4590288" y="1965960"/>
            <a:ext cx="685800" cy="685800"/>
          </a:xfrm>
          <a:prstGeom prst="ellipse">
            <a:avLst/>
          </a:prstGeom>
          <a:solidFill>
            <a:schemeClr val="accent1"/>
          </a:solidFill>
          <a:ln w="12700">
            <a:solidFill>
              <a:schemeClr val="accent1"/>
            </a:solidFill>
            <a:prstDash val="solid"/>
          </a:ln>
        </p:spPr>
      </p:sp>
      <p:pic>
        <p:nvPicPr>
          <p:cNvPr id="11" name="icon-82" descr="preencoded.png">    </p:cNvPr>
          <p:cNvPicPr>
            <a:picLocks noChangeAspect="1"/>
          </p:cNvPicPr>
          <p:nvPr/>
        </p:nvPicPr>
        <p:blipFill>
          <a:blip r:embed="rId2"/>
          <a:stretch>
            <a:fillRect/>
          </a:stretch>
        </p:blipFill>
        <p:spPr>
          <a:xfrm>
            <a:off x="4741164" y="2116836"/>
            <a:ext cx="384048" cy="384048"/>
          </a:xfrm>
          <a:prstGeom prst="rect">
            <a:avLst/>
          </a:prstGeom>
        </p:spPr>
      </p:pic>
      <p:sp>
        <p:nvSpPr>
          <p:cNvPr id="12" name="text-83"/>
          <p:cNvSpPr txBox="1"/>
          <p:nvPr/>
        </p:nvSpPr>
        <p:spPr>
          <a:xfrm>
            <a:off x="5596128" y="2103120"/>
            <a:ext cx="1938528" cy="365760"/>
          </a:xfrm>
          <a:prstGeom prst="rect">
            <a:avLst/>
          </a:prstGeom>
          <a:noFill/>
          <a:ln/>
        </p:spPr>
        <p:txBody>
          <a:bodyPr wrap="square" lIns="0" tIns="0" rIns="0" bIns="0" rtlCol="0" anchor="ctr"/>
          <a:lstStyle/>
          <a:p>
            <a:pPr algn="r" indent="0" marL="0">
              <a:buNone/>
            </a:pPr>
            <a:r>
              <a:rPr lang="en-US" sz="1100" b="1" spc="200" kern="0" dirty="0">
                <a:solidFill>
                  <a:schemeClr val="tx2"/>
                </a:solidFill>
              </a:rPr>
              <a:t>OPERATIONS</a:t>
            </a:r>
            <a:endParaRPr lang="en-US" sz="1100" dirty="0"/>
          </a:p>
        </p:txBody>
      </p:sp>
      <p:sp>
        <p:nvSpPr>
          <p:cNvPr id="13" name="text-84"/>
          <p:cNvSpPr txBox="1"/>
          <p:nvPr/>
        </p:nvSpPr>
        <p:spPr>
          <a:xfrm>
            <a:off x="4590288" y="2880360"/>
            <a:ext cx="2944368" cy="310896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Solving Problems in the Moment</a:t>
            </a:r>
            <a:endParaRPr lang="en-US" sz="1600" dirty="0"/>
          </a:p>
          <a:p>
            <a:pPr algn="l" indent="0" marL="0">
              <a:spcAft>
                <a:spcPts val="600"/>
              </a:spcAft>
              <a:buNone/>
            </a:pPr>
            <a:r>
              <a:rPr lang="en-US" sz="1400" dirty="0">
                <a:solidFill>
                  <a:schemeClr val="tx1"/>
                </a:solidFill>
              </a:rPr>
              <a:t>Stay composed, use the ACT model, flex the play when needed and turn mistakes into teachable moments.</a:t>
            </a:r>
            <a:endParaRPr lang="en-US" sz="1600" dirty="0"/>
          </a:p>
          <a:p>
            <a:pPr rtl="1" algn="r" indent="0" marL="0">
              <a:spcAft>
                <a:spcPts val="200"/>
              </a:spcAft>
              <a:buNone/>
            </a:pPr>
            <a:r>
              <a:rPr lang="ar-EG" altLang="en-US" sz="1600" b="1" dirty="0">
                <a:solidFill>
                  <a:schemeClr val="tx2"/>
                </a:solidFill>
              </a:rPr>
              <a:t>حل المشكلات في اللحظة</a:t>
            </a:r>
            <a:endParaRPr lang="en-US" sz="1600" dirty="0"/>
          </a:p>
          <a:p>
            <a:pPr rtl="1" algn="r" indent="0" marL="0">
              <a:buNone/>
            </a:pPr>
            <a:r>
              <a:rPr lang="ar-EG" altLang="en-US" sz="1400" dirty="0">
                <a:solidFill>
                  <a:schemeClr val="tx1"/>
                </a:solidFill>
              </a:rPr>
              <a:t>حافظ على هدوئك، استخدم نموذج ACT، عدّل الخطة عند الحاجة وحوّل الأخطاء لفرص تعلّم.</a:t>
            </a:r>
            <a:endParaRPr lang="en-US" sz="1600" dirty="0"/>
          </a:p>
        </p:txBody>
      </p:sp>
      <p:sp>
        <p:nvSpPr>
          <p:cNvPr id="14" name="card-85"/>
          <p:cNvSpPr/>
          <p:nvPr/>
        </p:nvSpPr>
        <p:spPr>
          <a:xfrm>
            <a:off x="8083296"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5" name="icon-bg-86"/>
          <p:cNvSpPr/>
          <p:nvPr/>
        </p:nvSpPr>
        <p:spPr>
          <a:xfrm>
            <a:off x="8357616" y="1965960"/>
            <a:ext cx="685800" cy="685800"/>
          </a:xfrm>
          <a:prstGeom prst="ellipse">
            <a:avLst/>
          </a:prstGeom>
          <a:solidFill>
            <a:schemeClr val="accent3"/>
          </a:solidFill>
          <a:ln w="12700">
            <a:solidFill>
              <a:schemeClr val="accent3"/>
            </a:solidFill>
            <a:prstDash val="solid"/>
          </a:ln>
        </p:spPr>
      </p:sp>
      <p:pic>
        <p:nvPicPr>
          <p:cNvPr id="16" name="icon-87" descr="preencoded.png">    </p:cNvPr>
          <p:cNvPicPr>
            <a:picLocks noChangeAspect="1"/>
          </p:cNvPicPr>
          <p:nvPr/>
        </p:nvPicPr>
        <p:blipFill>
          <a:blip r:embed="rId3"/>
          <a:stretch>
            <a:fillRect/>
          </a:stretch>
        </p:blipFill>
        <p:spPr>
          <a:xfrm>
            <a:off x="8508492" y="2116836"/>
            <a:ext cx="384048" cy="384048"/>
          </a:xfrm>
          <a:prstGeom prst="rect">
            <a:avLst/>
          </a:prstGeom>
        </p:spPr>
      </p:pic>
      <p:sp>
        <p:nvSpPr>
          <p:cNvPr id="17" name="text-88"/>
          <p:cNvSpPr txBox="1"/>
          <p:nvPr/>
        </p:nvSpPr>
        <p:spPr>
          <a:xfrm>
            <a:off x="9363456" y="2103120"/>
            <a:ext cx="1938528" cy="365760"/>
          </a:xfrm>
          <a:prstGeom prst="rect">
            <a:avLst/>
          </a:prstGeom>
          <a:noFill/>
          <a:ln/>
        </p:spPr>
        <p:txBody>
          <a:bodyPr wrap="square" lIns="0" tIns="0" rIns="0" bIns="0" rtlCol="0" anchor="ctr"/>
          <a:lstStyle/>
          <a:p>
            <a:pPr algn="r" indent="0" marL="0">
              <a:buNone/>
            </a:pPr>
            <a:r>
              <a:rPr lang="en-US" sz="1100" b="1" spc="200" kern="0" dirty="0">
                <a:solidFill>
                  <a:schemeClr val="accent3"/>
                </a:solidFill>
              </a:rPr>
              <a:t>LEADERSHIP</a:t>
            </a:r>
            <a:endParaRPr lang="en-US" sz="1100" dirty="0"/>
          </a:p>
        </p:txBody>
      </p:sp>
      <p:sp>
        <p:nvSpPr>
          <p:cNvPr id="18" name="text-89"/>
          <p:cNvSpPr txBox="1"/>
          <p:nvPr/>
        </p:nvSpPr>
        <p:spPr>
          <a:xfrm>
            <a:off x="8357616" y="2880360"/>
            <a:ext cx="2944368" cy="310896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Creating the Environment</a:t>
            </a:r>
            <a:endParaRPr lang="en-US" sz="1600" dirty="0"/>
          </a:p>
          <a:p>
            <a:pPr algn="l" indent="0" marL="0">
              <a:spcAft>
                <a:spcPts val="600"/>
              </a:spcAft>
              <a:buNone/>
            </a:pPr>
            <a:r>
              <a:rPr lang="en-US" sz="1400" dirty="0">
                <a:solidFill>
                  <a:schemeClr val="tx1"/>
                </a:solidFill>
              </a:rPr>
              <a:t>Set the tone, build rapport, recognise partners, celebrate wins and share coffee knowledge every shift.</a:t>
            </a:r>
            <a:endParaRPr lang="en-US" sz="1600" dirty="0"/>
          </a:p>
          <a:p>
            <a:pPr rtl="1" algn="r" indent="0" marL="0">
              <a:spcAft>
                <a:spcPts val="200"/>
              </a:spcAft>
              <a:buNone/>
            </a:pPr>
            <a:r>
              <a:rPr lang="ar-EG" altLang="en-US" sz="1600" b="1" dirty="0">
                <a:solidFill>
                  <a:schemeClr val="tx2"/>
                </a:solidFill>
              </a:rPr>
              <a:t>صناعة بيئة العمل</a:t>
            </a:r>
            <a:endParaRPr lang="en-US" sz="1600" dirty="0"/>
          </a:p>
          <a:p>
            <a:pPr rtl="1" algn="r" indent="0" marL="0">
              <a:buNone/>
            </a:pPr>
            <a:r>
              <a:rPr lang="ar-EG" altLang="en-US" sz="1400" dirty="0">
                <a:solidFill>
                  <a:schemeClr val="tx1"/>
                </a:solidFill>
              </a:rPr>
              <a:t>حدّد الروح العامة، وابنِ العلاقات، وقدّر الفريق، واحتفل بالنجاحات، وشارك المعرفة بالقهوة.</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The Shift Pattern: Prepare › Lead › Transition</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نمط الشفت: استعد › قُد › سلِّم</a:t>
            </a:r>
            <a:endParaRPr lang="ar-EG" sz="2000" dirty="0"/>
          </a:p>
        </p:txBody>
      </p:sp>
      <p:sp>
        <p:nvSpPr>
          <p:cNvPr id="4" name="card-90"/>
          <p:cNvSpPr/>
          <p:nvPr/>
        </p:nvSpPr>
        <p:spPr>
          <a:xfrm>
            <a:off x="548640" y="1691640"/>
            <a:ext cx="3401568" cy="4434840"/>
          </a:xfrm>
          <a:prstGeom prst="roundRect">
            <a:avLst>
              <a:gd name="adj" fmla="val 3226"/>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91"/>
          <p:cNvSpPr/>
          <p:nvPr/>
        </p:nvSpPr>
        <p:spPr>
          <a:xfrm>
            <a:off x="804672" y="1947672"/>
            <a:ext cx="603504" cy="603504"/>
          </a:xfrm>
          <a:prstGeom prst="ellipse">
            <a:avLst/>
          </a:prstGeom>
          <a:solidFill>
            <a:schemeClr val="accent1"/>
          </a:solidFill>
          <a:ln w="12700">
            <a:solidFill>
              <a:schemeClr val="accent1"/>
            </a:solidFill>
            <a:prstDash val="solid"/>
          </a:ln>
        </p:spPr>
      </p:sp>
      <p:pic>
        <p:nvPicPr>
          <p:cNvPr id="6" name="icon-92" descr="preencoded.png">    </p:cNvPr>
          <p:cNvPicPr>
            <a:picLocks noChangeAspect="1"/>
          </p:cNvPicPr>
          <p:nvPr/>
        </p:nvPicPr>
        <p:blipFill>
          <a:blip r:embed="rId1"/>
          <a:stretch>
            <a:fillRect/>
          </a:stretch>
        </p:blipFill>
        <p:spPr>
          <a:xfrm>
            <a:off x="937443" y="2080443"/>
            <a:ext cx="337962" cy="337962"/>
          </a:xfrm>
          <a:prstGeom prst="rect">
            <a:avLst/>
          </a:prstGeom>
        </p:spPr>
      </p:pic>
      <p:sp>
        <p:nvSpPr>
          <p:cNvPr id="7" name="text-93"/>
          <p:cNvSpPr txBox="1"/>
          <p:nvPr/>
        </p:nvSpPr>
        <p:spPr>
          <a:xfrm>
            <a:off x="1554480" y="1892808"/>
            <a:ext cx="2139696" cy="777240"/>
          </a:xfrm>
          <a:prstGeom prst="rect">
            <a:avLst/>
          </a:prstGeom>
          <a:noFill/>
          <a:ln/>
        </p:spPr>
        <p:txBody>
          <a:bodyPr wrap="square" lIns="0" tIns="0" rIns="0" bIns="0" rtlCol="0" anchor="t"/>
          <a:lstStyle/>
          <a:p>
            <a:pPr indent="0" marL="0">
              <a:buNone/>
            </a:pPr>
            <a:r>
              <a:rPr lang="en-US" sz="2000" b="1" dirty="0">
                <a:solidFill>
                  <a:schemeClr val="tx1"/>
                </a:solidFill>
              </a:rPr>
              <a:t>PREPARE</a:t>
            </a:r>
            <a:endParaRPr lang="en-US" sz="2000" dirty="0"/>
          </a:p>
          <a:p>
            <a:pPr rtl="1" algn="r" indent="0" marL="0">
              <a:buNone/>
            </a:pPr>
            <a:r>
              <a:rPr lang="ar-EG" altLang="en-US" sz="1800" b="1" dirty="0">
                <a:solidFill>
                  <a:schemeClr val="tx2"/>
                </a:solidFill>
              </a:rPr>
              <a:t>استعد</a:t>
            </a:r>
            <a:endParaRPr lang="en-US" sz="2000" dirty="0"/>
          </a:p>
        </p:txBody>
      </p:sp>
      <p:sp>
        <p:nvSpPr>
          <p:cNvPr id="8" name="text-94"/>
          <p:cNvSpPr txBox="1"/>
          <p:nvPr/>
        </p:nvSpPr>
        <p:spPr>
          <a:xfrm>
            <a:off x="804672" y="2788920"/>
            <a:ext cx="2889504" cy="3200400"/>
          </a:xfrm>
          <a:prstGeom prst="rect">
            <a:avLst/>
          </a:prstGeom>
          <a:noFill/>
          <a:ln/>
        </p:spPr>
        <p:txBody>
          <a:bodyPr wrap="square" lIns="0" tIns="0" rIns="0" bIns="0" rtlCol="0" anchor="t"/>
          <a:lstStyle/>
          <a:p>
            <a:pPr indent="0" marL="0">
              <a:buNone/>
            </a:pPr>
            <a:r>
              <a:rPr lang="en-US" sz="1400" b="1" dirty="0">
                <a:solidFill>
                  <a:schemeClr val="tx1"/>
                </a:solidFill>
              </a:rPr>
              <a:t>Yourself</a:t>
            </a:r>
            <a:endParaRPr lang="en-US" sz="1400" dirty="0"/>
          </a:p>
          <a:p>
            <a:pPr indent="0" marL="0">
              <a:buNone/>
            </a:pPr>
            <a:r>
              <a:rPr lang="en-US" sz="1300" dirty="0">
                <a:solidFill>
                  <a:schemeClr val="tx1"/>
                </a:solidFill>
              </a:rPr>
              <a:t>Ask: “How will I lead today?”</a:t>
            </a:r>
            <a:endParaRPr lang="en-US" sz="1400" dirty="0"/>
          </a:p>
          <a:p>
            <a:pPr rtl="1" algn="r" indent="0" marL="0">
              <a:spcAft>
                <a:spcPts val="1000"/>
              </a:spcAft>
              <a:buNone/>
            </a:pPr>
            <a:r>
              <a:rPr lang="ar-EG" altLang="en-US" sz="1300" dirty="0">
                <a:solidFill>
                  <a:schemeClr val="tx2"/>
                </a:solidFill>
              </a:rPr>
              <a:t>نفسك: كيف سأقود اليوم؟</a:t>
            </a:r>
            <a:endParaRPr lang="en-US" sz="1400" dirty="0"/>
          </a:p>
          <a:p>
            <a:pPr indent="0" marL="0">
              <a:buNone/>
            </a:pPr>
            <a:r>
              <a:rPr lang="en-US" sz="1400" b="1" dirty="0">
                <a:solidFill>
                  <a:schemeClr val="tx1"/>
                </a:solidFill>
              </a:rPr>
              <a:t>Your store</a:t>
            </a:r>
            <a:endParaRPr lang="en-US" sz="1400" dirty="0"/>
          </a:p>
          <a:p>
            <a:pPr indent="0" marL="0">
              <a:buNone/>
            </a:pPr>
            <a:r>
              <a:rPr lang="en-US" sz="1300" dirty="0">
                <a:solidFill>
                  <a:schemeClr val="tx1"/>
                </a:solidFill>
              </a:rPr>
              <a:t>Daily Coverage Report, Daily Plan, Operations Station</a:t>
            </a:r>
            <a:endParaRPr lang="en-US" sz="1400" dirty="0"/>
          </a:p>
          <a:p>
            <a:pPr rtl="1" algn="r" indent="0" marL="0">
              <a:spcAft>
                <a:spcPts val="1000"/>
              </a:spcAft>
              <a:buNone/>
            </a:pPr>
            <a:r>
              <a:rPr lang="ar-EG" altLang="en-US" sz="1300" dirty="0">
                <a:solidFill>
                  <a:schemeClr val="tx2"/>
                </a:solidFill>
              </a:rPr>
              <a:t>المتجر: تقرير التغطية والخطة اليومية</a:t>
            </a:r>
            <a:endParaRPr lang="en-US" sz="1400" dirty="0"/>
          </a:p>
          <a:p>
            <a:pPr indent="0" marL="0">
              <a:buNone/>
            </a:pPr>
            <a:r>
              <a:rPr lang="en-US" sz="1400" b="1" dirty="0">
                <a:solidFill>
                  <a:schemeClr val="tx1"/>
                </a:solidFill>
              </a:rPr>
              <a:t>Communications</a:t>
            </a:r>
            <a:endParaRPr lang="en-US" sz="1400" dirty="0"/>
          </a:p>
          <a:p>
            <a:pPr indent="0" marL="0">
              <a:buNone/>
            </a:pPr>
            <a:r>
              <a:rPr lang="en-US" sz="1300" dirty="0">
                <a:solidFill>
                  <a:schemeClr val="tx1"/>
                </a:solidFill>
              </a:rPr>
              <a:t>Partner Hub &amp; weekly readiness updates</a:t>
            </a:r>
            <a:endParaRPr lang="en-US" sz="1400" dirty="0"/>
          </a:p>
          <a:p>
            <a:pPr rtl="1" algn="r" indent="0" marL="0">
              <a:spcAft>
                <a:spcPts val="1000"/>
              </a:spcAft>
              <a:buNone/>
            </a:pPr>
            <a:r>
              <a:rPr lang="ar-EG" altLang="en-US" sz="1300" dirty="0">
                <a:solidFill>
                  <a:schemeClr val="tx2"/>
                </a:solidFill>
              </a:rPr>
              <a:t>الاتصالات: Partner Hub والتحديثات</a:t>
            </a:r>
            <a:endParaRPr lang="en-US" sz="1400" dirty="0"/>
          </a:p>
        </p:txBody>
      </p:sp>
      <p:pic>
        <p:nvPicPr>
          <p:cNvPr id="9" name="flow-arrow-95" descr="preencoded.png">    </p:cNvPr>
          <p:cNvPicPr>
            <a:picLocks noChangeAspect="1"/>
          </p:cNvPicPr>
          <p:nvPr/>
        </p:nvPicPr>
        <p:blipFill>
          <a:blip r:embed="rId2"/>
          <a:stretch>
            <a:fillRect/>
          </a:stretch>
        </p:blipFill>
        <p:spPr>
          <a:xfrm>
            <a:off x="4005072" y="3781044"/>
            <a:ext cx="256032" cy="256032"/>
          </a:xfrm>
          <a:prstGeom prst="rect">
            <a:avLst/>
          </a:prstGeom>
        </p:spPr>
      </p:pic>
      <p:sp>
        <p:nvSpPr>
          <p:cNvPr id="10" name="card-96"/>
          <p:cNvSpPr/>
          <p:nvPr/>
        </p:nvSpPr>
        <p:spPr>
          <a:xfrm>
            <a:off x="4315968" y="1691640"/>
            <a:ext cx="3401568" cy="4434840"/>
          </a:xfrm>
          <a:prstGeom prst="roundRect">
            <a:avLst>
              <a:gd name="adj" fmla="val 3226"/>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11" name="icon-bg-97"/>
          <p:cNvSpPr/>
          <p:nvPr/>
        </p:nvSpPr>
        <p:spPr>
          <a:xfrm>
            <a:off x="4572000" y="1947672"/>
            <a:ext cx="603504" cy="603504"/>
          </a:xfrm>
          <a:prstGeom prst="ellipse">
            <a:avLst/>
          </a:prstGeom>
          <a:solidFill>
            <a:schemeClr val="tx1"/>
          </a:solidFill>
          <a:ln w="12700">
            <a:solidFill>
              <a:schemeClr val="tx1"/>
            </a:solidFill>
            <a:prstDash val="solid"/>
          </a:ln>
        </p:spPr>
      </p:sp>
      <p:pic>
        <p:nvPicPr>
          <p:cNvPr id="12" name="icon-98" descr="preencoded.png">    </p:cNvPr>
          <p:cNvPicPr>
            <a:picLocks noChangeAspect="1"/>
          </p:cNvPicPr>
          <p:nvPr/>
        </p:nvPicPr>
        <p:blipFill>
          <a:blip r:embed="rId3"/>
          <a:stretch>
            <a:fillRect/>
          </a:stretch>
        </p:blipFill>
        <p:spPr>
          <a:xfrm>
            <a:off x="4704771" y="2080443"/>
            <a:ext cx="337962" cy="337962"/>
          </a:xfrm>
          <a:prstGeom prst="rect">
            <a:avLst/>
          </a:prstGeom>
        </p:spPr>
      </p:pic>
      <p:sp>
        <p:nvSpPr>
          <p:cNvPr id="13" name="text-99"/>
          <p:cNvSpPr txBox="1"/>
          <p:nvPr/>
        </p:nvSpPr>
        <p:spPr>
          <a:xfrm>
            <a:off x="5321808" y="1892808"/>
            <a:ext cx="2139696" cy="777240"/>
          </a:xfrm>
          <a:prstGeom prst="rect">
            <a:avLst/>
          </a:prstGeom>
          <a:noFill/>
          <a:ln/>
        </p:spPr>
        <p:txBody>
          <a:bodyPr wrap="square" lIns="0" tIns="0" rIns="0" bIns="0" rtlCol="0" anchor="t"/>
          <a:lstStyle/>
          <a:p>
            <a:pPr indent="0" marL="0">
              <a:buNone/>
            </a:pPr>
            <a:r>
              <a:rPr lang="en-US" sz="2000" b="1" dirty="0">
                <a:solidFill>
                  <a:schemeClr val="bg1"/>
                </a:solidFill>
              </a:rPr>
              <a:t>LEAD</a:t>
            </a:r>
            <a:endParaRPr lang="en-US" sz="2000" dirty="0"/>
          </a:p>
          <a:p>
            <a:pPr rtl="1" algn="r" indent="0" marL="0">
              <a:buNone/>
            </a:pPr>
            <a:r>
              <a:rPr lang="ar-EG" altLang="en-US" sz="1800" b="1" dirty="0">
                <a:solidFill>
                  <a:schemeClr val="accent4"/>
                </a:solidFill>
              </a:rPr>
              <a:t>قُد</a:t>
            </a:r>
            <a:endParaRPr lang="en-US" sz="2000" dirty="0"/>
          </a:p>
        </p:txBody>
      </p:sp>
      <p:sp>
        <p:nvSpPr>
          <p:cNvPr id="14" name="text-100"/>
          <p:cNvSpPr txBox="1"/>
          <p:nvPr/>
        </p:nvSpPr>
        <p:spPr>
          <a:xfrm>
            <a:off x="4572000" y="2788920"/>
            <a:ext cx="2889504" cy="3200400"/>
          </a:xfrm>
          <a:prstGeom prst="rect">
            <a:avLst/>
          </a:prstGeom>
          <a:noFill/>
          <a:ln/>
        </p:spPr>
        <p:txBody>
          <a:bodyPr wrap="square" lIns="0" tIns="0" rIns="0" bIns="0" rtlCol="0" anchor="t"/>
          <a:lstStyle/>
          <a:p>
            <a:pPr indent="0" marL="0">
              <a:buNone/>
            </a:pPr>
            <a:r>
              <a:rPr lang="en-US" sz="1400" b="1" dirty="0">
                <a:solidFill>
                  <a:schemeClr val="bg1"/>
                </a:solidFill>
              </a:rPr>
              <a:t>Quick Connect</a:t>
            </a:r>
            <a:endParaRPr lang="en-US" sz="1400" dirty="0"/>
          </a:p>
          <a:p>
            <a:pPr indent="0" marL="0">
              <a:buNone/>
            </a:pPr>
            <a:r>
              <a:rPr lang="en-US" sz="1300" dirty="0">
                <a:solidFill>
                  <a:schemeClr val="bg1"/>
                </a:solidFill>
              </a:rPr>
              <a:t>Share the plan and today's focus</a:t>
            </a:r>
            <a:endParaRPr lang="en-US" sz="1400" dirty="0"/>
          </a:p>
          <a:p>
            <a:pPr rtl="1" algn="r" indent="0" marL="0">
              <a:spcAft>
                <a:spcPts val="1000"/>
              </a:spcAft>
              <a:buNone/>
            </a:pPr>
            <a:r>
              <a:rPr lang="ar-EG" altLang="en-US" sz="1300" dirty="0">
                <a:solidFill>
                  <a:schemeClr val="accent4"/>
                </a:solidFill>
              </a:rPr>
              <a:t>اجتماع سريع: شارك الخطة والتركيز</a:t>
            </a:r>
            <a:endParaRPr lang="en-US" sz="1400" dirty="0"/>
          </a:p>
          <a:p>
            <a:pPr indent="0" marL="0">
              <a:buNone/>
            </a:pPr>
            <a:r>
              <a:rPr lang="en-US" sz="1400" b="1" dirty="0">
                <a:solidFill>
                  <a:schemeClr val="bg1"/>
                </a:solidFill>
              </a:rPr>
              <a:t>Read the floor</a:t>
            </a:r>
            <a:endParaRPr lang="en-US" sz="1400" dirty="0"/>
          </a:p>
          <a:p>
            <a:pPr indent="0" marL="0">
              <a:buNone/>
            </a:pPr>
            <a:r>
              <a:rPr lang="en-US" sz="1300" dirty="0">
                <a:solidFill>
                  <a:schemeClr val="bg1"/>
                </a:solidFill>
              </a:rPr>
              <a:t>Position yourself to see customer cues</a:t>
            </a:r>
            <a:endParaRPr lang="en-US" sz="1400" dirty="0"/>
          </a:p>
          <a:p>
            <a:pPr rtl="1" algn="r" indent="0" marL="0">
              <a:spcAft>
                <a:spcPts val="1000"/>
              </a:spcAft>
              <a:buNone/>
            </a:pPr>
            <a:r>
              <a:rPr lang="ar-EG" altLang="en-US" sz="1300" dirty="0">
                <a:solidFill>
                  <a:schemeClr val="accent4"/>
                </a:solidFill>
              </a:rPr>
              <a:t>اقرأ الأرضية: كن حيث ترى العميل</a:t>
            </a:r>
            <a:endParaRPr lang="en-US" sz="1400" dirty="0"/>
          </a:p>
          <a:p>
            <a:pPr indent="0" marL="0">
              <a:buNone/>
            </a:pPr>
            <a:r>
              <a:rPr lang="en-US" sz="1400" b="1" dirty="0">
                <a:solidFill>
                  <a:schemeClr val="bg1"/>
                </a:solidFill>
              </a:rPr>
              <a:t>Flex &amp; coach</a:t>
            </a:r>
            <a:endParaRPr lang="en-US" sz="1400" dirty="0"/>
          </a:p>
          <a:p>
            <a:pPr indent="0" marL="0">
              <a:buNone/>
            </a:pPr>
            <a:r>
              <a:rPr lang="en-US" sz="1300" dirty="0">
                <a:solidFill>
                  <a:schemeClr val="bg1"/>
                </a:solidFill>
              </a:rPr>
              <a:t>Adjust the play; coach in the moment</a:t>
            </a:r>
            <a:endParaRPr lang="en-US" sz="1400" dirty="0"/>
          </a:p>
          <a:p>
            <a:pPr rtl="1" algn="r" indent="0" marL="0">
              <a:spcAft>
                <a:spcPts val="1000"/>
              </a:spcAft>
              <a:buNone/>
            </a:pPr>
            <a:r>
              <a:rPr lang="ar-EG" altLang="en-US" sz="1300" dirty="0">
                <a:solidFill>
                  <a:schemeClr val="accent4"/>
                </a:solidFill>
              </a:rPr>
              <a:t>عدّل الخطة ووجّه في اللحظة</a:t>
            </a:r>
            <a:endParaRPr lang="en-US" sz="1400" dirty="0"/>
          </a:p>
        </p:txBody>
      </p:sp>
      <p:pic>
        <p:nvPicPr>
          <p:cNvPr id="15" name="flow-arrow-101" descr="preencoded.png">    </p:cNvPr>
          <p:cNvPicPr>
            <a:picLocks noChangeAspect="1"/>
          </p:cNvPicPr>
          <p:nvPr/>
        </p:nvPicPr>
        <p:blipFill>
          <a:blip r:embed="rId4"/>
          <a:stretch>
            <a:fillRect/>
          </a:stretch>
        </p:blipFill>
        <p:spPr>
          <a:xfrm>
            <a:off x="7772400" y="3781044"/>
            <a:ext cx="256032" cy="256032"/>
          </a:xfrm>
          <a:prstGeom prst="rect">
            <a:avLst/>
          </a:prstGeom>
        </p:spPr>
      </p:pic>
      <p:sp>
        <p:nvSpPr>
          <p:cNvPr id="16" name="card-102"/>
          <p:cNvSpPr/>
          <p:nvPr/>
        </p:nvSpPr>
        <p:spPr>
          <a:xfrm>
            <a:off x="8083296" y="1691640"/>
            <a:ext cx="3401568" cy="4434840"/>
          </a:xfrm>
          <a:prstGeom prst="roundRect">
            <a:avLst>
              <a:gd name="adj" fmla="val 3226"/>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7" name="icon-bg-103"/>
          <p:cNvSpPr/>
          <p:nvPr/>
        </p:nvSpPr>
        <p:spPr>
          <a:xfrm>
            <a:off x="8339328" y="1947672"/>
            <a:ext cx="603504" cy="603504"/>
          </a:xfrm>
          <a:prstGeom prst="ellipse">
            <a:avLst/>
          </a:prstGeom>
          <a:solidFill>
            <a:schemeClr val="accent1"/>
          </a:solidFill>
          <a:ln w="12700">
            <a:solidFill>
              <a:schemeClr val="accent1"/>
            </a:solidFill>
            <a:prstDash val="solid"/>
          </a:ln>
        </p:spPr>
      </p:sp>
      <p:pic>
        <p:nvPicPr>
          <p:cNvPr id="18" name="icon-104" descr="preencoded.png">    </p:cNvPr>
          <p:cNvPicPr>
            <a:picLocks noChangeAspect="1"/>
          </p:cNvPicPr>
          <p:nvPr/>
        </p:nvPicPr>
        <p:blipFill>
          <a:blip r:embed="rId5"/>
          <a:stretch>
            <a:fillRect/>
          </a:stretch>
        </p:blipFill>
        <p:spPr>
          <a:xfrm>
            <a:off x="8472099" y="2080443"/>
            <a:ext cx="337962" cy="337962"/>
          </a:xfrm>
          <a:prstGeom prst="rect">
            <a:avLst/>
          </a:prstGeom>
        </p:spPr>
      </p:pic>
      <p:sp>
        <p:nvSpPr>
          <p:cNvPr id="19" name="text-105"/>
          <p:cNvSpPr txBox="1"/>
          <p:nvPr/>
        </p:nvSpPr>
        <p:spPr>
          <a:xfrm>
            <a:off x="9089136" y="1892808"/>
            <a:ext cx="2139696" cy="777240"/>
          </a:xfrm>
          <a:prstGeom prst="rect">
            <a:avLst/>
          </a:prstGeom>
          <a:noFill/>
          <a:ln/>
        </p:spPr>
        <p:txBody>
          <a:bodyPr wrap="square" lIns="0" tIns="0" rIns="0" bIns="0" rtlCol="0" anchor="t"/>
          <a:lstStyle/>
          <a:p>
            <a:pPr indent="0" marL="0">
              <a:buNone/>
            </a:pPr>
            <a:r>
              <a:rPr lang="en-US" sz="2000" b="1" dirty="0">
                <a:solidFill>
                  <a:schemeClr val="tx1"/>
                </a:solidFill>
              </a:rPr>
              <a:t>TRANSITION</a:t>
            </a:r>
            <a:endParaRPr lang="en-US" sz="2000" dirty="0"/>
          </a:p>
          <a:p>
            <a:pPr rtl="1" algn="r" indent="0" marL="0">
              <a:buNone/>
            </a:pPr>
            <a:r>
              <a:rPr lang="ar-EG" altLang="en-US" sz="1800" b="1" dirty="0">
                <a:solidFill>
                  <a:schemeClr val="tx2"/>
                </a:solidFill>
              </a:rPr>
              <a:t>سلِّم</a:t>
            </a:r>
            <a:endParaRPr lang="en-US" sz="2000" dirty="0"/>
          </a:p>
        </p:txBody>
      </p:sp>
      <p:sp>
        <p:nvSpPr>
          <p:cNvPr id="20" name="text-106"/>
          <p:cNvSpPr txBox="1"/>
          <p:nvPr/>
        </p:nvSpPr>
        <p:spPr>
          <a:xfrm>
            <a:off x="8339328" y="2788920"/>
            <a:ext cx="2889504" cy="3200400"/>
          </a:xfrm>
          <a:prstGeom prst="rect">
            <a:avLst/>
          </a:prstGeom>
          <a:noFill/>
          <a:ln/>
        </p:spPr>
        <p:txBody>
          <a:bodyPr wrap="square" lIns="0" tIns="0" rIns="0" bIns="0" rtlCol="0" anchor="t"/>
          <a:lstStyle/>
          <a:p>
            <a:pPr indent="0" marL="0">
              <a:buNone/>
            </a:pPr>
            <a:r>
              <a:rPr lang="en-US" sz="1400" b="1" dirty="0">
                <a:solidFill>
                  <a:schemeClr val="tx1"/>
                </a:solidFill>
              </a:rPr>
              <a:t>Your store</a:t>
            </a:r>
            <a:endParaRPr lang="en-US" sz="1400" dirty="0"/>
          </a:p>
          <a:p>
            <a:pPr indent="0" marL="0">
              <a:buNone/>
            </a:pPr>
            <a:r>
              <a:rPr lang="en-US" sz="1300" dirty="0">
                <a:solidFill>
                  <a:schemeClr val="tx1"/>
                </a:solidFill>
              </a:rPr>
              <a:t>Log key info for the next shift on the Daily Plan</a:t>
            </a:r>
            <a:endParaRPr lang="en-US" sz="1400" dirty="0"/>
          </a:p>
          <a:p>
            <a:pPr rtl="1" algn="r" indent="0" marL="0">
              <a:spcAft>
                <a:spcPts val="1000"/>
              </a:spcAft>
              <a:buNone/>
            </a:pPr>
            <a:r>
              <a:rPr lang="ar-EG" altLang="en-US" sz="1300" dirty="0">
                <a:solidFill>
                  <a:schemeClr val="tx2"/>
                </a:solidFill>
              </a:rPr>
              <a:t>المتجر: سجّل المعلومات للشفت التالي</a:t>
            </a:r>
            <a:endParaRPr lang="en-US" sz="1400" dirty="0"/>
          </a:p>
          <a:p>
            <a:pPr indent="0" marL="0">
              <a:buNone/>
            </a:pPr>
            <a:r>
              <a:rPr lang="en-US" sz="1400" b="1" dirty="0">
                <a:solidFill>
                  <a:schemeClr val="tx1"/>
                </a:solidFill>
              </a:rPr>
              <a:t>Your team</a:t>
            </a:r>
            <a:endParaRPr lang="en-US" sz="1400" dirty="0"/>
          </a:p>
          <a:p>
            <a:pPr indent="0" marL="0">
              <a:buNone/>
            </a:pPr>
            <a:r>
              <a:rPr lang="en-US" sz="1300" dirty="0">
                <a:solidFill>
                  <a:schemeClr val="tx1"/>
                </a:solidFill>
              </a:rPr>
              <a:t>Thank and recognise partners!</a:t>
            </a:r>
            <a:endParaRPr lang="en-US" sz="1400" dirty="0"/>
          </a:p>
          <a:p>
            <a:pPr rtl="1" algn="r" indent="0" marL="0">
              <a:spcAft>
                <a:spcPts val="1000"/>
              </a:spcAft>
              <a:buNone/>
            </a:pPr>
            <a:r>
              <a:rPr lang="ar-EG" altLang="en-US" sz="1300" dirty="0">
                <a:solidFill>
                  <a:schemeClr val="tx2"/>
                </a:solidFill>
              </a:rPr>
              <a:t>الفريق: اشكر وقدّر الشركاء</a:t>
            </a:r>
            <a:endParaRPr lang="en-US" sz="1400" dirty="0"/>
          </a:p>
          <a:p>
            <a:pPr indent="0" marL="0">
              <a:buNone/>
            </a:pPr>
            <a:r>
              <a:rPr lang="en-US" sz="1400" b="1" dirty="0">
                <a:solidFill>
                  <a:schemeClr val="tx1"/>
                </a:solidFill>
              </a:rPr>
              <a:t>Yourself</a:t>
            </a:r>
            <a:endParaRPr lang="en-US" sz="1400" dirty="0"/>
          </a:p>
          <a:p>
            <a:pPr indent="0" marL="0">
              <a:buNone/>
            </a:pPr>
            <a:r>
              <a:rPr lang="en-US" sz="1300" dirty="0">
                <a:solidFill>
                  <a:schemeClr val="tx1"/>
                </a:solidFill>
              </a:rPr>
              <a:t>“How did I lead? What will I change?”</a:t>
            </a:r>
            <a:endParaRPr lang="en-US" sz="1400" dirty="0"/>
          </a:p>
          <a:p>
            <a:pPr rtl="1" algn="r" indent="0" marL="0">
              <a:spcAft>
                <a:spcPts val="1000"/>
              </a:spcAft>
              <a:buNone/>
            </a:pPr>
            <a:r>
              <a:rPr lang="ar-EG" altLang="en-US" sz="1300" dirty="0">
                <a:solidFill>
                  <a:schemeClr val="tx2"/>
                </a:solidFill>
              </a:rPr>
              <a:t>نفسك: كيف قدت؟ وماذا سأغيّر؟</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ACT Decision Making Model</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نموذج ACT لاتخاذ القرار</a:t>
            </a:r>
            <a:endParaRPr lang="ar-EG" sz="2000" dirty="0"/>
          </a:p>
        </p:txBody>
      </p:sp>
      <p:sp>
        <p:nvSpPr>
          <p:cNvPr id="4" name="act-letter-107"/>
          <p:cNvSpPr/>
          <p:nvPr/>
        </p:nvSpPr>
        <p:spPr>
          <a:xfrm>
            <a:off x="548640" y="1691640"/>
            <a:ext cx="1143000" cy="1325880"/>
          </a:xfrm>
          <a:prstGeom prst="roundRect">
            <a:avLst>
              <a:gd name="adj" fmla="val 9600"/>
            </a:avLst>
          </a:prstGeom>
          <a:solidFill>
            <a:schemeClr val="accent1"/>
          </a:solidFill>
          <a:ln w="12700">
            <a:solidFill>
              <a:schemeClr val="accent1"/>
            </a:solidFill>
            <a:prstDash val="solid"/>
          </a:ln>
        </p:spPr>
      </p:sp>
      <p:sp>
        <p:nvSpPr>
          <p:cNvPr id="5" name="text-108"/>
          <p:cNvSpPr txBox="1"/>
          <p:nvPr/>
        </p:nvSpPr>
        <p:spPr>
          <a:xfrm>
            <a:off x="548640" y="1691640"/>
            <a:ext cx="1143000" cy="1325880"/>
          </a:xfrm>
          <a:prstGeom prst="rect">
            <a:avLst/>
          </a:prstGeom>
          <a:noFill/>
          <a:ln/>
        </p:spPr>
        <p:txBody>
          <a:bodyPr wrap="square" lIns="0" tIns="0" rIns="0" bIns="0" rtlCol="0" anchor="ctr"/>
          <a:lstStyle/>
          <a:p>
            <a:pPr algn="ctr" indent="0" marL="0">
              <a:buNone/>
            </a:pPr>
            <a:r>
              <a:rPr lang="en-US" sz="5400" b="1" dirty="0">
                <a:solidFill>
                  <a:schemeClr val="bg1"/>
                </a:solidFill>
              </a:rPr>
              <a:t>A</a:t>
            </a:r>
            <a:endParaRPr lang="en-US" sz="5400" dirty="0"/>
          </a:p>
        </p:txBody>
      </p:sp>
      <p:sp>
        <p:nvSpPr>
          <p:cNvPr id="6" name="text-109"/>
          <p:cNvSpPr txBox="1"/>
          <p:nvPr/>
        </p:nvSpPr>
        <p:spPr>
          <a:xfrm>
            <a:off x="1874520" y="1737360"/>
            <a:ext cx="3749040" cy="1280160"/>
          </a:xfrm>
          <a:prstGeom prst="rect">
            <a:avLst/>
          </a:prstGeom>
          <a:noFill/>
          <a:ln/>
        </p:spPr>
        <p:txBody>
          <a:bodyPr wrap="square" lIns="0" tIns="0" rIns="0" bIns="0" rtlCol="0" anchor="t"/>
          <a:lstStyle/>
          <a:p>
            <a:pPr algn="l" indent="0" marL="0">
              <a:spcAft>
                <a:spcPts val="200"/>
              </a:spcAft>
              <a:buNone/>
            </a:pPr>
            <a:r>
              <a:rPr lang="en-US" sz="1800" b="1" dirty="0">
                <a:solidFill>
                  <a:schemeClr val="tx1"/>
                </a:solidFill>
              </a:rPr>
              <a:t>Assess</a:t>
            </a:r>
            <a:endParaRPr lang="en-US" sz="1800" dirty="0"/>
          </a:p>
          <a:p>
            <a:pPr algn="l" indent="0" marL="0">
              <a:spcAft>
                <a:spcPts val="600"/>
              </a:spcAft>
              <a:buNone/>
            </a:pPr>
            <a:r>
              <a:rPr lang="en-US" sz="1400" dirty="0">
                <a:solidFill>
                  <a:schemeClr val="tx1"/>
                </a:solidFill>
              </a:rPr>
              <a:t>What is happening? How serious is it?</a:t>
            </a:r>
            <a:endParaRPr lang="en-US" sz="1800" dirty="0"/>
          </a:p>
          <a:p>
            <a:pPr rtl="1" algn="r" indent="0" marL="0">
              <a:buNone/>
            </a:pPr>
            <a:r>
              <a:rPr lang="ar-EG" altLang="en-US" sz="1400" dirty="0">
                <a:solidFill>
                  <a:schemeClr val="tx1"/>
                </a:solidFill>
              </a:rPr>
              <a:t>قيِّم: ماذا يحدث؟ وما مدى خطورته؟</a:t>
            </a:r>
            <a:endParaRPr lang="en-US" sz="1800" dirty="0"/>
          </a:p>
        </p:txBody>
      </p:sp>
      <p:sp>
        <p:nvSpPr>
          <p:cNvPr id="7" name="act-letter-110"/>
          <p:cNvSpPr/>
          <p:nvPr/>
        </p:nvSpPr>
        <p:spPr>
          <a:xfrm>
            <a:off x="548640" y="3200400"/>
            <a:ext cx="1143000" cy="1325880"/>
          </a:xfrm>
          <a:prstGeom prst="roundRect">
            <a:avLst>
              <a:gd name="adj" fmla="val 9600"/>
            </a:avLst>
          </a:prstGeom>
          <a:solidFill>
            <a:schemeClr val="accent1"/>
          </a:solidFill>
          <a:ln w="12700">
            <a:solidFill>
              <a:schemeClr val="accent1"/>
            </a:solidFill>
            <a:prstDash val="solid"/>
          </a:ln>
        </p:spPr>
      </p:sp>
      <p:sp>
        <p:nvSpPr>
          <p:cNvPr id="8" name="text-111"/>
          <p:cNvSpPr txBox="1"/>
          <p:nvPr/>
        </p:nvSpPr>
        <p:spPr>
          <a:xfrm>
            <a:off x="548640" y="3200400"/>
            <a:ext cx="1143000" cy="1325880"/>
          </a:xfrm>
          <a:prstGeom prst="rect">
            <a:avLst/>
          </a:prstGeom>
          <a:noFill/>
          <a:ln/>
        </p:spPr>
        <p:txBody>
          <a:bodyPr wrap="square" lIns="0" tIns="0" rIns="0" bIns="0" rtlCol="0" anchor="ctr"/>
          <a:lstStyle/>
          <a:p>
            <a:pPr algn="ctr" indent="0" marL="0">
              <a:buNone/>
            </a:pPr>
            <a:r>
              <a:rPr lang="en-US" sz="5400" b="1" dirty="0">
                <a:solidFill>
                  <a:schemeClr val="bg1"/>
                </a:solidFill>
              </a:rPr>
              <a:t>C</a:t>
            </a:r>
            <a:endParaRPr lang="en-US" sz="5400" dirty="0"/>
          </a:p>
        </p:txBody>
      </p:sp>
      <p:sp>
        <p:nvSpPr>
          <p:cNvPr id="9" name="text-112"/>
          <p:cNvSpPr txBox="1"/>
          <p:nvPr/>
        </p:nvSpPr>
        <p:spPr>
          <a:xfrm>
            <a:off x="1874520" y="3246120"/>
            <a:ext cx="3749040" cy="1280160"/>
          </a:xfrm>
          <a:prstGeom prst="rect">
            <a:avLst/>
          </a:prstGeom>
          <a:noFill/>
          <a:ln/>
        </p:spPr>
        <p:txBody>
          <a:bodyPr wrap="square" lIns="0" tIns="0" rIns="0" bIns="0" rtlCol="0" anchor="t"/>
          <a:lstStyle/>
          <a:p>
            <a:pPr algn="l" indent="0" marL="0">
              <a:spcAft>
                <a:spcPts val="200"/>
              </a:spcAft>
              <a:buNone/>
            </a:pPr>
            <a:r>
              <a:rPr lang="en-US" sz="1800" b="1" dirty="0">
                <a:solidFill>
                  <a:schemeClr val="tx1"/>
                </a:solidFill>
              </a:rPr>
              <a:t>Consider</a:t>
            </a:r>
            <a:endParaRPr lang="en-US" sz="1800" dirty="0"/>
          </a:p>
          <a:p>
            <a:pPr algn="l" indent="0" marL="0">
              <a:spcAft>
                <a:spcPts val="600"/>
              </a:spcAft>
              <a:buNone/>
            </a:pPr>
            <a:r>
              <a:rPr lang="en-US" sz="1400" dirty="0">
                <a:solidFill>
                  <a:schemeClr val="tx1"/>
                </a:solidFill>
              </a:rPr>
              <a:t>If I don't act, how will it impact the customer &amp; partner experience?</a:t>
            </a:r>
            <a:endParaRPr lang="en-US" sz="1800" dirty="0"/>
          </a:p>
          <a:p>
            <a:pPr rtl="1" algn="r" indent="0" marL="0">
              <a:buNone/>
            </a:pPr>
            <a:r>
              <a:rPr lang="ar-EG" altLang="en-US" sz="1400" dirty="0">
                <a:solidFill>
                  <a:schemeClr val="tx1"/>
                </a:solidFill>
              </a:rPr>
              <a:t>فكِّر: لو لم أتصرف، كيف سيتأثر العميل والفريق؟</a:t>
            </a:r>
            <a:endParaRPr lang="en-US" sz="1800" dirty="0"/>
          </a:p>
        </p:txBody>
      </p:sp>
      <p:sp>
        <p:nvSpPr>
          <p:cNvPr id="10" name="act-letter-113"/>
          <p:cNvSpPr/>
          <p:nvPr/>
        </p:nvSpPr>
        <p:spPr>
          <a:xfrm>
            <a:off x="548640" y="4709160"/>
            <a:ext cx="1143000" cy="1325880"/>
          </a:xfrm>
          <a:prstGeom prst="roundRect">
            <a:avLst>
              <a:gd name="adj" fmla="val 9600"/>
            </a:avLst>
          </a:prstGeom>
          <a:solidFill>
            <a:schemeClr val="accent1"/>
          </a:solidFill>
          <a:ln w="12700">
            <a:solidFill>
              <a:schemeClr val="accent1"/>
            </a:solidFill>
            <a:prstDash val="solid"/>
          </a:ln>
        </p:spPr>
      </p:sp>
      <p:sp>
        <p:nvSpPr>
          <p:cNvPr id="11" name="text-114"/>
          <p:cNvSpPr txBox="1"/>
          <p:nvPr/>
        </p:nvSpPr>
        <p:spPr>
          <a:xfrm>
            <a:off x="548640" y="4709160"/>
            <a:ext cx="1143000" cy="1325880"/>
          </a:xfrm>
          <a:prstGeom prst="rect">
            <a:avLst/>
          </a:prstGeom>
          <a:noFill/>
          <a:ln/>
        </p:spPr>
        <p:txBody>
          <a:bodyPr wrap="square" lIns="0" tIns="0" rIns="0" bIns="0" rtlCol="0" anchor="ctr"/>
          <a:lstStyle/>
          <a:p>
            <a:pPr algn="ctr" indent="0" marL="0">
              <a:buNone/>
            </a:pPr>
            <a:r>
              <a:rPr lang="en-US" sz="5400" b="1" dirty="0">
                <a:solidFill>
                  <a:schemeClr val="bg1"/>
                </a:solidFill>
              </a:rPr>
              <a:t>T</a:t>
            </a:r>
            <a:endParaRPr lang="en-US" sz="5400" dirty="0"/>
          </a:p>
        </p:txBody>
      </p:sp>
      <p:sp>
        <p:nvSpPr>
          <p:cNvPr id="12" name="text-115"/>
          <p:cNvSpPr txBox="1"/>
          <p:nvPr/>
        </p:nvSpPr>
        <p:spPr>
          <a:xfrm>
            <a:off x="1874520" y="4754880"/>
            <a:ext cx="3749040" cy="1280160"/>
          </a:xfrm>
          <a:prstGeom prst="rect">
            <a:avLst/>
          </a:prstGeom>
          <a:noFill/>
          <a:ln/>
        </p:spPr>
        <p:txBody>
          <a:bodyPr wrap="square" lIns="0" tIns="0" rIns="0" bIns="0" rtlCol="0" anchor="t"/>
          <a:lstStyle/>
          <a:p>
            <a:pPr algn="l" indent="0" marL="0">
              <a:spcAft>
                <a:spcPts val="200"/>
              </a:spcAft>
              <a:buNone/>
            </a:pPr>
            <a:r>
              <a:rPr lang="en-US" sz="1800" b="1" dirty="0">
                <a:solidFill>
                  <a:schemeClr val="tx1"/>
                </a:solidFill>
              </a:rPr>
              <a:t>Take Action</a:t>
            </a:r>
            <a:endParaRPr lang="en-US" sz="1800" dirty="0"/>
          </a:p>
          <a:p>
            <a:pPr algn="l" indent="0" marL="0">
              <a:spcAft>
                <a:spcPts val="600"/>
              </a:spcAft>
              <a:buNone/>
            </a:pPr>
            <a:r>
              <a:rPr lang="en-US" sz="1400" dirty="0">
                <a:solidFill>
                  <a:schemeClr val="tx1"/>
                </a:solidFill>
              </a:rPr>
              <a:t>Coach  ·  Flex the play  ·  Contact your resources</a:t>
            </a:r>
            <a:endParaRPr lang="en-US" sz="1800" dirty="0"/>
          </a:p>
          <a:p>
            <a:pPr rtl="1" algn="r" indent="0" marL="0">
              <a:buNone/>
            </a:pPr>
            <a:r>
              <a:rPr lang="ar-EG" altLang="en-US" sz="1400" dirty="0">
                <a:solidFill>
                  <a:schemeClr val="tx1"/>
                </a:solidFill>
              </a:rPr>
              <a:t>تصرَّف: وجّه · عدّل الخطة · اطلب الدعم</a:t>
            </a:r>
            <a:endParaRPr lang="en-US" sz="1800" dirty="0"/>
          </a:p>
        </p:txBody>
      </p:sp>
      <p:sp>
        <p:nvSpPr>
          <p:cNvPr id="13" name="text-116"/>
          <p:cNvSpPr txBox="1"/>
          <p:nvPr/>
        </p:nvSpPr>
        <p:spPr>
          <a:xfrm>
            <a:off x="5852160" y="1572768"/>
            <a:ext cx="5760720" cy="274320"/>
          </a:xfrm>
          <a:prstGeom prst="rect">
            <a:avLst/>
          </a:prstGeom>
          <a:noFill/>
          <a:ln/>
        </p:spPr>
        <p:txBody>
          <a:bodyPr wrap="square" lIns="0" tIns="0" rIns="0" bIns="0" rtlCol="0" anchor="t"/>
          <a:lstStyle/>
          <a:p>
            <a:pPr indent="0" marL="0">
              <a:buNone/>
            </a:pPr>
            <a:r>
              <a:rPr lang="en-US" sz="1300" b="1" dirty="0">
                <a:solidFill>
                  <a:schemeClr val="accent6"/>
                </a:solidFill>
              </a:rPr>
              <a:t>Escalation levels  ·  مستويات التصعيد</a:t>
            </a:r>
            <a:endParaRPr lang="en-US" sz="1300" dirty="0"/>
          </a:p>
        </p:txBody>
      </p:sp>
      <p:sp>
        <p:nvSpPr>
          <p:cNvPr id="14" name="level-117"/>
          <p:cNvSpPr/>
          <p:nvPr/>
        </p:nvSpPr>
        <p:spPr>
          <a:xfrm>
            <a:off x="5852160" y="1920240"/>
            <a:ext cx="5790895" cy="950976"/>
          </a:xfrm>
          <a:prstGeom prst="roundRect">
            <a:avLst>
              <a:gd name="adj" fmla="val 9615"/>
            </a:avLst>
          </a:prstGeom>
          <a:solidFill>
            <a:schemeClr val="accent4"/>
          </a:solidFill>
          <a:ln w="12700">
            <a:solidFill>
              <a:schemeClr val="accent4"/>
            </a:solidFill>
            <a:prstDash val="solid"/>
          </a:ln>
        </p:spPr>
      </p:sp>
      <p:sp>
        <p:nvSpPr>
          <p:cNvPr id="15" name="text-118"/>
          <p:cNvSpPr txBox="1"/>
          <p:nvPr/>
        </p:nvSpPr>
        <p:spPr>
          <a:xfrm>
            <a:off x="5943600" y="1920240"/>
            <a:ext cx="548640" cy="950976"/>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16" name="text-119"/>
          <p:cNvSpPr txBox="1"/>
          <p:nvPr/>
        </p:nvSpPr>
        <p:spPr>
          <a:xfrm>
            <a:off x="6583680" y="1965960"/>
            <a:ext cx="4876495" cy="859536"/>
          </a:xfrm>
          <a:prstGeom prst="rect">
            <a:avLst/>
          </a:prstGeom>
          <a:noFill/>
          <a:ln/>
        </p:spPr>
        <p:txBody>
          <a:bodyPr wrap="square" lIns="0" tIns="0" rIns="0" bIns="0" rtlCol="0" anchor="ctr"/>
          <a:lstStyle/>
          <a:p>
            <a:pPr indent="0" marL="0">
              <a:buNone/>
            </a:pPr>
            <a:r>
              <a:rPr lang="en-US" sz="1400" b="1" dirty="0">
                <a:solidFill>
                  <a:schemeClr val="tx1"/>
                </a:solidFill>
              </a:rPr>
              <a:t>I can make it better with my own resources</a:t>
            </a:r>
            <a:endParaRPr lang="en-US" sz="1400" dirty="0"/>
          </a:p>
          <a:p>
            <a:pPr indent="0" marL="0">
              <a:buNone/>
            </a:pPr>
            <a:r>
              <a:rPr lang="en-US" sz="1200" dirty="0">
                <a:solidFill>
                  <a:schemeClr val="tx1"/>
                </a:solidFill>
              </a:rPr>
              <a:t>Long queue, standard not met → coach, flex the play</a:t>
            </a:r>
            <a:endParaRPr lang="en-US" sz="1400" dirty="0"/>
          </a:p>
          <a:p>
            <a:pPr rtl="1" algn="r" indent="0" marL="0">
              <a:buNone/>
            </a:pPr>
            <a:r>
              <a:rPr lang="ar-EG" altLang="en-US" sz="1200" dirty="0">
                <a:solidFill>
                  <a:schemeClr val="tx1"/>
                </a:solidFill>
              </a:rPr>
              <a:t>أستطيع التحسين بمواردي: طابور طويل ← وجّه وعدّل الخطة</a:t>
            </a:r>
            <a:endParaRPr lang="en-US" sz="1400" dirty="0"/>
          </a:p>
        </p:txBody>
      </p:sp>
      <p:sp>
        <p:nvSpPr>
          <p:cNvPr id="17" name="level-120"/>
          <p:cNvSpPr/>
          <p:nvPr/>
        </p:nvSpPr>
        <p:spPr>
          <a:xfrm>
            <a:off x="5852160" y="2980944"/>
            <a:ext cx="5790895" cy="950976"/>
          </a:xfrm>
          <a:prstGeom prst="roundRect">
            <a:avLst>
              <a:gd name="adj" fmla="val 9615"/>
            </a:avLst>
          </a:prstGeom>
          <a:solidFill>
            <a:schemeClr val="accent4"/>
          </a:solidFill>
          <a:ln w="12700">
            <a:solidFill>
              <a:schemeClr val="accent4"/>
            </a:solidFill>
            <a:prstDash val="solid"/>
          </a:ln>
        </p:spPr>
      </p:sp>
      <p:sp>
        <p:nvSpPr>
          <p:cNvPr id="18" name="text-121"/>
          <p:cNvSpPr txBox="1"/>
          <p:nvPr/>
        </p:nvSpPr>
        <p:spPr>
          <a:xfrm>
            <a:off x="5943600" y="2980944"/>
            <a:ext cx="548640" cy="950976"/>
          </a:xfrm>
          <a:prstGeom prst="rect">
            <a:avLst/>
          </a:prstGeom>
          <a:noFill/>
          <a:ln/>
        </p:spPr>
        <p:txBody>
          <a:bodyPr wrap="square" lIns="0" tIns="0" rIns="0" bIns="0" rtlCol="0" anchor="ctr"/>
          <a:lstStyle/>
          <a:p>
            <a:pPr algn="ctr" indent="0" marL="0">
              <a:buNone/>
            </a:pPr>
            <a:r>
              <a:rPr lang="en-US" sz="2600" b="1" dirty="0">
                <a:solidFill>
                  <a:schemeClr val="tx1"/>
                </a:solidFill>
              </a:rPr>
              <a:t>2</a:t>
            </a:r>
            <a:endParaRPr lang="en-US" sz="2600" dirty="0"/>
          </a:p>
        </p:txBody>
      </p:sp>
      <p:sp>
        <p:nvSpPr>
          <p:cNvPr id="19" name="text-122"/>
          <p:cNvSpPr txBox="1"/>
          <p:nvPr/>
        </p:nvSpPr>
        <p:spPr>
          <a:xfrm>
            <a:off x="6583680" y="3026664"/>
            <a:ext cx="4876495" cy="859536"/>
          </a:xfrm>
          <a:prstGeom prst="rect">
            <a:avLst/>
          </a:prstGeom>
          <a:noFill/>
          <a:ln/>
        </p:spPr>
        <p:txBody>
          <a:bodyPr wrap="square" lIns="0" tIns="0" rIns="0" bIns="0" rtlCol="0" anchor="ctr"/>
          <a:lstStyle/>
          <a:p>
            <a:pPr indent="0" marL="0">
              <a:buNone/>
            </a:pPr>
            <a:r>
              <a:rPr lang="en-US" sz="1400" b="1" dirty="0">
                <a:solidFill>
                  <a:schemeClr val="tx1"/>
                </a:solidFill>
              </a:rPr>
              <a:t>I need support from outside my store</a:t>
            </a:r>
            <a:endParaRPr lang="en-US" sz="1400" dirty="0"/>
          </a:p>
          <a:p>
            <a:pPr indent="0" marL="0">
              <a:buNone/>
            </a:pPr>
            <a:r>
              <a:rPr lang="en-US" sz="1200" dirty="0">
                <a:solidFill>
                  <a:schemeClr val="tx1"/>
                </a:solidFill>
              </a:rPr>
              <a:t>Equipment/POS down, call-out, delivery or product outage</a:t>
            </a:r>
            <a:endParaRPr lang="en-US" sz="1400" dirty="0"/>
          </a:p>
          <a:p>
            <a:pPr rtl="1" algn="r" indent="0" marL="0">
              <a:buNone/>
            </a:pPr>
            <a:r>
              <a:rPr lang="ar-EG" altLang="en-US" sz="1200" dirty="0">
                <a:solidFill>
                  <a:schemeClr val="tx1"/>
                </a:solidFill>
              </a:rPr>
              <a:t>أحتاج دعماً من خارج المتجر: عطل، غياب، نقص منتج</a:t>
            </a:r>
            <a:endParaRPr lang="en-US" sz="1400" dirty="0"/>
          </a:p>
        </p:txBody>
      </p:sp>
      <p:sp>
        <p:nvSpPr>
          <p:cNvPr id="20" name="level-123"/>
          <p:cNvSpPr/>
          <p:nvPr/>
        </p:nvSpPr>
        <p:spPr>
          <a:xfrm>
            <a:off x="5852160" y="4041648"/>
            <a:ext cx="5790895" cy="950976"/>
          </a:xfrm>
          <a:prstGeom prst="roundRect">
            <a:avLst>
              <a:gd name="adj" fmla="val 9615"/>
            </a:avLst>
          </a:prstGeom>
          <a:solidFill>
            <a:schemeClr val="accent3"/>
          </a:solidFill>
          <a:ln w="12700">
            <a:solidFill>
              <a:schemeClr val="accent3"/>
            </a:solidFill>
            <a:prstDash val="solid"/>
          </a:ln>
        </p:spPr>
      </p:sp>
      <p:sp>
        <p:nvSpPr>
          <p:cNvPr id="21" name="text-124"/>
          <p:cNvSpPr txBox="1"/>
          <p:nvPr/>
        </p:nvSpPr>
        <p:spPr>
          <a:xfrm>
            <a:off x="5943600" y="4041648"/>
            <a:ext cx="548640" cy="950976"/>
          </a:xfrm>
          <a:prstGeom prst="rect">
            <a:avLst/>
          </a:prstGeom>
          <a:noFill/>
          <a:ln/>
        </p:spPr>
        <p:txBody>
          <a:bodyPr wrap="square" lIns="0" tIns="0" rIns="0" bIns="0" rtlCol="0" anchor="ctr"/>
          <a:lstStyle/>
          <a:p>
            <a:pPr algn="ctr" indent="0" marL="0">
              <a:buNone/>
            </a:pPr>
            <a:r>
              <a:rPr lang="en-US" sz="2600" b="1" dirty="0">
                <a:solidFill>
                  <a:schemeClr val="tx1"/>
                </a:solidFill>
              </a:rPr>
              <a:t>3</a:t>
            </a:r>
            <a:endParaRPr lang="en-US" sz="2600" dirty="0"/>
          </a:p>
        </p:txBody>
      </p:sp>
      <p:sp>
        <p:nvSpPr>
          <p:cNvPr id="22" name="text-125"/>
          <p:cNvSpPr txBox="1"/>
          <p:nvPr/>
        </p:nvSpPr>
        <p:spPr>
          <a:xfrm>
            <a:off x="6583680" y="4087368"/>
            <a:ext cx="4876495" cy="859536"/>
          </a:xfrm>
          <a:prstGeom prst="rect">
            <a:avLst/>
          </a:prstGeom>
          <a:noFill/>
          <a:ln/>
        </p:spPr>
        <p:txBody>
          <a:bodyPr wrap="square" lIns="0" tIns="0" rIns="0" bIns="0" rtlCol="0" anchor="ctr"/>
          <a:lstStyle/>
          <a:p>
            <a:pPr indent="0" marL="0">
              <a:buNone/>
            </a:pPr>
            <a:r>
              <a:rPr lang="en-US" sz="1400" b="1" dirty="0">
                <a:solidFill>
                  <a:schemeClr val="tx1"/>
                </a:solidFill>
              </a:rPr>
              <a:t>Relatively safe, but disrupts the Third Place</a:t>
            </a:r>
            <a:endParaRPr lang="en-US" sz="1400" dirty="0"/>
          </a:p>
          <a:p>
            <a:pPr indent="0" marL="0">
              <a:buNone/>
            </a:pPr>
            <a:r>
              <a:rPr lang="en-US" sz="1200" dirty="0">
                <a:solidFill>
                  <a:schemeClr val="tx1"/>
                </a:solidFill>
              </a:rPr>
              <a:t>Disruptive behaviour → use the Interaction Guidelines</a:t>
            </a:r>
            <a:endParaRPr lang="en-US" sz="1400" dirty="0"/>
          </a:p>
          <a:p>
            <a:pPr rtl="1" algn="r" indent="0" marL="0">
              <a:buNone/>
            </a:pPr>
            <a:r>
              <a:rPr lang="ar-EG" altLang="en-US" sz="1200" dirty="0">
                <a:solidFill>
                  <a:schemeClr val="tx1"/>
                </a:solidFill>
              </a:rPr>
              <a:t>آمن لكنه يُربك المكان: اتبع إرشادات التعامل</a:t>
            </a:r>
            <a:endParaRPr lang="en-US" sz="1400" dirty="0"/>
          </a:p>
        </p:txBody>
      </p:sp>
      <p:sp>
        <p:nvSpPr>
          <p:cNvPr id="23" name="level-126"/>
          <p:cNvSpPr/>
          <p:nvPr/>
        </p:nvSpPr>
        <p:spPr>
          <a:xfrm>
            <a:off x="5852160" y="5102352"/>
            <a:ext cx="5790895" cy="950976"/>
          </a:xfrm>
          <a:prstGeom prst="roundRect">
            <a:avLst>
              <a:gd name="adj" fmla="val 9615"/>
            </a:avLst>
          </a:prstGeom>
          <a:solidFill>
            <a:schemeClr val="tx1"/>
          </a:solidFill>
          <a:ln w="12700">
            <a:solidFill>
              <a:schemeClr val="tx1"/>
            </a:solidFill>
            <a:prstDash val="solid"/>
          </a:ln>
        </p:spPr>
      </p:sp>
      <p:sp>
        <p:nvSpPr>
          <p:cNvPr id="24" name="text-127"/>
          <p:cNvSpPr txBox="1"/>
          <p:nvPr/>
        </p:nvSpPr>
        <p:spPr>
          <a:xfrm>
            <a:off x="5943600" y="5102352"/>
            <a:ext cx="548640" cy="950976"/>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5" name="text-128"/>
          <p:cNvSpPr txBox="1"/>
          <p:nvPr/>
        </p:nvSpPr>
        <p:spPr>
          <a:xfrm>
            <a:off x="6583680" y="5148072"/>
            <a:ext cx="4876495" cy="859536"/>
          </a:xfrm>
          <a:prstGeom prst="rect">
            <a:avLst/>
          </a:prstGeom>
          <a:noFill/>
          <a:ln/>
        </p:spPr>
        <p:txBody>
          <a:bodyPr wrap="square" lIns="0" tIns="0" rIns="0" bIns="0" rtlCol="0" anchor="ctr"/>
          <a:lstStyle/>
          <a:p>
            <a:pPr indent="0" marL="0">
              <a:buNone/>
            </a:pPr>
            <a:r>
              <a:rPr lang="en-US" sz="1400" b="1" dirty="0">
                <a:solidFill>
                  <a:schemeClr val="bg1"/>
                </a:solidFill>
              </a:rPr>
              <a:t>Potential or immediate danger</a:t>
            </a:r>
            <a:endParaRPr lang="en-US" sz="1400" dirty="0"/>
          </a:p>
          <a:p>
            <a:pPr indent="0" marL="0">
              <a:buNone/>
            </a:pPr>
            <a:r>
              <a:rPr lang="en-US" sz="1200" dirty="0">
                <a:solidFill>
                  <a:schemeClr val="bg1"/>
                </a:solidFill>
              </a:rPr>
              <a:t>Follow Store Safety Procedures; call emergency services</a:t>
            </a:r>
            <a:endParaRPr lang="en-US" sz="1400" dirty="0"/>
          </a:p>
          <a:p>
            <a:pPr rtl="1" algn="r" indent="0" marL="0">
              <a:buNone/>
            </a:pPr>
            <a:r>
              <a:rPr lang="ar-EG" altLang="en-US" sz="1200" dirty="0">
                <a:solidFill>
                  <a:schemeClr val="bg1"/>
                </a:solidFill>
              </a:rPr>
              <a:t>خطر محتمل أو فوري: إجراءات السلامة واتصل بالطوارئ</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Navigating the Peer-to-Leader Challenge</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التعامل مع تحدي الانتقال من زميل إلى قائد</a:t>
            </a:r>
            <a:endParaRPr lang="ar-EG" sz="2000" dirty="0"/>
          </a:p>
        </p:txBody>
      </p:sp>
      <p:sp>
        <p:nvSpPr>
          <p:cNvPr id="4" name="card-129"/>
          <p:cNvSpPr/>
          <p:nvPr/>
        </p:nvSpPr>
        <p:spPr>
          <a:xfrm>
            <a:off x="548640" y="1691640"/>
            <a:ext cx="5422392"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130"/>
          <p:cNvSpPr/>
          <p:nvPr/>
        </p:nvSpPr>
        <p:spPr>
          <a:xfrm>
            <a:off x="822960" y="1965960"/>
            <a:ext cx="685800" cy="685800"/>
          </a:xfrm>
          <a:prstGeom prst="ellipse">
            <a:avLst/>
          </a:prstGeom>
          <a:solidFill>
            <a:schemeClr val="accent1"/>
          </a:solidFill>
          <a:ln w="12700">
            <a:solidFill>
              <a:schemeClr val="accent1"/>
            </a:solidFill>
            <a:prstDash val="solid"/>
          </a:ln>
        </p:spPr>
      </p:sp>
      <p:pic>
        <p:nvPicPr>
          <p:cNvPr id="6" name="icon-131" descr="preencoded.png">    </p:cNvPr>
          <p:cNvPicPr>
            <a:picLocks noChangeAspect="1"/>
          </p:cNvPicPr>
          <p:nvPr/>
        </p:nvPicPr>
        <p:blipFill>
          <a:blip r:embed="rId1"/>
          <a:stretch>
            <a:fillRect/>
          </a:stretch>
        </p:blipFill>
        <p:spPr>
          <a:xfrm>
            <a:off x="973836" y="2116836"/>
            <a:ext cx="384048" cy="384048"/>
          </a:xfrm>
          <a:prstGeom prst="rect">
            <a:avLst/>
          </a:prstGeom>
        </p:spPr>
      </p:pic>
      <p:sp>
        <p:nvSpPr>
          <p:cNvPr id="7" name="text-132"/>
          <p:cNvSpPr txBox="1"/>
          <p:nvPr/>
        </p:nvSpPr>
        <p:spPr>
          <a:xfrm>
            <a:off x="1737360" y="1920240"/>
            <a:ext cx="3959352" cy="169164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Leading former peers</a:t>
            </a:r>
            <a:endParaRPr lang="en-US" sz="1600" dirty="0"/>
          </a:p>
          <a:p>
            <a:pPr algn="l" indent="0" marL="0">
              <a:spcAft>
                <a:spcPts val="600"/>
              </a:spcAft>
              <a:buNone/>
            </a:pPr>
            <a:r>
              <a:rPr lang="en-US" sz="1400" dirty="0">
                <a:solidFill>
                  <a:schemeClr val="tx1"/>
                </a:solidFill>
              </a:rPr>
              <a:t>Reset expectations early, be fair and consistent with everyone – no favourites.</a:t>
            </a:r>
            <a:endParaRPr lang="en-US" sz="1600" dirty="0"/>
          </a:p>
          <a:p>
            <a:pPr rtl="1" algn="r" indent="0" marL="0">
              <a:spcAft>
                <a:spcPts val="200"/>
              </a:spcAft>
              <a:buNone/>
            </a:pPr>
            <a:r>
              <a:rPr lang="ar-EG" altLang="en-US" sz="1600" b="1" dirty="0">
                <a:solidFill>
                  <a:schemeClr val="tx2"/>
                </a:solidFill>
              </a:rPr>
              <a:t>قيادة زملاء الأمس</a:t>
            </a:r>
            <a:endParaRPr lang="en-US" sz="1600" dirty="0"/>
          </a:p>
          <a:p>
            <a:pPr rtl="1" algn="r" indent="0" marL="0">
              <a:buNone/>
            </a:pPr>
            <a:r>
              <a:rPr lang="ar-EG" altLang="en-US" sz="1400" dirty="0">
                <a:solidFill>
                  <a:schemeClr val="tx1"/>
                </a:solidFill>
              </a:rPr>
              <a:t>وضّح التوقعات مبكراً وكن عادلاً وثابتاً مع الجميع بلا محاباة.</a:t>
            </a:r>
            <a:endParaRPr lang="en-US" sz="1600" dirty="0"/>
          </a:p>
        </p:txBody>
      </p:sp>
      <p:sp>
        <p:nvSpPr>
          <p:cNvPr id="8" name="card-133"/>
          <p:cNvSpPr/>
          <p:nvPr/>
        </p:nvSpPr>
        <p:spPr>
          <a:xfrm>
            <a:off x="6153912" y="1691640"/>
            <a:ext cx="5422392"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9" name="icon-bg-134"/>
          <p:cNvSpPr/>
          <p:nvPr/>
        </p:nvSpPr>
        <p:spPr>
          <a:xfrm>
            <a:off x="6428232" y="1965960"/>
            <a:ext cx="685800" cy="685800"/>
          </a:xfrm>
          <a:prstGeom prst="ellipse">
            <a:avLst/>
          </a:prstGeom>
          <a:solidFill>
            <a:schemeClr val="accent1"/>
          </a:solidFill>
          <a:ln w="12700">
            <a:solidFill>
              <a:schemeClr val="accent1"/>
            </a:solidFill>
            <a:prstDash val="solid"/>
          </a:ln>
        </p:spPr>
      </p:sp>
      <p:pic>
        <p:nvPicPr>
          <p:cNvPr id="10" name="icon-135" descr="preencoded.png">    </p:cNvPr>
          <p:cNvPicPr>
            <a:picLocks noChangeAspect="1"/>
          </p:cNvPicPr>
          <p:nvPr/>
        </p:nvPicPr>
        <p:blipFill>
          <a:blip r:embed="rId2"/>
          <a:stretch>
            <a:fillRect/>
          </a:stretch>
        </p:blipFill>
        <p:spPr>
          <a:xfrm>
            <a:off x="6579108" y="2116836"/>
            <a:ext cx="384048" cy="384048"/>
          </a:xfrm>
          <a:prstGeom prst="rect">
            <a:avLst/>
          </a:prstGeom>
        </p:spPr>
      </p:pic>
      <p:sp>
        <p:nvSpPr>
          <p:cNvPr id="11" name="text-136"/>
          <p:cNvSpPr txBox="1"/>
          <p:nvPr/>
        </p:nvSpPr>
        <p:spPr>
          <a:xfrm>
            <a:off x="7342632" y="1920240"/>
            <a:ext cx="3959352" cy="169164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Trying to do it all yourself</a:t>
            </a:r>
            <a:endParaRPr lang="en-US" sz="1600" dirty="0"/>
          </a:p>
          <a:p>
            <a:pPr algn="l" indent="0" marL="0">
              <a:spcAft>
                <a:spcPts val="600"/>
              </a:spcAft>
              <a:buNone/>
            </a:pPr>
            <a:r>
              <a:rPr lang="en-US" sz="1400" dirty="0">
                <a:solidFill>
                  <a:schemeClr val="tx1"/>
                </a:solidFill>
              </a:rPr>
              <a:t>Deploy and delegate; your job is to make the whole team successful.</a:t>
            </a:r>
            <a:endParaRPr lang="en-US" sz="1600" dirty="0"/>
          </a:p>
          <a:p>
            <a:pPr rtl="1" algn="r" indent="0" marL="0">
              <a:spcAft>
                <a:spcPts val="200"/>
              </a:spcAft>
              <a:buNone/>
            </a:pPr>
            <a:r>
              <a:rPr lang="ar-EG" altLang="en-US" sz="1600" b="1" dirty="0">
                <a:solidFill>
                  <a:schemeClr val="tx2"/>
                </a:solidFill>
              </a:rPr>
              <a:t>محاولة فعل كل شيء بنفسك</a:t>
            </a:r>
            <a:endParaRPr lang="en-US" sz="1600" dirty="0"/>
          </a:p>
          <a:p>
            <a:pPr rtl="1" algn="r" indent="0" marL="0">
              <a:buNone/>
            </a:pPr>
            <a:r>
              <a:rPr lang="ar-EG" altLang="en-US" sz="1400" dirty="0">
                <a:solidFill>
                  <a:schemeClr val="tx1"/>
                </a:solidFill>
              </a:rPr>
              <a:t>وزّع وفوّض؛ مهمتك نجاح الفريق كله.</a:t>
            </a:r>
            <a:endParaRPr lang="en-US" sz="1600" dirty="0"/>
          </a:p>
        </p:txBody>
      </p:sp>
      <p:sp>
        <p:nvSpPr>
          <p:cNvPr id="12" name="card-137"/>
          <p:cNvSpPr/>
          <p:nvPr/>
        </p:nvSpPr>
        <p:spPr>
          <a:xfrm>
            <a:off x="548640" y="3977640"/>
            <a:ext cx="5422392"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3" name="icon-bg-138"/>
          <p:cNvSpPr/>
          <p:nvPr/>
        </p:nvSpPr>
        <p:spPr>
          <a:xfrm>
            <a:off x="822960" y="4251960"/>
            <a:ext cx="685800" cy="685800"/>
          </a:xfrm>
          <a:prstGeom prst="ellipse">
            <a:avLst/>
          </a:prstGeom>
          <a:solidFill>
            <a:schemeClr val="accent1"/>
          </a:solidFill>
          <a:ln w="12700">
            <a:solidFill>
              <a:schemeClr val="accent1"/>
            </a:solidFill>
            <a:prstDash val="solid"/>
          </a:ln>
        </p:spPr>
      </p:sp>
      <p:pic>
        <p:nvPicPr>
          <p:cNvPr id="14" name="icon-139" descr="preencoded.png">    </p:cNvPr>
          <p:cNvPicPr>
            <a:picLocks noChangeAspect="1"/>
          </p:cNvPicPr>
          <p:nvPr/>
        </p:nvPicPr>
        <p:blipFill>
          <a:blip r:embed="rId3"/>
          <a:stretch>
            <a:fillRect/>
          </a:stretch>
        </p:blipFill>
        <p:spPr>
          <a:xfrm>
            <a:off x="973836" y="4402836"/>
            <a:ext cx="384048" cy="384048"/>
          </a:xfrm>
          <a:prstGeom prst="rect">
            <a:avLst/>
          </a:prstGeom>
        </p:spPr>
      </p:pic>
      <p:sp>
        <p:nvSpPr>
          <p:cNvPr id="15" name="text-140"/>
          <p:cNvSpPr txBox="1"/>
          <p:nvPr/>
        </p:nvSpPr>
        <p:spPr>
          <a:xfrm>
            <a:off x="1737360" y="4206240"/>
            <a:ext cx="3959352" cy="169164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Avoiding hard conversations</a:t>
            </a:r>
            <a:endParaRPr lang="en-US" sz="1600" dirty="0"/>
          </a:p>
          <a:p>
            <a:pPr algn="l" indent="0" marL="0">
              <a:spcAft>
                <a:spcPts val="600"/>
              </a:spcAft>
              <a:buNone/>
            </a:pPr>
            <a:r>
              <a:rPr lang="en-US" sz="1400" dirty="0">
                <a:solidFill>
                  <a:schemeClr val="tx1"/>
                </a:solidFill>
              </a:rPr>
              <a:t>Act with courage: address the behaviour, not the person, and do it promptly.</a:t>
            </a:r>
            <a:endParaRPr lang="en-US" sz="1600" dirty="0"/>
          </a:p>
          <a:p>
            <a:pPr rtl="1" algn="r" indent="0" marL="0">
              <a:spcAft>
                <a:spcPts val="200"/>
              </a:spcAft>
              <a:buNone/>
            </a:pPr>
            <a:r>
              <a:rPr lang="ar-EG" altLang="en-US" sz="1600" b="1" dirty="0">
                <a:solidFill>
                  <a:schemeClr val="tx2"/>
                </a:solidFill>
              </a:rPr>
              <a:t>تجنّب المحادثات الصعبة</a:t>
            </a:r>
            <a:endParaRPr lang="en-US" sz="1600" dirty="0"/>
          </a:p>
          <a:p>
            <a:pPr rtl="1" algn="r" indent="0" marL="0">
              <a:buNone/>
            </a:pPr>
            <a:r>
              <a:rPr lang="ar-EG" altLang="en-US" sz="1400" dirty="0">
                <a:solidFill>
                  <a:schemeClr val="tx1"/>
                </a:solidFill>
              </a:rPr>
              <a:t>تصرّف بشجاعة: ناقش السلوك لا الشخص، وبسرعة.</a:t>
            </a:r>
            <a:endParaRPr lang="en-US" sz="1600" dirty="0"/>
          </a:p>
        </p:txBody>
      </p:sp>
      <p:sp>
        <p:nvSpPr>
          <p:cNvPr id="16" name="card-141"/>
          <p:cNvSpPr/>
          <p:nvPr/>
        </p:nvSpPr>
        <p:spPr>
          <a:xfrm>
            <a:off x="6153912" y="3977640"/>
            <a:ext cx="5422392"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7" name="icon-bg-142"/>
          <p:cNvSpPr/>
          <p:nvPr/>
        </p:nvSpPr>
        <p:spPr>
          <a:xfrm>
            <a:off x="6428232" y="4251960"/>
            <a:ext cx="685800" cy="685800"/>
          </a:xfrm>
          <a:prstGeom prst="ellipse">
            <a:avLst/>
          </a:prstGeom>
          <a:solidFill>
            <a:schemeClr val="accent1"/>
          </a:solidFill>
          <a:ln w="12700">
            <a:solidFill>
              <a:schemeClr val="accent1"/>
            </a:solidFill>
            <a:prstDash val="solid"/>
          </a:ln>
        </p:spPr>
      </p:sp>
      <p:pic>
        <p:nvPicPr>
          <p:cNvPr id="18" name="icon-143" descr="preencoded.png">    </p:cNvPr>
          <p:cNvPicPr>
            <a:picLocks noChangeAspect="1"/>
          </p:cNvPicPr>
          <p:nvPr/>
        </p:nvPicPr>
        <p:blipFill>
          <a:blip r:embed="rId4"/>
          <a:stretch>
            <a:fillRect/>
          </a:stretch>
        </p:blipFill>
        <p:spPr>
          <a:xfrm>
            <a:off x="6579108" y="4402836"/>
            <a:ext cx="384048" cy="384048"/>
          </a:xfrm>
          <a:prstGeom prst="rect">
            <a:avLst/>
          </a:prstGeom>
        </p:spPr>
      </p:pic>
      <p:sp>
        <p:nvSpPr>
          <p:cNvPr id="19" name="text-144"/>
          <p:cNvSpPr txBox="1"/>
          <p:nvPr/>
        </p:nvSpPr>
        <p:spPr>
          <a:xfrm>
            <a:off x="7342632" y="4206240"/>
            <a:ext cx="3959352" cy="169164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Building credibility</a:t>
            </a:r>
            <a:endParaRPr lang="en-US" sz="1600" dirty="0"/>
          </a:p>
          <a:p>
            <a:pPr algn="l" indent="0" marL="0">
              <a:spcAft>
                <a:spcPts val="600"/>
              </a:spcAft>
              <a:buNone/>
            </a:pPr>
            <a:r>
              <a:rPr lang="en-US" sz="1400" dirty="0">
                <a:solidFill>
                  <a:schemeClr val="tx1"/>
                </a:solidFill>
              </a:rPr>
              <a:t>Model every standard first and follow through on what you promise.</a:t>
            </a:r>
            <a:endParaRPr lang="en-US" sz="1600" dirty="0"/>
          </a:p>
          <a:p>
            <a:pPr rtl="1" algn="r" indent="0" marL="0">
              <a:spcAft>
                <a:spcPts val="200"/>
              </a:spcAft>
              <a:buNone/>
            </a:pPr>
            <a:r>
              <a:rPr lang="ar-EG" altLang="en-US" sz="1600" b="1" dirty="0">
                <a:solidFill>
                  <a:schemeClr val="tx2"/>
                </a:solidFill>
              </a:rPr>
              <a:t>بناء المصداقية</a:t>
            </a:r>
            <a:endParaRPr lang="en-US" sz="1600" dirty="0"/>
          </a:p>
          <a:p>
            <a:pPr rtl="1" algn="r" indent="0" marL="0">
              <a:buNone/>
            </a:pPr>
            <a:r>
              <a:rPr lang="ar-EG" altLang="en-US" sz="1400" dirty="0">
                <a:solidFill>
                  <a:schemeClr val="tx1"/>
                </a:solidFill>
              </a:rPr>
              <a:t>كن أول من يطبّق المعايير، والتزم بما تعد به.</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Your First 90 Days: Learn › Own › Advise</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أول 90 يوماً: تعلَّم › امتلك › وجِّه</a:t>
            </a:r>
            <a:endParaRPr lang="ar-EG" sz="2000" dirty="0"/>
          </a:p>
        </p:txBody>
      </p:sp>
      <p:sp>
        <p:nvSpPr>
          <p:cNvPr id="4" name="card-145"/>
          <p:cNvSpPr/>
          <p:nvPr/>
        </p:nvSpPr>
        <p:spPr>
          <a:xfrm>
            <a:off x="548640"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text-146"/>
          <p:cNvSpPr txBox="1"/>
          <p:nvPr/>
        </p:nvSpPr>
        <p:spPr>
          <a:xfrm>
            <a:off x="822960" y="1920240"/>
            <a:ext cx="2194560" cy="868680"/>
          </a:xfrm>
          <a:prstGeom prst="rect">
            <a:avLst/>
          </a:prstGeom>
          <a:noFill/>
          <a:ln/>
        </p:spPr>
        <p:txBody>
          <a:bodyPr wrap="square" lIns="0" tIns="0" rIns="0" bIns="0" rtlCol="0" anchor="t"/>
          <a:lstStyle/>
          <a:p>
            <a:pPr indent="0" marL="0">
              <a:buNone/>
            </a:pPr>
            <a:r>
              <a:rPr lang="en-US" sz="1300" b="1" dirty="0">
                <a:solidFill>
                  <a:schemeClr val="tx2"/>
                </a:solidFill>
              </a:rPr>
              <a:t>Days 1–30</a:t>
            </a:r>
            <a:endParaRPr lang="en-US" sz="1300" dirty="0"/>
          </a:p>
          <a:p>
            <a:pPr indent="0" marL="0">
              <a:buNone/>
            </a:pPr>
            <a:r>
              <a:rPr lang="en-US" sz="2400" b="1" dirty="0">
                <a:solidFill>
                  <a:schemeClr val="tx1"/>
                </a:solidFill>
              </a:rPr>
              <a:t>LEARNING</a:t>
            </a:r>
            <a:endParaRPr lang="en-US" sz="1300" dirty="0"/>
          </a:p>
        </p:txBody>
      </p:sp>
      <p:sp>
        <p:nvSpPr>
          <p:cNvPr id="6" name="text-147"/>
          <p:cNvSpPr txBox="1"/>
          <p:nvPr/>
        </p:nvSpPr>
        <p:spPr>
          <a:xfrm>
            <a:off x="2743200" y="2194560"/>
            <a:ext cx="1005840" cy="548640"/>
          </a:xfrm>
          <a:prstGeom prst="rect">
            <a:avLst/>
          </a:prstGeom>
          <a:noFill/>
          <a:ln/>
        </p:spPr>
        <p:txBody>
          <a:bodyPr wrap="square" lIns="0" tIns="0" rIns="0" bIns="0" rtlCol="0" anchor="t"/>
          <a:lstStyle/>
          <a:p>
            <a:pPr rtl="1" algn="r" indent="0" marL="0">
              <a:buNone/>
            </a:pPr>
            <a:r>
              <a:rPr lang="ar-EG" altLang="en-US" sz="2400" b="1" dirty="0">
                <a:solidFill>
                  <a:schemeClr val="tx2"/>
                </a:solidFill>
              </a:rPr>
              <a:t>تعلَّم</a:t>
            </a:r>
            <a:endParaRPr lang="en-US" sz="2400" dirty="0"/>
          </a:p>
        </p:txBody>
      </p:sp>
      <p:sp>
        <p:nvSpPr>
          <p:cNvPr id="7" name="text-148"/>
          <p:cNvSpPr txBox="1"/>
          <p:nvPr/>
        </p:nvSpPr>
        <p:spPr>
          <a:xfrm>
            <a:off x="822960" y="2971800"/>
            <a:ext cx="2944368" cy="3017520"/>
          </a:xfrm>
          <a:prstGeom prst="rect">
            <a:avLst/>
          </a:prstGeom>
          <a:noFill/>
          <a:ln/>
        </p:spPr>
        <p:txBody>
          <a:bodyPr wrap="square" lIns="0" tIns="0" rIns="0" bIns="0" rtlCol="0" anchor="t"/>
          <a:lstStyle/>
          <a:p>
            <a:pPr marL="177800" indent="-177800">
              <a:buSzPct val="100000"/>
              <a:buChar char="•"/>
            </a:pPr>
            <a:r>
              <a:rPr lang="en-US" sz="1300" dirty="0">
                <a:solidFill>
                  <a:schemeClr val="tx1"/>
                </a:solidFill>
              </a:rPr>
              <a:t>Shadow your SM and experienced supervisors</a:t>
            </a:r>
            <a:endParaRPr lang="en-US" sz="1300" dirty="0"/>
          </a:p>
          <a:p>
            <a:pPr rtl="1" algn="r" indent="0" marL="0">
              <a:spcAft>
                <a:spcPts val="900"/>
              </a:spcAft>
              <a:buNone/>
            </a:pPr>
            <a:r>
              <a:rPr lang="ar-EG" altLang="en-US" sz="1300" dirty="0">
                <a:solidFill>
                  <a:schemeClr val="tx2"/>
                </a:solidFill>
              </a:rPr>
              <a:t>رافق مديرك والمشرفين ذوي الخبرة</a:t>
            </a:r>
            <a:endParaRPr lang="en-US" sz="1300" dirty="0"/>
          </a:p>
          <a:p>
            <a:pPr marL="177800" indent="-177800">
              <a:buSzPct val="100000"/>
              <a:buChar char="•"/>
            </a:pPr>
            <a:r>
              <a:rPr lang="en-US" sz="1300" dirty="0">
                <a:solidFill>
                  <a:schemeClr val="tx1"/>
                </a:solidFill>
              </a:rPr>
              <a:t>Master the Daily Coverage Report, cash &amp; safety routines</a:t>
            </a:r>
            <a:endParaRPr lang="en-US" sz="1300" dirty="0"/>
          </a:p>
          <a:p>
            <a:pPr rtl="1" algn="r" indent="0" marL="0">
              <a:spcAft>
                <a:spcPts val="900"/>
              </a:spcAft>
              <a:buNone/>
            </a:pPr>
            <a:r>
              <a:rPr lang="ar-EG" altLang="en-US" sz="1300" dirty="0">
                <a:solidFill>
                  <a:schemeClr val="tx2"/>
                </a:solidFill>
              </a:rPr>
              <a:t>أتقن تقرير التغطية وإجراءات النقدية والسلامة</a:t>
            </a:r>
            <a:endParaRPr lang="en-US" sz="1300" dirty="0"/>
          </a:p>
          <a:p>
            <a:pPr marL="177800" indent="-177800">
              <a:buSzPct val="100000"/>
              <a:buChar char="•"/>
            </a:pPr>
            <a:r>
              <a:rPr lang="en-US" sz="1300" dirty="0">
                <a:solidFill>
                  <a:schemeClr val="tx1"/>
                </a:solidFill>
              </a:rPr>
              <a:t>Learn every partner's name and strengths</a:t>
            </a:r>
            <a:endParaRPr lang="en-US" sz="1300" dirty="0"/>
          </a:p>
          <a:p>
            <a:pPr rtl="1" algn="r" indent="0" marL="0">
              <a:spcAft>
                <a:spcPts val="900"/>
              </a:spcAft>
              <a:buNone/>
            </a:pPr>
            <a:r>
              <a:rPr lang="ar-EG" altLang="en-US" sz="1300" dirty="0">
                <a:solidFill>
                  <a:schemeClr val="tx2"/>
                </a:solidFill>
              </a:rPr>
              <a:t>اعرف أسماء ونقاط قوة كل شريك</a:t>
            </a:r>
            <a:endParaRPr lang="en-US" sz="1300" dirty="0"/>
          </a:p>
        </p:txBody>
      </p:sp>
      <p:sp>
        <p:nvSpPr>
          <p:cNvPr id="8" name="card-149"/>
          <p:cNvSpPr/>
          <p:nvPr/>
        </p:nvSpPr>
        <p:spPr>
          <a:xfrm>
            <a:off x="4315968" y="1691640"/>
            <a:ext cx="3493008" cy="4434840"/>
          </a:xfrm>
          <a:prstGeom prst="roundRect">
            <a:avLst>
              <a:gd name="adj" fmla="val 314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9" name="text-150"/>
          <p:cNvSpPr txBox="1"/>
          <p:nvPr/>
        </p:nvSpPr>
        <p:spPr>
          <a:xfrm>
            <a:off x="4590288" y="1920240"/>
            <a:ext cx="2194560" cy="868680"/>
          </a:xfrm>
          <a:prstGeom prst="rect">
            <a:avLst/>
          </a:prstGeom>
          <a:noFill/>
          <a:ln/>
        </p:spPr>
        <p:txBody>
          <a:bodyPr wrap="square" lIns="0" tIns="0" rIns="0" bIns="0" rtlCol="0" anchor="t"/>
          <a:lstStyle/>
          <a:p>
            <a:pPr indent="0" marL="0">
              <a:buNone/>
            </a:pPr>
            <a:r>
              <a:rPr lang="en-US" sz="1300" b="1" dirty="0">
                <a:solidFill>
                  <a:schemeClr val="tx2"/>
                </a:solidFill>
              </a:rPr>
              <a:t>Days 31–60</a:t>
            </a:r>
            <a:endParaRPr lang="en-US" sz="1300" dirty="0"/>
          </a:p>
          <a:p>
            <a:pPr indent="0" marL="0">
              <a:buNone/>
            </a:pPr>
            <a:r>
              <a:rPr lang="en-US" sz="2400" b="1" dirty="0">
                <a:solidFill>
                  <a:schemeClr val="tx1"/>
                </a:solidFill>
              </a:rPr>
              <a:t>OWNING</a:t>
            </a:r>
            <a:endParaRPr lang="en-US" sz="1300" dirty="0"/>
          </a:p>
        </p:txBody>
      </p:sp>
      <p:sp>
        <p:nvSpPr>
          <p:cNvPr id="10" name="text-151"/>
          <p:cNvSpPr txBox="1"/>
          <p:nvPr/>
        </p:nvSpPr>
        <p:spPr>
          <a:xfrm>
            <a:off x="6510528" y="2194560"/>
            <a:ext cx="1005840" cy="548640"/>
          </a:xfrm>
          <a:prstGeom prst="rect">
            <a:avLst/>
          </a:prstGeom>
          <a:noFill/>
          <a:ln/>
        </p:spPr>
        <p:txBody>
          <a:bodyPr wrap="square" lIns="0" tIns="0" rIns="0" bIns="0" rtlCol="0" anchor="t"/>
          <a:lstStyle/>
          <a:p>
            <a:pPr rtl="1" algn="r" indent="0" marL="0">
              <a:buNone/>
            </a:pPr>
            <a:r>
              <a:rPr lang="ar-EG" altLang="en-US" sz="2400" b="1" dirty="0">
                <a:solidFill>
                  <a:schemeClr val="tx2"/>
                </a:solidFill>
              </a:rPr>
              <a:t>امتلك</a:t>
            </a:r>
            <a:endParaRPr lang="en-US" sz="2400" dirty="0"/>
          </a:p>
        </p:txBody>
      </p:sp>
      <p:sp>
        <p:nvSpPr>
          <p:cNvPr id="11" name="text-152"/>
          <p:cNvSpPr txBox="1"/>
          <p:nvPr/>
        </p:nvSpPr>
        <p:spPr>
          <a:xfrm>
            <a:off x="4590288" y="2971800"/>
            <a:ext cx="2944368" cy="3017520"/>
          </a:xfrm>
          <a:prstGeom prst="rect">
            <a:avLst/>
          </a:prstGeom>
          <a:noFill/>
          <a:ln/>
        </p:spPr>
        <p:txBody>
          <a:bodyPr wrap="square" lIns="0" tIns="0" rIns="0" bIns="0" rtlCol="0" anchor="t"/>
          <a:lstStyle/>
          <a:p>
            <a:pPr marL="177800" indent="-177800">
              <a:buSzPct val="100000"/>
              <a:buChar char="•"/>
            </a:pPr>
            <a:r>
              <a:rPr lang="en-US" sz="1300" dirty="0">
                <a:solidFill>
                  <a:schemeClr val="tx1"/>
                </a:solidFill>
              </a:rPr>
              <a:t>Run full shifts using Prepare › Lead › Transition</a:t>
            </a:r>
            <a:endParaRPr lang="en-US" sz="1300" dirty="0"/>
          </a:p>
          <a:p>
            <a:pPr rtl="1" algn="r" indent="0" marL="0">
              <a:spcAft>
                <a:spcPts val="900"/>
              </a:spcAft>
              <a:buNone/>
            </a:pPr>
            <a:r>
              <a:rPr lang="ar-EG" altLang="en-US" sz="1300" dirty="0">
                <a:solidFill>
                  <a:schemeClr val="tx2"/>
                </a:solidFill>
              </a:rPr>
              <a:t>أدِر شفتات كاملة بنمط استعد › قُد › سلِّم</a:t>
            </a:r>
            <a:endParaRPr lang="en-US" sz="1300" dirty="0"/>
          </a:p>
          <a:p>
            <a:pPr marL="177800" indent="-177800">
              <a:buSzPct val="100000"/>
              <a:buChar char="•"/>
            </a:pPr>
            <a:r>
              <a:rPr lang="en-US" sz="1300" dirty="0">
                <a:solidFill>
                  <a:schemeClr val="tx1"/>
                </a:solidFill>
              </a:rPr>
              <a:t>Lead the Quick Connect on every shift</a:t>
            </a:r>
            <a:endParaRPr lang="en-US" sz="1300" dirty="0"/>
          </a:p>
          <a:p>
            <a:pPr rtl="1" algn="r" indent="0" marL="0">
              <a:spcAft>
                <a:spcPts val="900"/>
              </a:spcAft>
              <a:buNone/>
            </a:pPr>
            <a:r>
              <a:rPr lang="ar-EG" altLang="en-US" sz="1300" dirty="0">
                <a:solidFill>
                  <a:schemeClr val="tx2"/>
                </a:solidFill>
              </a:rPr>
              <a:t>قُد الاجتماع السريع في كل شفت</a:t>
            </a:r>
            <a:endParaRPr lang="en-US" sz="1300" dirty="0"/>
          </a:p>
          <a:p>
            <a:pPr marL="177800" indent="-177800">
              <a:buSzPct val="100000"/>
              <a:buChar char="•"/>
            </a:pPr>
            <a:r>
              <a:rPr lang="en-US" sz="1300" dirty="0">
                <a:solidFill>
                  <a:schemeClr val="tx1"/>
                </a:solidFill>
              </a:rPr>
              <a:t>Solve problems with ACT; document on the Daily Plan</a:t>
            </a:r>
            <a:endParaRPr lang="en-US" sz="1300" dirty="0"/>
          </a:p>
          <a:p>
            <a:pPr rtl="1" algn="r" indent="0" marL="0">
              <a:spcAft>
                <a:spcPts val="900"/>
              </a:spcAft>
              <a:buNone/>
            </a:pPr>
            <a:r>
              <a:rPr lang="ar-EG" altLang="en-US" sz="1300" dirty="0">
                <a:solidFill>
                  <a:schemeClr val="tx2"/>
                </a:solidFill>
              </a:rPr>
              <a:t>استخدم ACT ووثّق في الخطة اليومية</a:t>
            </a:r>
            <a:endParaRPr lang="en-US" sz="1300" dirty="0"/>
          </a:p>
        </p:txBody>
      </p:sp>
      <p:sp>
        <p:nvSpPr>
          <p:cNvPr id="12" name="card-153"/>
          <p:cNvSpPr/>
          <p:nvPr/>
        </p:nvSpPr>
        <p:spPr>
          <a:xfrm>
            <a:off x="8083296" y="1691640"/>
            <a:ext cx="3493008" cy="4434840"/>
          </a:xfrm>
          <a:prstGeom prst="roundRect">
            <a:avLst>
              <a:gd name="adj" fmla="val 3141"/>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3" name="text-154"/>
          <p:cNvSpPr txBox="1"/>
          <p:nvPr/>
        </p:nvSpPr>
        <p:spPr>
          <a:xfrm>
            <a:off x="8357616" y="1920240"/>
            <a:ext cx="2194560" cy="868680"/>
          </a:xfrm>
          <a:prstGeom prst="rect">
            <a:avLst/>
          </a:prstGeom>
          <a:noFill/>
          <a:ln/>
        </p:spPr>
        <p:txBody>
          <a:bodyPr wrap="square" lIns="0" tIns="0" rIns="0" bIns="0" rtlCol="0" anchor="t"/>
          <a:lstStyle/>
          <a:p>
            <a:pPr indent="0" marL="0">
              <a:buNone/>
            </a:pPr>
            <a:r>
              <a:rPr lang="en-US" sz="1300" b="1" dirty="0">
                <a:solidFill>
                  <a:schemeClr val="accent3"/>
                </a:solidFill>
              </a:rPr>
              <a:t>Days 61–90</a:t>
            </a:r>
            <a:endParaRPr lang="en-US" sz="1300" dirty="0"/>
          </a:p>
          <a:p>
            <a:pPr indent="0" marL="0">
              <a:buNone/>
            </a:pPr>
            <a:r>
              <a:rPr lang="en-US" sz="2400" b="1" dirty="0">
                <a:solidFill>
                  <a:schemeClr val="bg1"/>
                </a:solidFill>
              </a:rPr>
              <a:t>ADVISING</a:t>
            </a:r>
            <a:endParaRPr lang="en-US" sz="1300" dirty="0"/>
          </a:p>
        </p:txBody>
      </p:sp>
      <p:sp>
        <p:nvSpPr>
          <p:cNvPr id="14" name="text-155"/>
          <p:cNvSpPr txBox="1"/>
          <p:nvPr/>
        </p:nvSpPr>
        <p:spPr>
          <a:xfrm>
            <a:off x="10277856" y="2194560"/>
            <a:ext cx="1005840" cy="548640"/>
          </a:xfrm>
          <a:prstGeom prst="rect">
            <a:avLst/>
          </a:prstGeom>
          <a:noFill/>
          <a:ln/>
        </p:spPr>
        <p:txBody>
          <a:bodyPr wrap="square" lIns="0" tIns="0" rIns="0" bIns="0" rtlCol="0" anchor="t"/>
          <a:lstStyle/>
          <a:p>
            <a:pPr rtl="1" algn="r" indent="0" marL="0">
              <a:buNone/>
            </a:pPr>
            <a:r>
              <a:rPr lang="ar-EG" altLang="en-US" sz="2400" b="1" dirty="0">
                <a:solidFill>
                  <a:schemeClr val="accent4"/>
                </a:solidFill>
              </a:rPr>
              <a:t>وجِّه</a:t>
            </a:r>
            <a:endParaRPr lang="en-US" sz="2400" dirty="0"/>
          </a:p>
        </p:txBody>
      </p:sp>
      <p:sp>
        <p:nvSpPr>
          <p:cNvPr id="15" name="text-156"/>
          <p:cNvSpPr txBox="1"/>
          <p:nvPr/>
        </p:nvSpPr>
        <p:spPr>
          <a:xfrm>
            <a:off x="8357616" y="2971800"/>
            <a:ext cx="2944368" cy="3017520"/>
          </a:xfrm>
          <a:prstGeom prst="rect">
            <a:avLst/>
          </a:prstGeom>
          <a:noFill/>
          <a:ln/>
        </p:spPr>
        <p:txBody>
          <a:bodyPr wrap="square" lIns="0" tIns="0" rIns="0" bIns="0" rtlCol="0" anchor="t"/>
          <a:lstStyle/>
          <a:p>
            <a:pPr marL="177800" indent="-177800">
              <a:buSzPct val="100000"/>
              <a:buChar char="•"/>
            </a:pPr>
            <a:r>
              <a:rPr lang="en-US" sz="1300" dirty="0">
                <a:solidFill>
                  <a:schemeClr val="bg1"/>
                </a:solidFill>
              </a:rPr>
              <a:t>Coach baristas and support a new peer</a:t>
            </a:r>
            <a:endParaRPr lang="en-US" sz="1300" dirty="0"/>
          </a:p>
          <a:p>
            <a:pPr rtl="1" algn="r" indent="0" marL="0">
              <a:spcAft>
                <a:spcPts val="900"/>
              </a:spcAft>
              <a:buNone/>
            </a:pPr>
            <a:r>
              <a:rPr lang="ar-EG" altLang="en-US" sz="1300" dirty="0">
                <a:solidFill>
                  <a:schemeClr val="accent4"/>
                </a:solidFill>
              </a:rPr>
              <a:t>درّب الباريستا وادعم زميلاً جديداً</a:t>
            </a:r>
            <a:endParaRPr lang="en-US" sz="1300" dirty="0"/>
          </a:p>
          <a:p>
            <a:pPr marL="177800" indent="-177800">
              <a:buSzPct val="100000"/>
              <a:buChar char="•"/>
            </a:pPr>
            <a:r>
              <a:rPr lang="en-US" sz="1300" dirty="0">
                <a:solidFill>
                  <a:schemeClr val="bg1"/>
                </a:solidFill>
              </a:rPr>
              <a:t>Spot trends in Store Walk notes; propose fixes</a:t>
            </a:r>
            <a:endParaRPr lang="en-US" sz="1300" dirty="0"/>
          </a:p>
          <a:p>
            <a:pPr rtl="1" algn="r" indent="0" marL="0">
              <a:spcAft>
                <a:spcPts val="900"/>
              </a:spcAft>
              <a:buNone/>
            </a:pPr>
            <a:r>
              <a:rPr lang="ar-EG" altLang="en-US" sz="1300" dirty="0">
                <a:solidFill>
                  <a:schemeClr val="accent4"/>
                </a:solidFill>
              </a:rPr>
              <a:t>اكتشف الأنماط في ملاحظات جولة المتجر</a:t>
            </a:r>
            <a:endParaRPr lang="en-US" sz="1300" dirty="0"/>
          </a:p>
          <a:p>
            <a:pPr marL="177800" indent="-177800">
              <a:buSzPct val="100000"/>
              <a:buChar char="•"/>
            </a:pPr>
            <a:r>
              <a:rPr lang="en-US" sz="1300" dirty="0">
                <a:solidFill>
                  <a:schemeClr val="bg1"/>
                </a:solidFill>
              </a:rPr>
              <a:t>Review results and next goals with your SM</a:t>
            </a:r>
            <a:endParaRPr lang="en-US" sz="1300" dirty="0"/>
          </a:p>
          <a:p>
            <a:pPr rtl="1" algn="r" indent="0" marL="0">
              <a:spcAft>
                <a:spcPts val="900"/>
              </a:spcAft>
              <a:buNone/>
            </a:pPr>
            <a:r>
              <a:rPr lang="ar-EG" altLang="en-US" sz="1300" dirty="0">
                <a:solidFill>
                  <a:schemeClr val="accent4"/>
                </a:solidFill>
              </a:rPr>
              <a:t>راجع النتائج والأهداف مع مديرك</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3200400" cy="1371600"/>
          </a:xfrm>
          <a:prstGeom prst="rect">
            <a:avLst/>
          </a:prstGeom>
          <a:noFill/>
          <a:ln/>
        </p:spPr>
        <p:txBody>
          <a:bodyPr wrap="square" lIns="0" tIns="0" rIns="0" bIns="0" rtlCol="0" anchor="ctr"/>
          <a:lstStyle/>
          <a:p>
            <a:pPr algn="l" indent="0" marL="0">
              <a:buNone/>
            </a:pPr>
            <a:r>
              <a:rPr lang="en-US" sz="9600" b="1" dirty="0">
                <a:solidFill>
                  <a:schemeClr val="accent3"/>
                </a:solidFill>
              </a:rPr>
              <a:t>02</a:t>
            </a:r>
            <a:endParaRPr lang="en-US" sz="9600" dirty="0"/>
          </a:p>
        </p:txBody>
      </p:sp>
      <p:sp>
        <p:nvSpPr>
          <p:cNvPr id="3" name="Text 0"/>
          <p:cNvSpPr/>
          <p:nvPr>
            <p:ph idx="101" type="title" hasCustomPrompt="1"/>
          </p:nvPr>
        </p:nvSpPr>
        <p:spPr>
          <a:xfrm>
            <a:off x="640080" y="27432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rPr>
              <a:t>Communicate Effectively</a:t>
            </a:r>
            <a:endParaRPr lang="en-US" sz="4000" dirty="0"/>
          </a:p>
        </p:txBody>
      </p:sp>
      <p:sp>
        <p:nvSpPr>
          <p:cNvPr id="4" name="Text 0"/>
          <p:cNvSpPr/>
          <p:nvPr>
            <p:ph idx="102" type="body" hasCustomPrompt="1"/>
          </p:nvPr>
        </p:nvSpPr>
        <p:spPr>
          <a:xfrm>
            <a:off x="640080" y="4160520"/>
            <a:ext cx="6949440" cy="731520"/>
          </a:xfrm>
          <a:prstGeom prst="rect">
            <a:avLst/>
          </a:prstGeom>
          <a:noFill/>
          <a:ln/>
        </p:spPr>
        <p:txBody>
          <a:bodyPr wrap="square" lIns="0" tIns="0" rIns="0" bIns="0" rtlCol="0" anchor="t"/>
          <a:lstStyle/>
          <a:p>
            <a:pPr rtl="1" algn="r" indent="0" marL="0">
              <a:buNone/>
            </a:pPr>
            <a:r>
              <a:rPr lang="ar-EG" altLang="en-US" sz="2800" b="1" dirty="0">
                <a:solidFill>
                  <a:schemeClr val="accent4"/>
                </a:solidFill>
              </a:rPr>
              <a:t>التواصل الفعّال</a:t>
            </a:r>
            <a:endParaRPr lang="ar-EG" sz="2800" dirty="0"/>
          </a:p>
        </p:txBody>
      </p:sp>
      <p:sp>
        <p:nvSpPr>
          <p:cNvPr id="5" name="Text 0"/>
          <p:cNvSpPr/>
          <p:nvPr>
            <p:ph idx="103" type="body" hasCustomPrompt="1"/>
          </p:nvPr>
        </p:nvSpPr>
        <p:spPr>
          <a:xfrm>
            <a:off x="640080" y="5074920"/>
            <a:ext cx="6949440" cy="822960"/>
          </a:xfrm>
          <a:prstGeom prst="rect">
            <a:avLst/>
          </a:prstGeom>
          <a:noFill/>
          <a:ln/>
        </p:spPr>
        <p:txBody>
          <a:bodyPr wrap="square" lIns="0" tIns="0" rIns="0" bIns="0" rtlCol="0" anchor="t"/>
          <a:lstStyle/>
          <a:p>
            <a:pPr algn="l" indent="0" marL="0">
              <a:buNone/>
            </a:pPr>
            <a:r>
              <a:rPr lang="en-US" sz="1500" dirty="0">
                <a:solidFill>
                  <a:schemeClr val="accent4"/>
                </a:solidFill>
              </a:rPr>
              <a:t>The right message, to the right partner, at the right moment</a:t>
            </a:r>
            <a:endParaRPr lang="en-US" sz="1500" dirty="0"/>
          </a:p>
        </p:txBody>
      </p:sp>
      <p:sp>
        <p:nvSpPr>
          <p:cNvPr id="6" name="sec-circle"/>
          <p:cNvSpPr/>
          <p:nvPr/>
        </p:nvSpPr>
        <p:spPr>
          <a:xfrm>
            <a:off x="8229600" y="1463040"/>
            <a:ext cx="3566160" cy="3566160"/>
          </a:xfrm>
          <a:prstGeom prst="ellipse">
            <a:avLst/>
          </a:prstGeom>
          <a:solidFill>
            <a:schemeClr val="accent1"/>
          </a:solidFill>
          <a:ln w="12700">
            <a:solidFill>
              <a:schemeClr val="accent1"/>
            </a:solidFill>
            <a:prstDash val="solid"/>
          </a:ln>
        </p:spPr>
      </p:sp>
      <p:pic>
        <p:nvPicPr>
          <p:cNvPr id="7" name="sec-icon" descr="preencoded.png">    </p:cNvPr>
          <p:cNvPicPr>
            <a:picLocks noChangeAspect="1"/>
          </p:cNvPicPr>
          <p:nvPr/>
        </p:nvPicPr>
        <p:blipFill>
          <a:blip r:embed="rId1"/>
          <a:stretch>
            <a:fillRect/>
          </a:stretch>
        </p:blipFill>
        <p:spPr>
          <a:xfrm>
            <a:off x="9235440" y="2468880"/>
            <a:ext cx="1554480" cy="1554480"/>
          </a:xfrm>
          <a:prstGeom prst="rect">
            <a:avLst/>
          </a:prstGeom>
        </p:spPr>
      </p:pic>
      <p:pic>
        <p:nvPicPr>
          <p:cNvPr id="8" name="sec-logo" descr="preencoded.png">    </p:cNvPr>
          <p:cNvPicPr>
            <a:picLocks noChangeAspect="1"/>
          </p:cNvPicPr>
          <p:nvPr/>
        </p:nvPicPr>
        <p:blipFill>
          <a:blip r:embed="rId2"/>
          <a:stretch>
            <a:fillRect/>
          </a:stretch>
        </p:blipFill>
        <p:spPr>
          <a:xfrm>
            <a:off x="11076127" y="365760"/>
            <a:ext cx="566928" cy="56692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Communication Touchpoints Across Every Shift</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نقاط التواصل خلال كل شفت</a:t>
            </a:r>
            <a:endParaRPr lang="ar-EG" sz="2000" dirty="0"/>
          </a:p>
        </p:txBody>
      </p:sp>
      <p:sp>
        <p:nvSpPr>
          <p:cNvPr id="4" name="timeline"/>
          <p:cNvSpPr/>
          <p:nvPr/>
        </p:nvSpPr>
        <p:spPr>
          <a:xfrm>
            <a:off x="1658082" y="2395728"/>
            <a:ext cx="8875532" cy="0"/>
          </a:xfrm>
          <a:prstGeom prst="line">
            <a:avLst/>
          </a:prstGeom>
          <a:noFill/>
          <a:ln w="38100">
            <a:solidFill>
              <a:schemeClr val="accent4"/>
            </a:solidFill>
            <a:prstDash val="solid"/>
          </a:ln>
        </p:spPr>
      </p:sp>
      <p:sp>
        <p:nvSpPr>
          <p:cNvPr id="5" name="icon-bg-157"/>
          <p:cNvSpPr/>
          <p:nvPr/>
        </p:nvSpPr>
        <p:spPr>
          <a:xfrm>
            <a:off x="1200882" y="1938528"/>
            <a:ext cx="914400" cy="914400"/>
          </a:xfrm>
          <a:prstGeom prst="ellipse">
            <a:avLst/>
          </a:prstGeom>
          <a:solidFill>
            <a:schemeClr val="accent1"/>
          </a:solidFill>
          <a:ln w="12700">
            <a:solidFill>
              <a:schemeClr val="accent1"/>
            </a:solidFill>
            <a:prstDash val="solid"/>
          </a:ln>
        </p:spPr>
      </p:sp>
      <p:pic>
        <p:nvPicPr>
          <p:cNvPr id="6" name="icon-158" descr="preencoded.png">    </p:cNvPr>
          <p:cNvPicPr>
            <a:picLocks noChangeAspect="1"/>
          </p:cNvPicPr>
          <p:nvPr/>
        </p:nvPicPr>
        <p:blipFill>
          <a:blip r:embed="rId1"/>
          <a:stretch>
            <a:fillRect/>
          </a:stretch>
        </p:blipFill>
        <p:spPr>
          <a:xfrm>
            <a:off x="1402050" y="2139696"/>
            <a:ext cx="512064" cy="512064"/>
          </a:xfrm>
          <a:prstGeom prst="rect">
            <a:avLst/>
          </a:prstGeom>
        </p:spPr>
      </p:pic>
      <p:sp>
        <p:nvSpPr>
          <p:cNvPr id="7" name="card-159"/>
          <p:cNvSpPr/>
          <p:nvPr/>
        </p:nvSpPr>
        <p:spPr>
          <a:xfrm>
            <a:off x="640080" y="3154680"/>
            <a:ext cx="2036003" cy="297180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8" name="text-160"/>
          <p:cNvSpPr txBox="1"/>
          <p:nvPr/>
        </p:nvSpPr>
        <p:spPr>
          <a:xfrm>
            <a:off x="804672" y="3337560"/>
            <a:ext cx="1706819" cy="2697480"/>
          </a:xfrm>
          <a:prstGeom prst="rect">
            <a:avLst/>
          </a:prstGeom>
          <a:noFill/>
          <a:ln/>
        </p:spPr>
        <p:txBody>
          <a:bodyPr wrap="square" lIns="0" tIns="0" rIns="0" bIns="0" rtlCol="0" anchor="t"/>
          <a:lstStyle/>
          <a:p>
            <a:pPr algn="l" indent="0" marL="0">
              <a:spcAft>
                <a:spcPts val="200"/>
              </a:spcAft>
              <a:buNone/>
            </a:pPr>
            <a:r>
              <a:rPr lang="en-US" sz="1700" b="1" dirty="0">
                <a:solidFill>
                  <a:schemeClr val="tx1"/>
                </a:solidFill>
              </a:rPr>
              <a:t>Before</a:t>
            </a:r>
            <a:endParaRPr lang="en-US" sz="1700" dirty="0"/>
          </a:p>
          <a:p>
            <a:pPr algn="l" indent="0" marL="0">
              <a:spcAft>
                <a:spcPts val="600"/>
              </a:spcAft>
              <a:buNone/>
            </a:pPr>
            <a:r>
              <a:rPr lang="en-US" sz="1400" dirty="0">
                <a:solidFill>
                  <a:schemeClr val="tx1"/>
                </a:solidFill>
              </a:rPr>
              <a:t>Read Partner Hub, weekly update &amp; Now Brewing</a:t>
            </a:r>
            <a:endParaRPr lang="en-US" sz="1700" dirty="0"/>
          </a:p>
          <a:p>
            <a:pPr rtl="1" algn="r" indent="0" marL="0">
              <a:spcAft>
                <a:spcPts val="200"/>
              </a:spcAft>
              <a:buNone/>
            </a:pPr>
            <a:r>
              <a:rPr lang="ar-EG" altLang="en-US" sz="1700" b="1" dirty="0">
                <a:solidFill>
                  <a:schemeClr val="tx2"/>
                </a:solidFill>
              </a:rPr>
              <a:t>قبل الشفت</a:t>
            </a:r>
            <a:endParaRPr lang="en-US" sz="1700" dirty="0"/>
          </a:p>
          <a:p>
            <a:pPr rtl="1" algn="r" indent="0" marL="0">
              <a:buNone/>
            </a:pPr>
            <a:r>
              <a:rPr lang="ar-EG" altLang="en-US" sz="1400" dirty="0">
                <a:solidFill>
                  <a:schemeClr val="tx1"/>
                </a:solidFill>
              </a:rPr>
              <a:t>اقرأ Partner Hub والتحديث الأسبوعي</a:t>
            </a:r>
            <a:endParaRPr lang="en-US" sz="1700" dirty="0"/>
          </a:p>
        </p:txBody>
      </p:sp>
      <p:sp>
        <p:nvSpPr>
          <p:cNvPr id="9" name="icon-bg-161"/>
          <p:cNvSpPr/>
          <p:nvPr/>
        </p:nvSpPr>
        <p:spPr>
          <a:xfrm>
            <a:off x="3419765" y="1938528"/>
            <a:ext cx="914400" cy="914400"/>
          </a:xfrm>
          <a:prstGeom prst="ellipse">
            <a:avLst/>
          </a:prstGeom>
          <a:solidFill>
            <a:schemeClr val="tx1"/>
          </a:solidFill>
          <a:ln w="12700">
            <a:solidFill>
              <a:schemeClr val="tx1"/>
            </a:solidFill>
            <a:prstDash val="solid"/>
          </a:ln>
        </p:spPr>
      </p:sp>
      <p:pic>
        <p:nvPicPr>
          <p:cNvPr id="10" name="icon-162" descr="preencoded.png">    </p:cNvPr>
          <p:cNvPicPr>
            <a:picLocks noChangeAspect="1"/>
          </p:cNvPicPr>
          <p:nvPr/>
        </p:nvPicPr>
        <p:blipFill>
          <a:blip r:embed="rId2"/>
          <a:stretch>
            <a:fillRect/>
          </a:stretch>
        </p:blipFill>
        <p:spPr>
          <a:xfrm>
            <a:off x="3620933" y="2139696"/>
            <a:ext cx="512064" cy="512064"/>
          </a:xfrm>
          <a:prstGeom prst="rect">
            <a:avLst/>
          </a:prstGeom>
        </p:spPr>
      </p:pic>
      <p:sp>
        <p:nvSpPr>
          <p:cNvPr id="11" name="card-163"/>
          <p:cNvSpPr/>
          <p:nvPr/>
        </p:nvSpPr>
        <p:spPr>
          <a:xfrm>
            <a:off x="2858963" y="3154680"/>
            <a:ext cx="2036003" cy="297180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2" name="text-164"/>
          <p:cNvSpPr txBox="1"/>
          <p:nvPr/>
        </p:nvSpPr>
        <p:spPr>
          <a:xfrm>
            <a:off x="3023555" y="3337560"/>
            <a:ext cx="1706819" cy="2697480"/>
          </a:xfrm>
          <a:prstGeom prst="rect">
            <a:avLst/>
          </a:prstGeom>
          <a:noFill/>
          <a:ln/>
        </p:spPr>
        <p:txBody>
          <a:bodyPr wrap="square" lIns="0" tIns="0" rIns="0" bIns="0" rtlCol="0" anchor="t"/>
          <a:lstStyle/>
          <a:p>
            <a:pPr algn="l" indent="0" marL="0">
              <a:spcAft>
                <a:spcPts val="200"/>
              </a:spcAft>
              <a:buNone/>
            </a:pPr>
            <a:r>
              <a:rPr lang="en-US" sz="1700" b="1" dirty="0">
                <a:solidFill>
                  <a:schemeClr val="tx1"/>
                </a:solidFill>
              </a:rPr>
              <a:t>Check-in</a:t>
            </a:r>
            <a:endParaRPr lang="en-US" sz="1700" dirty="0"/>
          </a:p>
          <a:p>
            <a:pPr algn="l" indent="0" marL="0">
              <a:spcAft>
                <a:spcPts val="600"/>
              </a:spcAft>
              <a:buNone/>
            </a:pPr>
            <a:r>
              <a:rPr lang="en-US" sz="1400" dirty="0">
                <a:solidFill>
                  <a:schemeClr val="tx1"/>
                </a:solidFill>
              </a:rPr>
              <a:t>Quick Connect with each partner as they arrive</a:t>
            </a:r>
            <a:endParaRPr lang="en-US" sz="1700" dirty="0"/>
          </a:p>
          <a:p>
            <a:pPr rtl="1" algn="r" indent="0" marL="0">
              <a:spcAft>
                <a:spcPts val="200"/>
              </a:spcAft>
              <a:buNone/>
            </a:pPr>
            <a:r>
              <a:rPr lang="ar-EG" altLang="en-US" sz="1700" b="1" dirty="0">
                <a:solidFill>
                  <a:schemeClr val="tx2"/>
                </a:solidFill>
              </a:rPr>
              <a:t>عند الحضور</a:t>
            </a:r>
            <a:endParaRPr lang="en-US" sz="1700" dirty="0"/>
          </a:p>
          <a:p>
            <a:pPr rtl="1" algn="r" indent="0" marL="0">
              <a:buNone/>
            </a:pPr>
            <a:r>
              <a:rPr lang="ar-EG" altLang="en-US" sz="1400" dirty="0">
                <a:solidFill>
                  <a:schemeClr val="tx1"/>
                </a:solidFill>
              </a:rPr>
              <a:t>اجتماع سريع مع كل شريك عند وصوله</a:t>
            </a:r>
            <a:endParaRPr lang="en-US" sz="1700" dirty="0"/>
          </a:p>
        </p:txBody>
      </p:sp>
      <p:sp>
        <p:nvSpPr>
          <p:cNvPr id="13" name="icon-bg-165"/>
          <p:cNvSpPr/>
          <p:nvPr/>
        </p:nvSpPr>
        <p:spPr>
          <a:xfrm>
            <a:off x="5638648" y="1938528"/>
            <a:ext cx="914400" cy="914400"/>
          </a:xfrm>
          <a:prstGeom prst="ellipse">
            <a:avLst/>
          </a:prstGeom>
          <a:solidFill>
            <a:schemeClr val="accent1"/>
          </a:solidFill>
          <a:ln w="12700">
            <a:solidFill>
              <a:schemeClr val="accent1"/>
            </a:solidFill>
            <a:prstDash val="solid"/>
          </a:ln>
        </p:spPr>
      </p:sp>
      <p:pic>
        <p:nvPicPr>
          <p:cNvPr id="14" name="icon-166" descr="preencoded.png">    </p:cNvPr>
          <p:cNvPicPr>
            <a:picLocks noChangeAspect="1"/>
          </p:cNvPicPr>
          <p:nvPr/>
        </p:nvPicPr>
        <p:blipFill>
          <a:blip r:embed="rId3"/>
          <a:stretch>
            <a:fillRect/>
          </a:stretch>
        </p:blipFill>
        <p:spPr>
          <a:xfrm>
            <a:off x="5839816" y="2139696"/>
            <a:ext cx="512064" cy="512064"/>
          </a:xfrm>
          <a:prstGeom prst="rect">
            <a:avLst/>
          </a:prstGeom>
        </p:spPr>
      </p:pic>
      <p:sp>
        <p:nvSpPr>
          <p:cNvPr id="15" name="card-167"/>
          <p:cNvSpPr/>
          <p:nvPr/>
        </p:nvSpPr>
        <p:spPr>
          <a:xfrm>
            <a:off x="5077846" y="3154680"/>
            <a:ext cx="2036003" cy="297180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6" name="text-168"/>
          <p:cNvSpPr txBox="1"/>
          <p:nvPr/>
        </p:nvSpPr>
        <p:spPr>
          <a:xfrm>
            <a:off x="5242438" y="3337560"/>
            <a:ext cx="1706819" cy="2697480"/>
          </a:xfrm>
          <a:prstGeom prst="rect">
            <a:avLst/>
          </a:prstGeom>
          <a:noFill/>
          <a:ln/>
        </p:spPr>
        <p:txBody>
          <a:bodyPr wrap="square" lIns="0" tIns="0" rIns="0" bIns="0" rtlCol="0" anchor="t"/>
          <a:lstStyle/>
          <a:p>
            <a:pPr algn="l" indent="0" marL="0">
              <a:spcAft>
                <a:spcPts val="200"/>
              </a:spcAft>
              <a:buNone/>
            </a:pPr>
            <a:r>
              <a:rPr lang="en-US" sz="1700" b="1" dirty="0">
                <a:solidFill>
                  <a:schemeClr val="tx1"/>
                </a:solidFill>
              </a:rPr>
              <a:t>During</a:t>
            </a:r>
            <a:endParaRPr lang="en-US" sz="1700" dirty="0"/>
          </a:p>
          <a:p>
            <a:pPr algn="l" indent="0" marL="0">
              <a:spcAft>
                <a:spcPts val="600"/>
              </a:spcAft>
              <a:buNone/>
            </a:pPr>
            <a:r>
              <a:rPr lang="en-US" sz="1400" dirty="0">
                <a:solidFill>
                  <a:schemeClr val="tx1"/>
                </a:solidFill>
              </a:rPr>
              <a:t>Call positions, give real-time coaching &amp; praise</a:t>
            </a:r>
            <a:endParaRPr lang="en-US" sz="1700" dirty="0"/>
          </a:p>
          <a:p>
            <a:pPr rtl="1" algn="r" indent="0" marL="0">
              <a:spcAft>
                <a:spcPts val="200"/>
              </a:spcAft>
              <a:buNone/>
            </a:pPr>
            <a:r>
              <a:rPr lang="ar-EG" altLang="en-US" sz="1700" b="1" dirty="0">
                <a:solidFill>
                  <a:schemeClr val="tx2"/>
                </a:solidFill>
              </a:rPr>
              <a:t>أثناء الشفت</a:t>
            </a:r>
            <a:endParaRPr lang="en-US" sz="1700" dirty="0"/>
          </a:p>
          <a:p>
            <a:pPr rtl="1" algn="r" indent="0" marL="0">
              <a:buNone/>
            </a:pPr>
            <a:r>
              <a:rPr lang="ar-EG" altLang="en-US" sz="1400" dirty="0">
                <a:solidFill>
                  <a:schemeClr val="tx1"/>
                </a:solidFill>
              </a:rPr>
              <a:t>وزّع المواقع ووجّه وامدح لحظياً</a:t>
            </a:r>
            <a:endParaRPr lang="en-US" sz="1700" dirty="0"/>
          </a:p>
        </p:txBody>
      </p:sp>
      <p:sp>
        <p:nvSpPr>
          <p:cNvPr id="17" name="icon-bg-169"/>
          <p:cNvSpPr/>
          <p:nvPr/>
        </p:nvSpPr>
        <p:spPr>
          <a:xfrm>
            <a:off x="7857531" y="1938528"/>
            <a:ext cx="914400" cy="914400"/>
          </a:xfrm>
          <a:prstGeom prst="ellipse">
            <a:avLst/>
          </a:prstGeom>
          <a:solidFill>
            <a:schemeClr val="tx1"/>
          </a:solidFill>
          <a:ln w="12700">
            <a:solidFill>
              <a:schemeClr val="tx1"/>
            </a:solidFill>
            <a:prstDash val="solid"/>
          </a:ln>
        </p:spPr>
      </p:sp>
      <p:pic>
        <p:nvPicPr>
          <p:cNvPr id="18" name="icon-170" descr="preencoded.png">    </p:cNvPr>
          <p:cNvPicPr>
            <a:picLocks noChangeAspect="1"/>
          </p:cNvPicPr>
          <p:nvPr/>
        </p:nvPicPr>
        <p:blipFill>
          <a:blip r:embed="rId4"/>
          <a:stretch>
            <a:fillRect/>
          </a:stretch>
        </p:blipFill>
        <p:spPr>
          <a:xfrm>
            <a:off x="8058699" y="2139696"/>
            <a:ext cx="512064" cy="512064"/>
          </a:xfrm>
          <a:prstGeom prst="rect">
            <a:avLst/>
          </a:prstGeom>
        </p:spPr>
      </p:pic>
      <p:sp>
        <p:nvSpPr>
          <p:cNvPr id="19" name="card-171"/>
          <p:cNvSpPr/>
          <p:nvPr/>
        </p:nvSpPr>
        <p:spPr>
          <a:xfrm>
            <a:off x="7296729" y="3154680"/>
            <a:ext cx="2036003" cy="297180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0" name="text-172"/>
          <p:cNvSpPr txBox="1"/>
          <p:nvPr/>
        </p:nvSpPr>
        <p:spPr>
          <a:xfrm>
            <a:off x="7461321" y="3337560"/>
            <a:ext cx="1706819" cy="2697480"/>
          </a:xfrm>
          <a:prstGeom prst="rect">
            <a:avLst/>
          </a:prstGeom>
          <a:noFill/>
          <a:ln/>
        </p:spPr>
        <p:txBody>
          <a:bodyPr wrap="square" lIns="0" tIns="0" rIns="0" bIns="0" rtlCol="0" anchor="t"/>
          <a:lstStyle/>
          <a:p>
            <a:pPr algn="l" indent="0" marL="0">
              <a:spcAft>
                <a:spcPts val="200"/>
              </a:spcAft>
              <a:buNone/>
            </a:pPr>
            <a:r>
              <a:rPr lang="en-US" sz="1700" b="1" dirty="0">
                <a:solidFill>
                  <a:schemeClr val="tx1"/>
                </a:solidFill>
              </a:rPr>
              <a:t>Hand-off</a:t>
            </a:r>
            <a:endParaRPr lang="en-US" sz="1700" dirty="0"/>
          </a:p>
          <a:p>
            <a:pPr algn="l" indent="0" marL="0">
              <a:spcAft>
                <a:spcPts val="600"/>
              </a:spcAft>
              <a:buNone/>
            </a:pPr>
            <a:r>
              <a:rPr lang="en-US" sz="1400" dirty="0">
                <a:solidFill>
                  <a:schemeClr val="tx1"/>
                </a:solidFill>
              </a:rPr>
              <a:t>Write key info on the Daily Plan for the next shift</a:t>
            </a:r>
            <a:endParaRPr lang="en-US" sz="1700" dirty="0"/>
          </a:p>
          <a:p>
            <a:pPr rtl="1" algn="r" indent="0" marL="0">
              <a:spcAft>
                <a:spcPts val="200"/>
              </a:spcAft>
              <a:buNone/>
            </a:pPr>
            <a:r>
              <a:rPr lang="ar-EG" altLang="en-US" sz="1700" b="1" dirty="0">
                <a:solidFill>
                  <a:schemeClr val="tx2"/>
                </a:solidFill>
              </a:rPr>
              <a:t>التسليم</a:t>
            </a:r>
            <a:endParaRPr lang="en-US" sz="1700" dirty="0"/>
          </a:p>
          <a:p>
            <a:pPr rtl="1" algn="r" indent="0" marL="0">
              <a:buNone/>
            </a:pPr>
            <a:r>
              <a:rPr lang="ar-EG" altLang="en-US" sz="1400" dirty="0">
                <a:solidFill>
                  <a:schemeClr val="tx1"/>
                </a:solidFill>
              </a:rPr>
              <a:t>دوّن المهم في الخطة اليومية للشفت التالي</a:t>
            </a:r>
            <a:endParaRPr lang="en-US" sz="1700" dirty="0"/>
          </a:p>
        </p:txBody>
      </p:sp>
      <p:sp>
        <p:nvSpPr>
          <p:cNvPr id="21" name="icon-bg-173"/>
          <p:cNvSpPr/>
          <p:nvPr/>
        </p:nvSpPr>
        <p:spPr>
          <a:xfrm>
            <a:off x="10076414" y="1938528"/>
            <a:ext cx="914400" cy="914400"/>
          </a:xfrm>
          <a:prstGeom prst="ellipse">
            <a:avLst/>
          </a:prstGeom>
          <a:solidFill>
            <a:schemeClr val="accent1"/>
          </a:solidFill>
          <a:ln w="12700">
            <a:solidFill>
              <a:schemeClr val="accent1"/>
            </a:solidFill>
            <a:prstDash val="solid"/>
          </a:ln>
        </p:spPr>
      </p:sp>
      <p:pic>
        <p:nvPicPr>
          <p:cNvPr id="22" name="icon-174" descr="preencoded.png">    </p:cNvPr>
          <p:cNvPicPr>
            <a:picLocks noChangeAspect="1"/>
          </p:cNvPicPr>
          <p:nvPr/>
        </p:nvPicPr>
        <p:blipFill>
          <a:blip r:embed="rId5"/>
          <a:stretch>
            <a:fillRect/>
          </a:stretch>
        </p:blipFill>
        <p:spPr>
          <a:xfrm>
            <a:off x="10277582" y="2139696"/>
            <a:ext cx="512064" cy="512064"/>
          </a:xfrm>
          <a:prstGeom prst="rect">
            <a:avLst/>
          </a:prstGeom>
        </p:spPr>
      </p:pic>
      <p:sp>
        <p:nvSpPr>
          <p:cNvPr id="23" name="card-175"/>
          <p:cNvSpPr/>
          <p:nvPr/>
        </p:nvSpPr>
        <p:spPr>
          <a:xfrm>
            <a:off x="9515612" y="3154680"/>
            <a:ext cx="2036003" cy="297180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4" name="text-176"/>
          <p:cNvSpPr txBox="1"/>
          <p:nvPr/>
        </p:nvSpPr>
        <p:spPr>
          <a:xfrm>
            <a:off x="9680204" y="3337560"/>
            <a:ext cx="1706819" cy="2697480"/>
          </a:xfrm>
          <a:prstGeom prst="rect">
            <a:avLst/>
          </a:prstGeom>
          <a:noFill/>
          <a:ln/>
        </p:spPr>
        <p:txBody>
          <a:bodyPr wrap="square" lIns="0" tIns="0" rIns="0" bIns="0" rtlCol="0" anchor="t"/>
          <a:lstStyle/>
          <a:p>
            <a:pPr algn="l" indent="0" marL="0">
              <a:spcAft>
                <a:spcPts val="200"/>
              </a:spcAft>
              <a:buNone/>
            </a:pPr>
            <a:r>
              <a:rPr lang="en-US" sz="1700" b="1" dirty="0">
                <a:solidFill>
                  <a:schemeClr val="tx1"/>
                </a:solidFill>
              </a:rPr>
              <a:t>Check-out</a:t>
            </a:r>
            <a:endParaRPr lang="en-US" sz="1700" dirty="0"/>
          </a:p>
          <a:p>
            <a:pPr algn="l" indent="0" marL="0">
              <a:spcAft>
                <a:spcPts val="600"/>
              </a:spcAft>
              <a:buNone/>
            </a:pPr>
            <a:r>
              <a:rPr lang="en-US" sz="1400" dirty="0">
                <a:solidFill>
                  <a:schemeClr val="tx1"/>
                </a:solidFill>
              </a:rPr>
              <a:t>Thank partners; update your Store Manager</a:t>
            </a:r>
            <a:endParaRPr lang="en-US" sz="1700" dirty="0"/>
          </a:p>
          <a:p>
            <a:pPr rtl="1" algn="r" indent="0" marL="0">
              <a:spcAft>
                <a:spcPts val="200"/>
              </a:spcAft>
              <a:buNone/>
            </a:pPr>
            <a:r>
              <a:rPr lang="ar-EG" altLang="en-US" sz="1700" b="1" dirty="0">
                <a:solidFill>
                  <a:schemeClr val="tx2"/>
                </a:solidFill>
              </a:rPr>
              <a:t>الانصراف</a:t>
            </a:r>
            <a:endParaRPr lang="en-US" sz="1700" dirty="0"/>
          </a:p>
          <a:p>
            <a:pPr rtl="1" algn="r" indent="0" marL="0">
              <a:buNone/>
            </a:pPr>
            <a:r>
              <a:rPr lang="ar-EG" altLang="en-US" sz="1400" dirty="0">
                <a:solidFill>
                  <a:schemeClr val="tx1"/>
                </a:solidFill>
              </a:rPr>
              <a:t>اشكر الفريق وأبلغ مدير المتجر</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Running a Great Quick Connect (2–3 minutes)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كيف تدير اجتماعاً سريعاً ناجحاً (٢–٣ دقائق)</a:t>
            </a:r>
            <a:endParaRPr lang="ar-EG" sz="2000" dirty="0"/>
          </a:p>
        </p:txBody>
      </p:sp>
      <p:sp>
        <p:nvSpPr>
          <p:cNvPr id="4" name="card-177"/>
          <p:cNvSpPr/>
          <p:nvPr/>
        </p:nvSpPr>
        <p:spPr>
          <a:xfrm>
            <a:off x="548640" y="1691640"/>
            <a:ext cx="6949440" cy="987552"/>
          </a:xfrm>
          <a:prstGeom prst="roundRect">
            <a:avLst>
              <a:gd name="adj" fmla="val 1111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step-178"/>
          <p:cNvSpPr/>
          <p:nvPr/>
        </p:nvSpPr>
        <p:spPr>
          <a:xfrm>
            <a:off x="749808" y="1865376"/>
            <a:ext cx="640080" cy="640080"/>
          </a:xfrm>
          <a:prstGeom prst="ellipse">
            <a:avLst/>
          </a:prstGeom>
          <a:solidFill>
            <a:schemeClr val="accent1"/>
          </a:solidFill>
          <a:ln w="12700">
            <a:solidFill>
              <a:schemeClr val="accent1"/>
            </a:solidFill>
            <a:prstDash val="solid"/>
          </a:ln>
        </p:spPr>
      </p:sp>
      <p:sp>
        <p:nvSpPr>
          <p:cNvPr id="6" name="text-179"/>
          <p:cNvSpPr txBox="1"/>
          <p:nvPr/>
        </p:nvSpPr>
        <p:spPr>
          <a:xfrm>
            <a:off x="749808" y="1865376"/>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180"/>
          <p:cNvSpPr txBox="1"/>
          <p:nvPr/>
        </p:nvSpPr>
        <p:spPr>
          <a:xfrm>
            <a:off x="1600200" y="1783080"/>
            <a:ext cx="3429000" cy="804672"/>
          </a:xfrm>
          <a:prstGeom prst="rect">
            <a:avLst/>
          </a:prstGeom>
          <a:noFill/>
          <a:ln/>
        </p:spPr>
        <p:txBody>
          <a:bodyPr wrap="square" lIns="0" tIns="0" rIns="0" bIns="0" rtlCol="0" anchor="ctr"/>
          <a:lstStyle/>
          <a:p>
            <a:pPr indent="0" marL="0">
              <a:buNone/>
            </a:pPr>
            <a:r>
              <a:rPr lang="en-US" sz="1600" b="1" dirty="0">
                <a:solidFill>
                  <a:schemeClr val="tx1"/>
                </a:solidFill>
              </a:rPr>
              <a:t>Connect</a:t>
            </a:r>
            <a:endParaRPr lang="en-US" sz="1600" dirty="0"/>
          </a:p>
          <a:p>
            <a:pPr indent="0" marL="0">
              <a:buNone/>
            </a:pPr>
            <a:r>
              <a:rPr lang="en-US" sz="1300" dirty="0">
                <a:solidFill>
                  <a:schemeClr val="tx1"/>
                </a:solidFill>
              </a:rPr>
              <a:t>Greet by name, check how they are, set a positive tone</a:t>
            </a:r>
            <a:endParaRPr lang="en-US" sz="1600" dirty="0"/>
          </a:p>
        </p:txBody>
      </p:sp>
      <p:sp>
        <p:nvSpPr>
          <p:cNvPr id="8" name="text-181"/>
          <p:cNvSpPr txBox="1"/>
          <p:nvPr/>
        </p:nvSpPr>
        <p:spPr>
          <a:xfrm>
            <a:off x="5074920" y="1783080"/>
            <a:ext cx="2240280" cy="804672"/>
          </a:xfrm>
          <a:prstGeom prst="rect">
            <a:avLst/>
          </a:prstGeom>
          <a:noFill/>
          <a:ln/>
        </p:spPr>
        <p:txBody>
          <a:bodyPr wrap="square" lIns="0" tIns="0" rIns="0" bIns="0" rtlCol="0" anchor="ctr"/>
          <a:lstStyle/>
          <a:p>
            <a:pPr rtl="1" algn="r" indent="0" marL="0">
              <a:buNone/>
            </a:pPr>
            <a:r>
              <a:rPr lang="ar-EG" altLang="en-US" sz="1600" b="1" dirty="0">
                <a:solidFill>
                  <a:schemeClr val="tx2"/>
                </a:solidFill>
              </a:rPr>
              <a:t>تواصَل</a:t>
            </a:r>
            <a:endParaRPr lang="en-US" sz="1600" dirty="0"/>
          </a:p>
          <a:p>
            <a:pPr rtl="1" algn="r" indent="0" marL="0">
              <a:buNone/>
            </a:pPr>
            <a:r>
              <a:rPr lang="ar-EG" altLang="en-US" sz="1300" dirty="0">
                <a:solidFill>
                  <a:schemeClr val="tx1"/>
                </a:solidFill>
              </a:rPr>
              <a:t>رحّب بالاسم واطمئن عليه وابدأ بطاقة إيجابية</a:t>
            </a:r>
            <a:endParaRPr lang="en-US" sz="1600" dirty="0"/>
          </a:p>
        </p:txBody>
      </p:sp>
      <p:sp>
        <p:nvSpPr>
          <p:cNvPr id="9" name="card-182"/>
          <p:cNvSpPr/>
          <p:nvPr/>
        </p:nvSpPr>
        <p:spPr>
          <a:xfrm>
            <a:off x="548640" y="2807208"/>
            <a:ext cx="6949440" cy="987552"/>
          </a:xfrm>
          <a:prstGeom prst="roundRect">
            <a:avLst>
              <a:gd name="adj" fmla="val 1111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0" name="step-183"/>
          <p:cNvSpPr/>
          <p:nvPr/>
        </p:nvSpPr>
        <p:spPr>
          <a:xfrm>
            <a:off x="749808" y="2980944"/>
            <a:ext cx="640080" cy="640080"/>
          </a:xfrm>
          <a:prstGeom prst="ellipse">
            <a:avLst/>
          </a:prstGeom>
          <a:solidFill>
            <a:schemeClr val="accent1"/>
          </a:solidFill>
          <a:ln w="12700">
            <a:solidFill>
              <a:schemeClr val="accent1"/>
            </a:solidFill>
            <a:prstDash val="solid"/>
          </a:ln>
        </p:spPr>
      </p:sp>
      <p:sp>
        <p:nvSpPr>
          <p:cNvPr id="11" name="text-184"/>
          <p:cNvSpPr txBox="1"/>
          <p:nvPr/>
        </p:nvSpPr>
        <p:spPr>
          <a:xfrm>
            <a:off x="749808" y="2980944"/>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text-185"/>
          <p:cNvSpPr txBox="1"/>
          <p:nvPr/>
        </p:nvSpPr>
        <p:spPr>
          <a:xfrm>
            <a:off x="1600200" y="2898648"/>
            <a:ext cx="3429000" cy="804672"/>
          </a:xfrm>
          <a:prstGeom prst="rect">
            <a:avLst/>
          </a:prstGeom>
          <a:noFill/>
          <a:ln/>
        </p:spPr>
        <p:txBody>
          <a:bodyPr wrap="square" lIns="0" tIns="0" rIns="0" bIns="0" rtlCol="0" anchor="ctr"/>
          <a:lstStyle/>
          <a:p>
            <a:pPr indent="0" marL="0">
              <a:buNone/>
            </a:pPr>
            <a:r>
              <a:rPr lang="en-US" sz="1600" b="1" dirty="0">
                <a:solidFill>
                  <a:schemeClr val="tx1"/>
                </a:solidFill>
              </a:rPr>
              <a:t>Inform</a:t>
            </a:r>
            <a:endParaRPr lang="en-US" sz="1600" dirty="0"/>
          </a:p>
          <a:p>
            <a:pPr indent="0" marL="0">
              <a:buNone/>
            </a:pPr>
            <a:r>
              <a:rPr lang="en-US" sz="1300" dirty="0">
                <a:solidFill>
                  <a:schemeClr val="tx1"/>
                </a:solidFill>
              </a:rPr>
              <a:t>Today's plan, position, break time, promotions &amp; launches</a:t>
            </a:r>
            <a:endParaRPr lang="en-US" sz="1600" dirty="0"/>
          </a:p>
        </p:txBody>
      </p:sp>
      <p:sp>
        <p:nvSpPr>
          <p:cNvPr id="13" name="text-186"/>
          <p:cNvSpPr txBox="1"/>
          <p:nvPr/>
        </p:nvSpPr>
        <p:spPr>
          <a:xfrm>
            <a:off x="5074920" y="2898648"/>
            <a:ext cx="2240280" cy="804672"/>
          </a:xfrm>
          <a:prstGeom prst="rect">
            <a:avLst/>
          </a:prstGeom>
          <a:noFill/>
          <a:ln/>
        </p:spPr>
        <p:txBody>
          <a:bodyPr wrap="square" lIns="0" tIns="0" rIns="0" bIns="0" rtlCol="0" anchor="ctr"/>
          <a:lstStyle/>
          <a:p>
            <a:pPr rtl="1" algn="r" indent="0" marL="0">
              <a:buNone/>
            </a:pPr>
            <a:r>
              <a:rPr lang="ar-EG" altLang="en-US" sz="1600" b="1" dirty="0">
                <a:solidFill>
                  <a:schemeClr val="tx2"/>
                </a:solidFill>
              </a:rPr>
              <a:t>أخبِر</a:t>
            </a:r>
            <a:endParaRPr lang="en-US" sz="1600" dirty="0"/>
          </a:p>
          <a:p>
            <a:pPr rtl="1" algn="r" indent="0" marL="0">
              <a:buNone/>
            </a:pPr>
            <a:r>
              <a:rPr lang="ar-EG" altLang="en-US" sz="1300" dirty="0">
                <a:solidFill>
                  <a:schemeClr val="tx1"/>
                </a:solidFill>
              </a:rPr>
              <a:t>خطة اليوم والموقع ووقت الاستراحة والعروض</a:t>
            </a:r>
            <a:endParaRPr lang="en-US" sz="1600" dirty="0"/>
          </a:p>
        </p:txBody>
      </p:sp>
      <p:sp>
        <p:nvSpPr>
          <p:cNvPr id="14" name="card-187"/>
          <p:cNvSpPr/>
          <p:nvPr/>
        </p:nvSpPr>
        <p:spPr>
          <a:xfrm>
            <a:off x="548640" y="3922776"/>
            <a:ext cx="6949440" cy="987552"/>
          </a:xfrm>
          <a:prstGeom prst="roundRect">
            <a:avLst>
              <a:gd name="adj" fmla="val 1111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5" name="step-188"/>
          <p:cNvSpPr/>
          <p:nvPr/>
        </p:nvSpPr>
        <p:spPr>
          <a:xfrm>
            <a:off x="749808" y="4096512"/>
            <a:ext cx="640080" cy="640080"/>
          </a:xfrm>
          <a:prstGeom prst="ellipse">
            <a:avLst/>
          </a:prstGeom>
          <a:solidFill>
            <a:schemeClr val="accent1"/>
          </a:solidFill>
          <a:ln w="12700">
            <a:solidFill>
              <a:schemeClr val="accent1"/>
            </a:solidFill>
            <a:prstDash val="solid"/>
          </a:ln>
        </p:spPr>
      </p:sp>
      <p:sp>
        <p:nvSpPr>
          <p:cNvPr id="16" name="text-189"/>
          <p:cNvSpPr txBox="1"/>
          <p:nvPr/>
        </p:nvSpPr>
        <p:spPr>
          <a:xfrm>
            <a:off x="749808" y="4096512"/>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7" name="text-190"/>
          <p:cNvSpPr txBox="1"/>
          <p:nvPr/>
        </p:nvSpPr>
        <p:spPr>
          <a:xfrm>
            <a:off x="1600200" y="4014216"/>
            <a:ext cx="3429000" cy="804672"/>
          </a:xfrm>
          <a:prstGeom prst="rect">
            <a:avLst/>
          </a:prstGeom>
          <a:noFill/>
          <a:ln/>
        </p:spPr>
        <p:txBody>
          <a:bodyPr wrap="square" lIns="0" tIns="0" rIns="0" bIns="0" rtlCol="0" anchor="ctr"/>
          <a:lstStyle/>
          <a:p>
            <a:pPr indent="0" marL="0">
              <a:buNone/>
            </a:pPr>
            <a:r>
              <a:rPr lang="en-US" sz="1600" b="1" dirty="0">
                <a:solidFill>
                  <a:schemeClr val="tx1"/>
                </a:solidFill>
              </a:rPr>
              <a:t>Focus</a:t>
            </a:r>
            <a:endParaRPr lang="en-US" sz="1600" dirty="0"/>
          </a:p>
          <a:p>
            <a:pPr indent="0" marL="0">
              <a:buNone/>
            </a:pPr>
            <a:r>
              <a:rPr lang="en-US" sz="1300" dirty="0">
                <a:solidFill>
                  <a:schemeClr val="tx1"/>
                </a:solidFill>
              </a:rPr>
              <a:t>One priority for the shift – e.g. connection at hand-off</a:t>
            </a:r>
            <a:endParaRPr lang="en-US" sz="1600" dirty="0"/>
          </a:p>
        </p:txBody>
      </p:sp>
      <p:sp>
        <p:nvSpPr>
          <p:cNvPr id="18" name="text-191"/>
          <p:cNvSpPr txBox="1"/>
          <p:nvPr/>
        </p:nvSpPr>
        <p:spPr>
          <a:xfrm>
            <a:off x="5074920" y="4014216"/>
            <a:ext cx="2240280" cy="804672"/>
          </a:xfrm>
          <a:prstGeom prst="rect">
            <a:avLst/>
          </a:prstGeom>
          <a:noFill/>
          <a:ln/>
        </p:spPr>
        <p:txBody>
          <a:bodyPr wrap="square" lIns="0" tIns="0" rIns="0" bIns="0" rtlCol="0" anchor="ctr"/>
          <a:lstStyle/>
          <a:p>
            <a:pPr rtl="1" algn="r" indent="0" marL="0">
              <a:buNone/>
            </a:pPr>
            <a:r>
              <a:rPr lang="ar-EG" altLang="en-US" sz="1600" b="1" dirty="0">
                <a:solidFill>
                  <a:schemeClr val="tx2"/>
                </a:solidFill>
              </a:rPr>
              <a:t>ركِّز</a:t>
            </a:r>
            <a:endParaRPr lang="en-US" sz="1600" dirty="0"/>
          </a:p>
          <a:p>
            <a:pPr rtl="1" algn="r" indent="0" marL="0">
              <a:buNone/>
            </a:pPr>
            <a:r>
              <a:rPr lang="ar-EG" altLang="en-US" sz="1300" dirty="0">
                <a:solidFill>
                  <a:schemeClr val="tx1"/>
                </a:solidFill>
              </a:rPr>
              <a:t>أولوية واحدة للشفت – مثل التواصل عند التسليم</a:t>
            </a:r>
            <a:endParaRPr lang="en-US" sz="1600" dirty="0"/>
          </a:p>
        </p:txBody>
      </p:sp>
      <p:sp>
        <p:nvSpPr>
          <p:cNvPr id="19" name="card-192"/>
          <p:cNvSpPr/>
          <p:nvPr/>
        </p:nvSpPr>
        <p:spPr>
          <a:xfrm>
            <a:off x="548640" y="5038344"/>
            <a:ext cx="6949440" cy="987552"/>
          </a:xfrm>
          <a:prstGeom prst="roundRect">
            <a:avLst>
              <a:gd name="adj" fmla="val 11111"/>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0" name="step-193"/>
          <p:cNvSpPr/>
          <p:nvPr/>
        </p:nvSpPr>
        <p:spPr>
          <a:xfrm>
            <a:off x="749808" y="5212080"/>
            <a:ext cx="640080" cy="640080"/>
          </a:xfrm>
          <a:prstGeom prst="ellipse">
            <a:avLst/>
          </a:prstGeom>
          <a:solidFill>
            <a:schemeClr val="accent1"/>
          </a:solidFill>
          <a:ln w="12700">
            <a:solidFill>
              <a:schemeClr val="accent1"/>
            </a:solidFill>
            <a:prstDash val="solid"/>
          </a:ln>
        </p:spPr>
      </p:sp>
      <p:sp>
        <p:nvSpPr>
          <p:cNvPr id="21" name="text-194"/>
          <p:cNvSpPr txBox="1"/>
          <p:nvPr/>
        </p:nvSpPr>
        <p:spPr>
          <a:xfrm>
            <a:off x="749808" y="52120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2" name="text-195"/>
          <p:cNvSpPr txBox="1"/>
          <p:nvPr/>
        </p:nvSpPr>
        <p:spPr>
          <a:xfrm>
            <a:off x="1600200" y="5129784"/>
            <a:ext cx="3429000" cy="804672"/>
          </a:xfrm>
          <a:prstGeom prst="rect">
            <a:avLst/>
          </a:prstGeom>
          <a:noFill/>
          <a:ln/>
        </p:spPr>
        <p:txBody>
          <a:bodyPr wrap="square" lIns="0" tIns="0" rIns="0" bIns="0" rtlCol="0" anchor="ctr"/>
          <a:lstStyle/>
          <a:p>
            <a:pPr indent="0" marL="0">
              <a:buNone/>
            </a:pPr>
            <a:r>
              <a:rPr lang="en-US" sz="1600" b="1" dirty="0">
                <a:solidFill>
                  <a:schemeClr val="tx1"/>
                </a:solidFill>
              </a:rPr>
              <a:t>Energise</a:t>
            </a:r>
            <a:endParaRPr lang="en-US" sz="1600" dirty="0"/>
          </a:p>
          <a:p>
            <a:pPr indent="0" marL="0">
              <a:buNone/>
            </a:pPr>
            <a:r>
              <a:rPr lang="en-US" sz="1300" dirty="0">
                <a:solidFill>
                  <a:schemeClr val="tx1"/>
                </a:solidFill>
              </a:rPr>
              <a:t>Recognise a recent win; share a coffee or craft moment</a:t>
            </a:r>
            <a:endParaRPr lang="en-US" sz="1600" dirty="0"/>
          </a:p>
        </p:txBody>
      </p:sp>
      <p:sp>
        <p:nvSpPr>
          <p:cNvPr id="23" name="text-196"/>
          <p:cNvSpPr txBox="1"/>
          <p:nvPr/>
        </p:nvSpPr>
        <p:spPr>
          <a:xfrm>
            <a:off x="5074920" y="5129784"/>
            <a:ext cx="2240280" cy="804672"/>
          </a:xfrm>
          <a:prstGeom prst="rect">
            <a:avLst/>
          </a:prstGeom>
          <a:noFill/>
          <a:ln/>
        </p:spPr>
        <p:txBody>
          <a:bodyPr wrap="square" lIns="0" tIns="0" rIns="0" bIns="0" rtlCol="0" anchor="ctr"/>
          <a:lstStyle/>
          <a:p>
            <a:pPr rtl="1" algn="r" indent="0" marL="0">
              <a:buNone/>
            </a:pPr>
            <a:r>
              <a:rPr lang="ar-EG" altLang="en-US" sz="1600" b="1" dirty="0">
                <a:solidFill>
                  <a:schemeClr val="tx2"/>
                </a:solidFill>
              </a:rPr>
              <a:t>حفِّز</a:t>
            </a:r>
            <a:endParaRPr lang="en-US" sz="1600" dirty="0"/>
          </a:p>
          <a:p>
            <a:pPr rtl="1" algn="r" indent="0" marL="0">
              <a:buNone/>
            </a:pPr>
            <a:r>
              <a:rPr lang="ar-EG" altLang="en-US" sz="1300" dirty="0">
                <a:solidFill>
                  <a:schemeClr val="tx1"/>
                </a:solidFill>
              </a:rPr>
              <a:t>قدّر إنجازاً حديثاً وشارك معلومة عن القهوة</a:t>
            </a:r>
            <a:endParaRPr lang="en-US" sz="1600" dirty="0"/>
          </a:p>
        </p:txBody>
      </p:sp>
      <p:sp>
        <p:nvSpPr>
          <p:cNvPr id="24" name="card-197"/>
          <p:cNvSpPr/>
          <p:nvPr/>
        </p:nvSpPr>
        <p:spPr>
          <a:xfrm>
            <a:off x="7863840" y="1691640"/>
            <a:ext cx="3779215" cy="4343400"/>
          </a:xfrm>
          <a:prstGeom prst="roundRect">
            <a:avLst>
              <a:gd name="adj" fmla="val 2903"/>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25" name="icon-bg-198"/>
          <p:cNvSpPr/>
          <p:nvPr/>
        </p:nvSpPr>
        <p:spPr>
          <a:xfrm>
            <a:off x="8138160" y="1965960"/>
            <a:ext cx="640080" cy="640080"/>
          </a:xfrm>
          <a:prstGeom prst="ellipse">
            <a:avLst/>
          </a:prstGeom>
          <a:solidFill>
            <a:schemeClr val="accent3"/>
          </a:solidFill>
          <a:ln w="12700">
            <a:solidFill>
              <a:schemeClr val="accent3"/>
            </a:solidFill>
            <a:prstDash val="solid"/>
          </a:ln>
        </p:spPr>
      </p:sp>
      <p:pic>
        <p:nvPicPr>
          <p:cNvPr id="26" name="icon-199" descr="preencoded.png">    </p:cNvPr>
          <p:cNvPicPr>
            <a:picLocks noChangeAspect="1"/>
          </p:cNvPicPr>
          <p:nvPr/>
        </p:nvPicPr>
        <p:blipFill>
          <a:blip r:embed="rId1"/>
          <a:stretch>
            <a:fillRect/>
          </a:stretch>
        </p:blipFill>
        <p:spPr>
          <a:xfrm>
            <a:off x="8278978" y="2106778"/>
            <a:ext cx="358445" cy="358445"/>
          </a:xfrm>
          <a:prstGeom prst="rect">
            <a:avLst/>
          </a:prstGeom>
        </p:spPr>
      </p:pic>
      <p:sp>
        <p:nvSpPr>
          <p:cNvPr id="27" name="text-200"/>
          <p:cNvSpPr txBox="1"/>
          <p:nvPr/>
        </p:nvSpPr>
        <p:spPr>
          <a:xfrm>
            <a:off x="8138160" y="2788920"/>
            <a:ext cx="3230575" cy="3108960"/>
          </a:xfrm>
          <a:prstGeom prst="rect">
            <a:avLst/>
          </a:prstGeom>
          <a:noFill/>
          <a:ln/>
        </p:spPr>
        <p:txBody>
          <a:bodyPr wrap="square" lIns="0" tIns="0" rIns="0" bIns="0" rtlCol="0" anchor="t"/>
          <a:lstStyle/>
          <a:p>
            <a:pPr indent="0" marL="0">
              <a:spcAft>
                <a:spcPts val="800"/>
              </a:spcAft>
              <a:buNone/>
            </a:pPr>
            <a:r>
              <a:rPr lang="en-US" sz="1600" b="1" dirty="0">
                <a:solidFill>
                  <a:schemeClr val="bg1"/>
                </a:solidFill>
              </a:rPr>
              <a:t>Tips that make it stick</a:t>
            </a:r>
            <a:endParaRPr lang="en-US" sz="1600" dirty="0"/>
          </a:p>
          <a:p>
            <a:pPr marL="177800" indent="-177800">
              <a:buSzPct val="100000"/>
              <a:buChar char="•"/>
            </a:pPr>
            <a:r>
              <a:rPr lang="en-US" sz="1300" dirty="0">
                <a:solidFill>
                  <a:schemeClr val="bg1"/>
                </a:solidFill>
              </a:rPr>
              <a:t>Keep it short and standing</a:t>
            </a:r>
            <a:endParaRPr lang="en-US" sz="1600" dirty="0"/>
          </a:p>
          <a:p>
            <a:pPr marL="177800" indent="-177800">
              <a:buSzPct val="100000"/>
              <a:buChar char="•"/>
            </a:pPr>
            <a:r>
              <a:rPr lang="en-US" sz="1300" dirty="0">
                <a:solidFill>
                  <a:schemeClr val="bg1"/>
                </a:solidFill>
              </a:rPr>
              <a:t>One message, not ten</a:t>
            </a:r>
            <a:endParaRPr lang="en-US" sz="1600" dirty="0"/>
          </a:p>
          <a:p>
            <a:pPr marL="177800" indent="-177800">
              <a:spcAft>
                <a:spcPts val="1000"/>
              </a:spcAft>
              <a:buSzPct val="100000"/>
              <a:buChar char="•"/>
            </a:pPr>
            <a:r>
              <a:rPr lang="en-US" sz="1300" dirty="0">
                <a:solidFill>
                  <a:schemeClr val="bg1"/>
                </a:solidFill>
              </a:rPr>
              <a:t>Ask: “What do you need from me?”</a:t>
            </a:r>
            <a:endParaRPr lang="en-US" sz="1600" dirty="0"/>
          </a:p>
          <a:p>
            <a:pPr rtl="1" algn="r" indent="0" marL="0">
              <a:buNone/>
            </a:pPr>
            <a:r>
              <a:rPr lang="ar-EG" altLang="en-US" sz="1300" dirty="0">
                <a:solidFill>
                  <a:schemeClr val="accent4"/>
                </a:solidFill>
              </a:rPr>
              <a:t>اجعله قصيراً ووقوفاً · رسالة واحدة لا عشر · اسأل: ماذا تحتاج مني؟</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Listen to Understand: Active Listening</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أنصت لتفهم: الإنصات الفعّال</a:t>
            </a:r>
            <a:endParaRPr lang="ar-EG" sz="2000" dirty="0"/>
          </a:p>
        </p:txBody>
      </p:sp>
      <p:sp>
        <p:nvSpPr>
          <p:cNvPr id="4" name="card-201"/>
          <p:cNvSpPr/>
          <p:nvPr/>
        </p:nvSpPr>
        <p:spPr>
          <a:xfrm>
            <a:off x="548640" y="1691640"/>
            <a:ext cx="2036003" cy="324612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202"/>
          <p:cNvSpPr/>
          <p:nvPr/>
        </p:nvSpPr>
        <p:spPr>
          <a:xfrm>
            <a:off x="777240" y="1920240"/>
            <a:ext cx="640080" cy="640080"/>
          </a:xfrm>
          <a:prstGeom prst="ellipse">
            <a:avLst/>
          </a:prstGeom>
          <a:solidFill>
            <a:schemeClr val="accent1"/>
          </a:solidFill>
          <a:ln w="12700">
            <a:solidFill>
              <a:schemeClr val="accent1"/>
            </a:solidFill>
            <a:prstDash val="solid"/>
          </a:ln>
        </p:spPr>
      </p:sp>
      <p:pic>
        <p:nvPicPr>
          <p:cNvPr id="6" name="icon-203" descr="preencoded.png">    </p:cNvPr>
          <p:cNvPicPr>
            <a:picLocks noChangeAspect="1"/>
          </p:cNvPicPr>
          <p:nvPr/>
        </p:nvPicPr>
        <p:blipFill>
          <a:blip r:embed="rId1"/>
          <a:stretch>
            <a:fillRect/>
          </a:stretch>
        </p:blipFill>
        <p:spPr>
          <a:xfrm>
            <a:off x="918058" y="2061058"/>
            <a:ext cx="358445" cy="358445"/>
          </a:xfrm>
          <a:prstGeom prst="rect">
            <a:avLst/>
          </a:prstGeom>
        </p:spPr>
      </p:pic>
      <p:sp>
        <p:nvSpPr>
          <p:cNvPr id="7" name="text-204"/>
          <p:cNvSpPr txBox="1"/>
          <p:nvPr/>
        </p:nvSpPr>
        <p:spPr>
          <a:xfrm>
            <a:off x="777240" y="2743200"/>
            <a:ext cx="1578803" cy="210312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Give full attention</a:t>
            </a:r>
            <a:endParaRPr lang="en-US" sz="1500" dirty="0"/>
          </a:p>
          <a:p>
            <a:pPr algn="l" indent="0" marL="0">
              <a:spcAft>
                <a:spcPts val="600"/>
              </a:spcAft>
              <a:buNone/>
            </a:pPr>
            <a:r>
              <a:rPr lang="en-US" sz="1400" dirty="0">
                <a:solidFill>
                  <a:schemeClr val="tx1"/>
                </a:solidFill>
              </a:rPr>
              <a:t>Pause the task, face the person, make eye contact</a:t>
            </a:r>
            <a:endParaRPr lang="en-US" sz="1500" dirty="0"/>
          </a:p>
          <a:p>
            <a:pPr rtl="1" algn="r" indent="0" marL="0">
              <a:spcAft>
                <a:spcPts val="200"/>
              </a:spcAft>
              <a:buNone/>
            </a:pPr>
            <a:r>
              <a:rPr lang="ar-EG" altLang="en-US" sz="1500" b="1" dirty="0">
                <a:solidFill>
                  <a:schemeClr val="tx2"/>
                </a:solidFill>
              </a:rPr>
              <a:t>انتباه كامل</a:t>
            </a:r>
            <a:endParaRPr lang="en-US" sz="1500" dirty="0"/>
          </a:p>
          <a:p>
            <a:pPr rtl="1" algn="r" indent="0" marL="0">
              <a:buNone/>
            </a:pPr>
            <a:r>
              <a:rPr lang="ar-EG" altLang="en-US" sz="1400" dirty="0">
                <a:solidFill>
                  <a:schemeClr val="tx1"/>
                </a:solidFill>
              </a:rPr>
              <a:t>أوقف المهمة وانظر للشخص</a:t>
            </a:r>
            <a:endParaRPr lang="en-US" sz="1500" dirty="0"/>
          </a:p>
        </p:txBody>
      </p:sp>
      <p:sp>
        <p:nvSpPr>
          <p:cNvPr id="8" name="card-205"/>
          <p:cNvSpPr/>
          <p:nvPr/>
        </p:nvSpPr>
        <p:spPr>
          <a:xfrm>
            <a:off x="2767523" y="1691640"/>
            <a:ext cx="2036003" cy="324612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9" name="icon-bg-206"/>
          <p:cNvSpPr/>
          <p:nvPr/>
        </p:nvSpPr>
        <p:spPr>
          <a:xfrm>
            <a:off x="2996123" y="1920240"/>
            <a:ext cx="640080" cy="640080"/>
          </a:xfrm>
          <a:prstGeom prst="ellipse">
            <a:avLst/>
          </a:prstGeom>
          <a:solidFill>
            <a:schemeClr val="accent1"/>
          </a:solidFill>
          <a:ln w="12700">
            <a:solidFill>
              <a:schemeClr val="accent1"/>
            </a:solidFill>
            <a:prstDash val="solid"/>
          </a:ln>
        </p:spPr>
      </p:sp>
      <p:pic>
        <p:nvPicPr>
          <p:cNvPr id="10" name="icon-207" descr="preencoded.png">    </p:cNvPr>
          <p:cNvPicPr>
            <a:picLocks noChangeAspect="1"/>
          </p:cNvPicPr>
          <p:nvPr/>
        </p:nvPicPr>
        <p:blipFill>
          <a:blip r:embed="rId2"/>
          <a:stretch>
            <a:fillRect/>
          </a:stretch>
        </p:blipFill>
        <p:spPr>
          <a:xfrm>
            <a:off x="3136941" y="2061058"/>
            <a:ext cx="358445" cy="358445"/>
          </a:xfrm>
          <a:prstGeom prst="rect">
            <a:avLst/>
          </a:prstGeom>
        </p:spPr>
      </p:pic>
      <p:sp>
        <p:nvSpPr>
          <p:cNvPr id="11" name="text-208"/>
          <p:cNvSpPr txBox="1"/>
          <p:nvPr/>
        </p:nvSpPr>
        <p:spPr>
          <a:xfrm>
            <a:off x="2996123" y="2743200"/>
            <a:ext cx="1578803" cy="210312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Paraphrase</a:t>
            </a:r>
            <a:endParaRPr lang="en-US" sz="1500" dirty="0"/>
          </a:p>
          <a:p>
            <a:pPr algn="l" indent="0" marL="0">
              <a:spcAft>
                <a:spcPts val="600"/>
              </a:spcAft>
              <a:buNone/>
            </a:pPr>
            <a:r>
              <a:rPr lang="en-US" sz="1400" dirty="0">
                <a:solidFill>
                  <a:schemeClr val="tx1"/>
                </a:solidFill>
              </a:rPr>
              <a:t>“So what you're saying is…”</a:t>
            </a:r>
            <a:endParaRPr lang="en-US" sz="1500" dirty="0"/>
          </a:p>
          <a:p>
            <a:pPr rtl="1" algn="r" indent="0" marL="0">
              <a:spcAft>
                <a:spcPts val="200"/>
              </a:spcAft>
              <a:buNone/>
            </a:pPr>
            <a:r>
              <a:rPr lang="ar-EG" altLang="en-US" sz="1500" b="1" dirty="0">
                <a:solidFill>
                  <a:schemeClr val="tx2"/>
                </a:solidFill>
              </a:rPr>
              <a:t>أعِد الصياغة</a:t>
            </a:r>
            <a:endParaRPr lang="en-US" sz="1500" dirty="0"/>
          </a:p>
          <a:p>
            <a:pPr rtl="1" algn="r" indent="0" marL="0">
              <a:buNone/>
            </a:pPr>
            <a:r>
              <a:rPr lang="ar-EG" altLang="en-US" sz="1400" dirty="0">
                <a:solidFill>
                  <a:schemeClr val="tx1"/>
                </a:solidFill>
              </a:rPr>
              <a:t>«إذن ما تقصده هو…»</a:t>
            </a:r>
            <a:endParaRPr lang="en-US" sz="1500" dirty="0"/>
          </a:p>
        </p:txBody>
      </p:sp>
      <p:sp>
        <p:nvSpPr>
          <p:cNvPr id="12" name="card-209"/>
          <p:cNvSpPr/>
          <p:nvPr/>
        </p:nvSpPr>
        <p:spPr>
          <a:xfrm>
            <a:off x="4986406" y="1691640"/>
            <a:ext cx="2036003" cy="324612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3" name="icon-bg-210"/>
          <p:cNvSpPr/>
          <p:nvPr/>
        </p:nvSpPr>
        <p:spPr>
          <a:xfrm>
            <a:off x="5215006" y="1920240"/>
            <a:ext cx="640080" cy="640080"/>
          </a:xfrm>
          <a:prstGeom prst="ellipse">
            <a:avLst/>
          </a:prstGeom>
          <a:solidFill>
            <a:schemeClr val="accent1"/>
          </a:solidFill>
          <a:ln w="12700">
            <a:solidFill>
              <a:schemeClr val="accent1"/>
            </a:solidFill>
            <a:prstDash val="solid"/>
          </a:ln>
        </p:spPr>
      </p:sp>
      <p:pic>
        <p:nvPicPr>
          <p:cNvPr id="14" name="icon-211" descr="preencoded.png">    </p:cNvPr>
          <p:cNvPicPr>
            <a:picLocks noChangeAspect="1"/>
          </p:cNvPicPr>
          <p:nvPr/>
        </p:nvPicPr>
        <p:blipFill>
          <a:blip r:embed="rId3"/>
          <a:stretch>
            <a:fillRect/>
          </a:stretch>
        </p:blipFill>
        <p:spPr>
          <a:xfrm>
            <a:off x="5355824" y="2061058"/>
            <a:ext cx="358445" cy="358445"/>
          </a:xfrm>
          <a:prstGeom prst="rect">
            <a:avLst/>
          </a:prstGeom>
        </p:spPr>
      </p:pic>
      <p:sp>
        <p:nvSpPr>
          <p:cNvPr id="15" name="text-212"/>
          <p:cNvSpPr txBox="1"/>
          <p:nvPr/>
        </p:nvSpPr>
        <p:spPr>
          <a:xfrm>
            <a:off x="5215006" y="2743200"/>
            <a:ext cx="1578803" cy="210312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Ask open questions</a:t>
            </a:r>
            <a:endParaRPr lang="en-US" sz="1500" dirty="0"/>
          </a:p>
          <a:p>
            <a:pPr algn="l" indent="0" marL="0">
              <a:spcAft>
                <a:spcPts val="600"/>
              </a:spcAft>
              <a:buNone/>
            </a:pPr>
            <a:r>
              <a:rPr lang="en-US" sz="1400" dirty="0">
                <a:solidFill>
                  <a:schemeClr val="tx1"/>
                </a:solidFill>
              </a:rPr>
              <a:t>“What happened?” “How can I help?”</a:t>
            </a:r>
            <a:endParaRPr lang="en-US" sz="1500" dirty="0"/>
          </a:p>
          <a:p>
            <a:pPr rtl="1" algn="r" indent="0" marL="0">
              <a:spcAft>
                <a:spcPts val="200"/>
              </a:spcAft>
              <a:buNone/>
            </a:pPr>
            <a:r>
              <a:rPr lang="ar-EG" altLang="en-US" sz="1500" b="1" dirty="0">
                <a:solidFill>
                  <a:schemeClr val="tx2"/>
                </a:solidFill>
              </a:rPr>
              <a:t>اسأل أسئلة مفتوحة</a:t>
            </a:r>
            <a:endParaRPr lang="en-US" sz="1500" dirty="0"/>
          </a:p>
          <a:p>
            <a:pPr rtl="1" algn="r" indent="0" marL="0">
              <a:buNone/>
            </a:pPr>
            <a:r>
              <a:rPr lang="ar-EG" altLang="en-US" sz="1400" dirty="0">
                <a:solidFill>
                  <a:schemeClr val="tx1"/>
                </a:solidFill>
              </a:rPr>
              <a:t>«ماذا حدث؟» «كيف أساعدك؟»</a:t>
            </a:r>
            <a:endParaRPr lang="en-US" sz="1500" dirty="0"/>
          </a:p>
        </p:txBody>
      </p:sp>
      <p:sp>
        <p:nvSpPr>
          <p:cNvPr id="16" name="card-213"/>
          <p:cNvSpPr/>
          <p:nvPr/>
        </p:nvSpPr>
        <p:spPr>
          <a:xfrm>
            <a:off x="7205289" y="1691640"/>
            <a:ext cx="2036003" cy="324612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7" name="icon-bg-214"/>
          <p:cNvSpPr/>
          <p:nvPr/>
        </p:nvSpPr>
        <p:spPr>
          <a:xfrm>
            <a:off x="7433889" y="1920240"/>
            <a:ext cx="640080" cy="640080"/>
          </a:xfrm>
          <a:prstGeom prst="ellipse">
            <a:avLst/>
          </a:prstGeom>
          <a:solidFill>
            <a:schemeClr val="accent1"/>
          </a:solidFill>
          <a:ln w="12700">
            <a:solidFill>
              <a:schemeClr val="accent1"/>
            </a:solidFill>
            <a:prstDash val="solid"/>
          </a:ln>
        </p:spPr>
      </p:sp>
      <p:pic>
        <p:nvPicPr>
          <p:cNvPr id="18" name="icon-215" descr="preencoded.png">    </p:cNvPr>
          <p:cNvPicPr>
            <a:picLocks noChangeAspect="1"/>
          </p:cNvPicPr>
          <p:nvPr/>
        </p:nvPicPr>
        <p:blipFill>
          <a:blip r:embed="rId4"/>
          <a:stretch>
            <a:fillRect/>
          </a:stretch>
        </p:blipFill>
        <p:spPr>
          <a:xfrm>
            <a:off x="7574707" y="2061058"/>
            <a:ext cx="358445" cy="358445"/>
          </a:xfrm>
          <a:prstGeom prst="rect">
            <a:avLst/>
          </a:prstGeom>
        </p:spPr>
      </p:pic>
      <p:sp>
        <p:nvSpPr>
          <p:cNvPr id="19" name="text-216"/>
          <p:cNvSpPr txBox="1"/>
          <p:nvPr/>
        </p:nvSpPr>
        <p:spPr>
          <a:xfrm>
            <a:off x="7433889" y="2743200"/>
            <a:ext cx="1578803" cy="210312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Acknowledge feelings</a:t>
            </a:r>
            <a:endParaRPr lang="en-US" sz="1500" dirty="0"/>
          </a:p>
          <a:p>
            <a:pPr algn="l" indent="0" marL="0">
              <a:spcAft>
                <a:spcPts val="600"/>
              </a:spcAft>
              <a:buNone/>
            </a:pPr>
            <a:r>
              <a:rPr lang="en-US" sz="1400" dirty="0">
                <a:solidFill>
                  <a:schemeClr val="tx1"/>
                </a:solidFill>
              </a:rPr>
              <a:t>“I can see this is frustrating.”</a:t>
            </a:r>
            <a:endParaRPr lang="en-US" sz="1500" dirty="0"/>
          </a:p>
          <a:p>
            <a:pPr rtl="1" algn="r" indent="0" marL="0">
              <a:spcAft>
                <a:spcPts val="200"/>
              </a:spcAft>
              <a:buNone/>
            </a:pPr>
            <a:r>
              <a:rPr lang="ar-EG" altLang="en-US" sz="1500" b="1" dirty="0">
                <a:solidFill>
                  <a:schemeClr val="tx2"/>
                </a:solidFill>
              </a:rPr>
              <a:t>تفهَّم المشاعر</a:t>
            </a:r>
            <a:endParaRPr lang="en-US" sz="1500" dirty="0"/>
          </a:p>
          <a:p>
            <a:pPr rtl="1" algn="r" indent="0" marL="0">
              <a:buNone/>
            </a:pPr>
            <a:r>
              <a:rPr lang="ar-EG" altLang="en-US" sz="1400" dirty="0">
                <a:solidFill>
                  <a:schemeClr val="tx1"/>
                </a:solidFill>
              </a:rPr>
              <a:t>«أرى أن هذا مزعج لك»</a:t>
            </a:r>
            <a:endParaRPr lang="en-US" sz="1500" dirty="0"/>
          </a:p>
        </p:txBody>
      </p:sp>
      <p:sp>
        <p:nvSpPr>
          <p:cNvPr id="20" name="card-217"/>
          <p:cNvSpPr/>
          <p:nvPr/>
        </p:nvSpPr>
        <p:spPr>
          <a:xfrm>
            <a:off x="9424172" y="1691640"/>
            <a:ext cx="2036003" cy="324612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1" name="icon-bg-218"/>
          <p:cNvSpPr/>
          <p:nvPr/>
        </p:nvSpPr>
        <p:spPr>
          <a:xfrm>
            <a:off x="9652772" y="1920240"/>
            <a:ext cx="640080" cy="640080"/>
          </a:xfrm>
          <a:prstGeom prst="ellipse">
            <a:avLst/>
          </a:prstGeom>
          <a:solidFill>
            <a:schemeClr val="accent1"/>
          </a:solidFill>
          <a:ln w="12700">
            <a:solidFill>
              <a:schemeClr val="accent1"/>
            </a:solidFill>
            <a:prstDash val="solid"/>
          </a:ln>
        </p:spPr>
      </p:sp>
      <p:pic>
        <p:nvPicPr>
          <p:cNvPr id="22" name="icon-219" descr="preencoded.png">    </p:cNvPr>
          <p:cNvPicPr>
            <a:picLocks noChangeAspect="1"/>
          </p:cNvPicPr>
          <p:nvPr/>
        </p:nvPicPr>
        <p:blipFill>
          <a:blip r:embed="rId5"/>
          <a:stretch>
            <a:fillRect/>
          </a:stretch>
        </p:blipFill>
        <p:spPr>
          <a:xfrm>
            <a:off x="9793590" y="2061058"/>
            <a:ext cx="358445" cy="358445"/>
          </a:xfrm>
          <a:prstGeom prst="rect">
            <a:avLst/>
          </a:prstGeom>
        </p:spPr>
      </p:pic>
      <p:sp>
        <p:nvSpPr>
          <p:cNvPr id="23" name="text-220"/>
          <p:cNvSpPr txBox="1"/>
          <p:nvPr/>
        </p:nvSpPr>
        <p:spPr>
          <a:xfrm>
            <a:off x="9652772" y="2743200"/>
            <a:ext cx="1578803" cy="210312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Confirm next step</a:t>
            </a:r>
            <a:endParaRPr lang="en-US" sz="1500" dirty="0"/>
          </a:p>
          <a:p>
            <a:pPr algn="l" indent="0" marL="0">
              <a:spcAft>
                <a:spcPts val="600"/>
              </a:spcAft>
              <a:buNone/>
            </a:pPr>
            <a:r>
              <a:rPr lang="en-US" sz="1400" dirty="0">
                <a:solidFill>
                  <a:schemeClr val="tx1"/>
                </a:solidFill>
              </a:rPr>
              <a:t>Agree what happens next, then follow up</a:t>
            </a:r>
            <a:endParaRPr lang="en-US" sz="1500" dirty="0"/>
          </a:p>
          <a:p>
            <a:pPr rtl="1" algn="r" indent="0" marL="0">
              <a:spcAft>
                <a:spcPts val="200"/>
              </a:spcAft>
              <a:buNone/>
            </a:pPr>
            <a:r>
              <a:rPr lang="ar-EG" altLang="en-US" sz="1500" b="1" dirty="0">
                <a:solidFill>
                  <a:schemeClr val="tx2"/>
                </a:solidFill>
              </a:rPr>
              <a:t>أكِّد الخطوة التالية</a:t>
            </a:r>
            <a:endParaRPr lang="en-US" sz="1500" dirty="0"/>
          </a:p>
          <a:p>
            <a:pPr rtl="1" algn="r" indent="0" marL="0">
              <a:buNone/>
            </a:pPr>
            <a:r>
              <a:rPr lang="ar-EG" altLang="en-US" sz="1400" dirty="0">
                <a:solidFill>
                  <a:schemeClr val="tx1"/>
                </a:solidFill>
              </a:rPr>
              <a:t>اتفقا على ما سيحدث وتابِع</a:t>
            </a:r>
            <a:endParaRPr lang="en-US" sz="1500" dirty="0"/>
          </a:p>
        </p:txBody>
      </p:sp>
      <p:sp>
        <p:nvSpPr>
          <p:cNvPr id="24" name="barriers"/>
          <p:cNvSpPr/>
          <p:nvPr/>
        </p:nvSpPr>
        <p:spPr>
          <a:xfrm>
            <a:off x="548640" y="5120640"/>
            <a:ext cx="11094415" cy="1005840"/>
          </a:xfrm>
          <a:prstGeom prst="roundRect">
            <a:avLst>
              <a:gd name="adj" fmla="val 10909"/>
            </a:avLst>
          </a:prstGeom>
          <a:solidFill>
            <a:schemeClr val="accent4"/>
          </a:solidFill>
          <a:ln w="12700">
            <a:solidFill>
              <a:schemeClr val="accent4"/>
            </a:solidFill>
            <a:prstDash val="solid"/>
          </a:ln>
        </p:spPr>
      </p:sp>
      <p:sp>
        <p:nvSpPr>
          <p:cNvPr id="25" name="icon-bg-221"/>
          <p:cNvSpPr/>
          <p:nvPr/>
        </p:nvSpPr>
        <p:spPr>
          <a:xfrm>
            <a:off x="777240" y="5303520"/>
            <a:ext cx="640080" cy="640080"/>
          </a:xfrm>
          <a:prstGeom prst="ellipse">
            <a:avLst/>
          </a:prstGeom>
          <a:solidFill>
            <a:schemeClr val="tx1"/>
          </a:solidFill>
          <a:ln w="12700">
            <a:solidFill>
              <a:schemeClr val="tx1"/>
            </a:solidFill>
            <a:prstDash val="solid"/>
          </a:ln>
        </p:spPr>
      </p:sp>
      <p:pic>
        <p:nvPicPr>
          <p:cNvPr id="26" name="icon-222" descr="preencoded.png">    </p:cNvPr>
          <p:cNvPicPr>
            <a:picLocks noChangeAspect="1"/>
          </p:cNvPicPr>
          <p:nvPr/>
        </p:nvPicPr>
        <p:blipFill>
          <a:blip r:embed="rId6"/>
          <a:stretch>
            <a:fillRect/>
          </a:stretch>
        </p:blipFill>
        <p:spPr>
          <a:xfrm>
            <a:off x="918058" y="5444338"/>
            <a:ext cx="358445" cy="358445"/>
          </a:xfrm>
          <a:prstGeom prst="rect">
            <a:avLst/>
          </a:prstGeom>
        </p:spPr>
      </p:pic>
      <p:sp>
        <p:nvSpPr>
          <p:cNvPr id="27" name="text-223"/>
          <p:cNvSpPr txBox="1"/>
          <p:nvPr/>
        </p:nvSpPr>
        <p:spPr>
          <a:xfrm>
            <a:off x="1645920" y="5193792"/>
            <a:ext cx="4572000" cy="868680"/>
          </a:xfrm>
          <a:prstGeom prst="rect">
            <a:avLst/>
          </a:prstGeom>
          <a:noFill/>
          <a:ln/>
        </p:spPr>
        <p:txBody>
          <a:bodyPr wrap="square" lIns="0" tIns="0" rIns="0" bIns="0" rtlCol="0" anchor="ctr"/>
          <a:lstStyle/>
          <a:p>
            <a:pPr indent="0" marL="0">
              <a:buNone/>
            </a:pPr>
            <a:r>
              <a:rPr lang="en-US" sz="1400" b="1" dirty="0">
                <a:solidFill>
                  <a:schemeClr val="tx1"/>
                </a:solidFill>
              </a:rPr>
              <a:t>Common barriers on shift: noise, peak rush, multitasking, assumptions, interrupting.</a:t>
            </a:r>
            <a:endParaRPr lang="en-US" sz="1400" dirty="0"/>
          </a:p>
        </p:txBody>
      </p:sp>
      <p:sp>
        <p:nvSpPr>
          <p:cNvPr id="28" name="text-224"/>
          <p:cNvSpPr txBox="1"/>
          <p:nvPr/>
        </p:nvSpPr>
        <p:spPr>
          <a:xfrm>
            <a:off x="6400800" y="5193792"/>
            <a:ext cx="5013655" cy="868680"/>
          </a:xfrm>
          <a:prstGeom prst="rect">
            <a:avLst/>
          </a:prstGeom>
          <a:noFill/>
          <a:ln/>
        </p:spPr>
        <p:txBody>
          <a:bodyPr wrap="square" lIns="0" tIns="0" rIns="0" bIns="0" rtlCol="0" anchor="ctr"/>
          <a:lstStyle/>
          <a:p>
            <a:pPr rtl="1" algn="r" indent="0" marL="0">
              <a:buNone/>
            </a:pPr>
            <a:r>
              <a:rPr lang="ar-EG" altLang="en-US" sz="1400" b="1" dirty="0">
                <a:solidFill>
                  <a:schemeClr val="tx1"/>
                </a:solidFill>
              </a:rPr>
              <a:t>عوائق شائعة: الضوضاء، الزحام، تعدد المهام، الافتراضات، المقاطعة.</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LATTE: Recovering the Customer Experience</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نموذج LATTE: استعادة تجربة العميل</a:t>
            </a:r>
            <a:endParaRPr lang="ar-EG" sz="2000" dirty="0"/>
          </a:p>
        </p:txBody>
      </p:sp>
      <p:sp>
        <p:nvSpPr>
          <p:cNvPr id="4" name="latte-letter-225"/>
          <p:cNvSpPr/>
          <p:nvPr/>
        </p:nvSpPr>
        <p:spPr>
          <a:xfrm>
            <a:off x="548640" y="1691640"/>
            <a:ext cx="2036003" cy="1371600"/>
          </a:xfrm>
          <a:prstGeom prst="roundRect">
            <a:avLst>
              <a:gd name="adj" fmla="val 8000"/>
            </a:avLst>
          </a:prstGeom>
          <a:solidFill>
            <a:schemeClr val="accent1"/>
          </a:solidFill>
          <a:ln w="12700">
            <a:solidFill>
              <a:schemeClr val="accent1"/>
            </a:solidFill>
            <a:prstDash val="solid"/>
          </a:ln>
        </p:spPr>
      </p:sp>
      <p:sp>
        <p:nvSpPr>
          <p:cNvPr id="5" name="text-226"/>
          <p:cNvSpPr txBox="1"/>
          <p:nvPr/>
        </p:nvSpPr>
        <p:spPr>
          <a:xfrm>
            <a:off x="548640" y="1691640"/>
            <a:ext cx="2036003" cy="1371600"/>
          </a:xfrm>
          <a:prstGeom prst="rect">
            <a:avLst/>
          </a:prstGeom>
          <a:noFill/>
          <a:ln/>
        </p:spPr>
        <p:txBody>
          <a:bodyPr wrap="square" lIns="0" tIns="0" rIns="0" bIns="0" rtlCol="0" anchor="ctr"/>
          <a:lstStyle/>
          <a:p>
            <a:pPr algn="ctr" indent="0" marL="0">
              <a:buNone/>
            </a:pPr>
            <a:r>
              <a:rPr lang="en-US" sz="6600" b="1" dirty="0">
                <a:solidFill>
                  <a:schemeClr val="bg1"/>
                </a:solidFill>
              </a:rPr>
              <a:t>L</a:t>
            </a:r>
            <a:endParaRPr lang="en-US" sz="6600" dirty="0"/>
          </a:p>
        </p:txBody>
      </p:sp>
      <p:sp>
        <p:nvSpPr>
          <p:cNvPr id="6" name="card-227"/>
          <p:cNvSpPr/>
          <p:nvPr/>
        </p:nvSpPr>
        <p:spPr>
          <a:xfrm>
            <a:off x="548640" y="3200400"/>
            <a:ext cx="2036003"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7" name="text-228"/>
          <p:cNvSpPr txBox="1"/>
          <p:nvPr/>
        </p:nvSpPr>
        <p:spPr>
          <a:xfrm>
            <a:off x="731520" y="3337560"/>
            <a:ext cx="1670243" cy="160020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Listen</a:t>
            </a:r>
            <a:endParaRPr lang="en-US" sz="1600" dirty="0"/>
          </a:p>
          <a:p>
            <a:pPr algn="l" indent="0" marL="0">
              <a:spcAft>
                <a:spcPts val="600"/>
              </a:spcAft>
              <a:buNone/>
            </a:pPr>
            <a:r>
              <a:rPr lang="en-US" sz="1400" dirty="0">
                <a:solidFill>
                  <a:schemeClr val="tx1"/>
                </a:solidFill>
              </a:rPr>
              <a:t>Let the customer speak fully</a:t>
            </a:r>
            <a:endParaRPr lang="en-US" sz="1600" dirty="0"/>
          </a:p>
          <a:p>
            <a:pPr rtl="1" algn="r" indent="0" marL="0">
              <a:spcAft>
                <a:spcPts val="200"/>
              </a:spcAft>
              <a:buNone/>
            </a:pPr>
            <a:r>
              <a:rPr lang="ar-EG" altLang="en-US" sz="1600" b="1" dirty="0">
                <a:solidFill>
                  <a:schemeClr val="tx2"/>
                </a:solidFill>
              </a:rPr>
              <a:t>أنصِت</a:t>
            </a:r>
            <a:endParaRPr lang="en-US" sz="1600" dirty="0"/>
          </a:p>
          <a:p>
            <a:pPr rtl="1" algn="r" indent="0" marL="0">
              <a:buNone/>
            </a:pPr>
            <a:r>
              <a:rPr lang="ar-EG" altLang="en-US" sz="1400" dirty="0">
                <a:solidFill>
                  <a:schemeClr val="tx1"/>
                </a:solidFill>
              </a:rPr>
              <a:t>دع العميل يتحدث كاملاً</a:t>
            </a:r>
            <a:endParaRPr lang="en-US" sz="1600" dirty="0"/>
          </a:p>
        </p:txBody>
      </p:sp>
      <p:sp>
        <p:nvSpPr>
          <p:cNvPr id="8" name="latte-letter-229"/>
          <p:cNvSpPr/>
          <p:nvPr/>
        </p:nvSpPr>
        <p:spPr>
          <a:xfrm>
            <a:off x="2767523" y="1691640"/>
            <a:ext cx="2036003" cy="1371600"/>
          </a:xfrm>
          <a:prstGeom prst="roundRect">
            <a:avLst>
              <a:gd name="adj" fmla="val 8000"/>
            </a:avLst>
          </a:prstGeom>
          <a:solidFill>
            <a:schemeClr val="tx1"/>
          </a:solidFill>
          <a:ln w="12700">
            <a:solidFill>
              <a:schemeClr val="accent1"/>
            </a:solidFill>
            <a:prstDash val="solid"/>
          </a:ln>
        </p:spPr>
      </p:sp>
      <p:sp>
        <p:nvSpPr>
          <p:cNvPr id="9" name="text-230"/>
          <p:cNvSpPr txBox="1"/>
          <p:nvPr/>
        </p:nvSpPr>
        <p:spPr>
          <a:xfrm>
            <a:off x="2767523" y="1691640"/>
            <a:ext cx="2036003" cy="1371600"/>
          </a:xfrm>
          <a:prstGeom prst="rect">
            <a:avLst/>
          </a:prstGeom>
          <a:noFill/>
          <a:ln/>
        </p:spPr>
        <p:txBody>
          <a:bodyPr wrap="square" lIns="0" tIns="0" rIns="0" bIns="0" rtlCol="0" anchor="ctr"/>
          <a:lstStyle/>
          <a:p>
            <a:pPr algn="ctr" indent="0" marL="0">
              <a:buNone/>
            </a:pPr>
            <a:r>
              <a:rPr lang="en-US" sz="6600" b="1" dirty="0">
                <a:solidFill>
                  <a:schemeClr val="bg1"/>
                </a:solidFill>
              </a:rPr>
              <a:t>A</a:t>
            </a:r>
            <a:endParaRPr lang="en-US" sz="6600" dirty="0"/>
          </a:p>
        </p:txBody>
      </p:sp>
      <p:sp>
        <p:nvSpPr>
          <p:cNvPr id="10" name="card-231"/>
          <p:cNvSpPr/>
          <p:nvPr/>
        </p:nvSpPr>
        <p:spPr>
          <a:xfrm>
            <a:off x="2767523" y="3200400"/>
            <a:ext cx="2036003"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1" name="text-232"/>
          <p:cNvSpPr txBox="1"/>
          <p:nvPr/>
        </p:nvSpPr>
        <p:spPr>
          <a:xfrm>
            <a:off x="2950403" y="3337560"/>
            <a:ext cx="1670243" cy="160020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Acknowledge</a:t>
            </a:r>
            <a:endParaRPr lang="en-US" sz="1600" dirty="0"/>
          </a:p>
          <a:p>
            <a:pPr algn="l" indent="0" marL="0">
              <a:spcAft>
                <a:spcPts val="600"/>
              </a:spcAft>
              <a:buNone/>
            </a:pPr>
            <a:r>
              <a:rPr lang="en-US" sz="1400" dirty="0">
                <a:solidFill>
                  <a:schemeClr val="tx1"/>
                </a:solidFill>
              </a:rPr>
              <a:t>Recognise the problem &amp; feeling</a:t>
            </a:r>
            <a:endParaRPr lang="en-US" sz="1600" dirty="0"/>
          </a:p>
          <a:p>
            <a:pPr rtl="1" algn="r" indent="0" marL="0">
              <a:spcAft>
                <a:spcPts val="200"/>
              </a:spcAft>
              <a:buNone/>
            </a:pPr>
            <a:r>
              <a:rPr lang="ar-EG" altLang="en-US" sz="1600" b="1" dirty="0">
                <a:solidFill>
                  <a:schemeClr val="tx2"/>
                </a:solidFill>
              </a:rPr>
              <a:t>اعترِف</a:t>
            </a:r>
            <a:endParaRPr lang="en-US" sz="1600" dirty="0"/>
          </a:p>
          <a:p>
            <a:pPr rtl="1" algn="r" indent="0" marL="0">
              <a:buNone/>
            </a:pPr>
            <a:r>
              <a:rPr lang="ar-EG" altLang="en-US" sz="1400" dirty="0">
                <a:solidFill>
                  <a:schemeClr val="tx1"/>
                </a:solidFill>
              </a:rPr>
              <a:t>أقرّ بالمشكلة وبشعوره</a:t>
            </a:r>
            <a:endParaRPr lang="en-US" sz="1600" dirty="0"/>
          </a:p>
        </p:txBody>
      </p:sp>
      <p:sp>
        <p:nvSpPr>
          <p:cNvPr id="12" name="latte-letter-233"/>
          <p:cNvSpPr/>
          <p:nvPr/>
        </p:nvSpPr>
        <p:spPr>
          <a:xfrm>
            <a:off x="4986406" y="1691640"/>
            <a:ext cx="2036003" cy="1371600"/>
          </a:xfrm>
          <a:prstGeom prst="roundRect">
            <a:avLst>
              <a:gd name="adj" fmla="val 8000"/>
            </a:avLst>
          </a:prstGeom>
          <a:solidFill>
            <a:schemeClr val="accent1"/>
          </a:solidFill>
          <a:ln w="12700">
            <a:solidFill>
              <a:schemeClr val="accent1"/>
            </a:solidFill>
            <a:prstDash val="solid"/>
          </a:ln>
        </p:spPr>
      </p:sp>
      <p:sp>
        <p:nvSpPr>
          <p:cNvPr id="13" name="text-234"/>
          <p:cNvSpPr txBox="1"/>
          <p:nvPr/>
        </p:nvSpPr>
        <p:spPr>
          <a:xfrm>
            <a:off x="4986406" y="1691640"/>
            <a:ext cx="2036003" cy="1371600"/>
          </a:xfrm>
          <a:prstGeom prst="rect">
            <a:avLst/>
          </a:prstGeom>
          <a:noFill/>
          <a:ln/>
        </p:spPr>
        <p:txBody>
          <a:bodyPr wrap="square" lIns="0" tIns="0" rIns="0" bIns="0" rtlCol="0" anchor="ctr"/>
          <a:lstStyle/>
          <a:p>
            <a:pPr algn="ctr" indent="0" marL="0">
              <a:buNone/>
            </a:pPr>
            <a:r>
              <a:rPr lang="en-US" sz="6600" b="1" dirty="0">
                <a:solidFill>
                  <a:schemeClr val="bg1"/>
                </a:solidFill>
              </a:rPr>
              <a:t>T</a:t>
            </a:r>
            <a:endParaRPr lang="en-US" sz="6600" dirty="0"/>
          </a:p>
        </p:txBody>
      </p:sp>
      <p:sp>
        <p:nvSpPr>
          <p:cNvPr id="14" name="card-235"/>
          <p:cNvSpPr/>
          <p:nvPr/>
        </p:nvSpPr>
        <p:spPr>
          <a:xfrm>
            <a:off x="4986406" y="3200400"/>
            <a:ext cx="2036003"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5" name="text-236"/>
          <p:cNvSpPr txBox="1"/>
          <p:nvPr/>
        </p:nvSpPr>
        <p:spPr>
          <a:xfrm>
            <a:off x="5169286" y="3337560"/>
            <a:ext cx="1670243" cy="160020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Take action</a:t>
            </a:r>
            <a:endParaRPr lang="en-US" sz="1600" dirty="0"/>
          </a:p>
          <a:p>
            <a:pPr algn="l" indent="0" marL="0">
              <a:spcAft>
                <a:spcPts val="600"/>
              </a:spcAft>
              <a:buNone/>
            </a:pPr>
            <a:r>
              <a:rPr lang="en-US" sz="1400" dirty="0">
                <a:solidFill>
                  <a:schemeClr val="tx1"/>
                </a:solidFill>
              </a:rPr>
              <a:t>Solve it – remake, replace, fix</a:t>
            </a:r>
            <a:endParaRPr lang="en-US" sz="1600" dirty="0"/>
          </a:p>
          <a:p>
            <a:pPr rtl="1" algn="r" indent="0" marL="0">
              <a:spcAft>
                <a:spcPts val="200"/>
              </a:spcAft>
              <a:buNone/>
            </a:pPr>
            <a:r>
              <a:rPr lang="ar-EG" altLang="en-US" sz="1600" b="1" dirty="0">
                <a:solidFill>
                  <a:schemeClr val="tx2"/>
                </a:solidFill>
              </a:rPr>
              <a:t>تصرَّف</a:t>
            </a:r>
            <a:endParaRPr lang="en-US" sz="1600" dirty="0"/>
          </a:p>
          <a:p>
            <a:pPr rtl="1" algn="r" indent="0" marL="0">
              <a:buNone/>
            </a:pPr>
            <a:r>
              <a:rPr lang="ar-EG" altLang="en-US" sz="1400" dirty="0">
                <a:solidFill>
                  <a:schemeClr val="tx1"/>
                </a:solidFill>
              </a:rPr>
              <a:t>حُلّ المشكلة فوراً</a:t>
            </a:r>
            <a:endParaRPr lang="en-US" sz="1600" dirty="0"/>
          </a:p>
        </p:txBody>
      </p:sp>
      <p:sp>
        <p:nvSpPr>
          <p:cNvPr id="16" name="latte-letter-237"/>
          <p:cNvSpPr/>
          <p:nvPr/>
        </p:nvSpPr>
        <p:spPr>
          <a:xfrm>
            <a:off x="7205289" y="1691640"/>
            <a:ext cx="2036003" cy="1371600"/>
          </a:xfrm>
          <a:prstGeom prst="roundRect">
            <a:avLst>
              <a:gd name="adj" fmla="val 8000"/>
            </a:avLst>
          </a:prstGeom>
          <a:solidFill>
            <a:schemeClr val="tx1"/>
          </a:solidFill>
          <a:ln w="12700">
            <a:solidFill>
              <a:schemeClr val="accent1"/>
            </a:solidFill>
            <a:prstDash val="solid"/>
          </a:ln>
        </p:spPr>
      </p:sp>
      <p:sp>
        <p:nvSpPr>
          <p:cNvPr id="17" name="text-238"/>
          <p:cNvSpPr txBox="1"/>
          <p:nvPr/>
        </p:nvSpPr>
        <p:spPr>
          <a:xfrm>
            <a:off x="7205289" y="1691640"/>
            <a:ext cx="2036003" cy="1371600"/>
          </a:xfrm>
          <a:prstGeom prst="rect">
            <a:avLst/>
          </a:prstGeom>
          <a:noFill/>
          <a:ln/>
        </p:spPr>
        <p:txBody>
          <a:bodyPr wrap="square" lIns="0" tIns="0" rIns="0" bIns="0" rtlCol="0" anchor="ctr"/>
          <a:lstStyle/>
          <a:p>
            <a:pPr algn="ctr" indent="0" marL="0">
              <a:buNone/>
            </a:pPr>
            <a:r>
              <a:rPr lang="en-US" sz="6600" b="1" dirty="0">
                <a:solidFill>
                  <a:schemeClr val="bg1"/>
                </a:solidFill>
              </a:rPr>
              <a:t>T</a:t>
            </a:r>
            <a:endParaRPr lang="en-US" sz="6600" dirty="0"/>
          </a:p>
        </p:txBody>
      </p:sp>
      <p:sp>
        <p:nvSpPr>
          <p:cNvPr id="18" name="card-239"/>
          <p:cNvSpPr/>
          <p:nvPr/>
        </p:nvSpPr>
        <p:spPr>
          <a:xfrm>
            <a:off x="7205289" y="3200400"/>
            <a:ext cx="2036003"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9" name="text-240"/>
          <p:cNvSpPr txBox="1"/>
          <p:nvPr/>
        </p:nvSpPr>
        <p:spPr>
          <a:xfrm>
            <a:off x="7388169" y="3337560"/>
            <a:ext cx="1670243" cy="160020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Thank</a:t>
            </a:r>
            <a:endParaRPr lang="en-US" sz="1600" dirty="0"/>
          </a:p>
          <a:p>
            <a:pPr algn="l" indent="0" marL="0">
              <a:spcAft>
                <a:spcPts val="600"/>
              </a:spcAft>
              <a:buNone/>
            </a:pPr>
            <a:r>
              <a:rPr lang="en-US" sz="1400" dirty="0">
                <a:solidFill>
                  <a:schemeClr val="tx1"/>
                </a:solidFill>
              </a:rPr>
              <a:t>Thank them for telling you</a:t>
            </a:r>
            <a:endParaRPr lang="en-US" sz="1600" dirty="0"/>
          </a:p>
          <a:p>
            <a:pPr rtl="1" algn="r" indent="0" marL="0">
              <a:spcAft>
                <a:spcPts val="200"/>
              </a:spcAft>
              <a:buNone/>
            </a:pPr>
            <a:r>
              <a:rPr lang="ar-EG" altLang="en-US" sz="1600" b="1" dirty="0">
                <a:solidFill>
                  <a:schemeClr val="tx2"/>
                </a:solidFill>
              </a:rPr>
              <a:t>اشكُر</a:t>
            </a:r>
            <a:endParaRPr lang="en-US" sz="1600" dirty="0"/>
          </a:p>
          <a:p>
            <a:pPr rtl="1" algn="r" indent="0" marL="0">
              <a:buNone/>
            </a:pPr>
            <a:r>
              <a:rPr lang="ar-EG" altLang="en-US" sz="1400" dirty="0">
                <a:solidFill>
                  <a:schemeClr val="tx1"/>
                </a:solidFill>
              </a:rPr>
              <a:t>اشكره لأنه أخبرك</a:t>
            </a:r>
            <a:endParaRPr lang="en-US" sz="1600" dirty="0"/>
          </a:p>
        </p:txBody>
      </p:sp>
      <p:sp>
        <p:nvSpPr>
          <p:cNvPr id="20" name="latte-letter-241"/>
          <p:cNvSpPr/>
          <p:nvPr/>
        </p:nvSpPr>
        <p:spPr>
          <a:xfrm>
            <a:off x="9424172" y="1691640"/>
            <a:ext cx="2036003" cy="1371600"/>
          </a:xfrm>
          <a:prstGeom prst="roundRect">
            <a:avLst>
              <a:gd name="adj" fmla="val 8000"/>
            </a:avLst>
          </a:prstGeom>
          <a:solidFill>
            <a:schemeClr val="accent1"/>
          </a:solidFill>
          <a:ln w="12700">
            <a:solidFill>
              <a:schemeClr val="accent1"/>
            </a:solidFill>
            <a:prstDash val="solid"/>
          </a:ln>
        </p:spPr>
      </p:sp>
      <p:sp>
        <p:nvSpPr>
          <p:cNvPr id="21" name="text-242"/>
          <p:cNvSpPr txBox="1"/>
          <p:nvPr/>
        </p:nvSpPr>
        <p:spPr>
          <a:xfrm>
            <a:off x="9424172" y="1691640"/>
            <a:ext cx="2036003" cy="1371600"/>
          </a:xfrm>
          <a:prstGeom prst="rect">
            <a:avLst/>
          </a:prstGeom>
          <a:noFill/>
          <a:ln/>
        </p:spPr>
        <p:txBody>
          <a:bodyPr wrap="square" lIns="0" tIns="0" rIns="0" bIns="0" rtlCol="0" anchor="ctr"/>
          <a:lstStyle/>
          <a:p>
            <a:pPr algn="ctr" indent="0" marL="0">
              <a:buNone/>
            </a:pPr>
            <a:r>
              <a:rPr lang="en-US" sz="6600" b="1" dirty="0">
                <a:solidFill>
                  <a:schemeClr val="bg1"/>
                </a:solidFill>
              </a:rPr>
              <a:t>E</a:t>
            </a:r>
            <a:endParaRPr lang="en-US" sz="6600" dirty="0"/>
          </a:p>
        </p:txBody>
      </p:sp>
      <p:sp>
        <p:nvSpPr>
          <p:cNvPr id="22" name="card-243"/>
          <p:cNvSpPr/>
          <p:nvPr/>
        </p:nvSpPr>
        <p:spPr>
          <a:xfrm>
            <a:off x="9424172" y="3200400"/>
            <a:ext cx="2036003"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3" name="text-244"/>
          <p:cNvSpPr txBox="1"/>
          <p:nvPr/>
        </p:nvSpPr>
        <p:spPr>
          <a:xfrm>
            <a:off x="9607052" y="3337560"/>
            <a:ext cx="1670243" cy="1600200"/>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Explain</a:t>
            </a:r>
            <a:endParaRPr lang="en-US" sz="1600" dirty="0"/>
          </a:p>
          <a:p>
            <a:pPr algn="l" indent="0" marL="0">
              <a:spcAft>
                <a:spcPts val="600"/>
              </a:spcAft>
              <a:buNone/>
            </a:pPr>
            <a:r>
              <a:rPr lang="en-US" sz="1400" dirty="0">
                <a:solidFill>
                  <a:schemeClr val="tx1"/>
                </a:solidFill>
              </a:rPr>
              <a:t>Explain why it happened &amp; what changes</a:t>
            </a:r>
            <a:endParaRPr lang="en-US" sz="1600" dirty="0"/>
          </a:p>
          <a:p>
            <a:pPr rtl="1" algn="r" indent="0" marL="0">
              <a:spcAft>
                <a:spcPts val="200"/>
              </a:spcAft>
              <a:buNone/>
            </a:pPr>
            <a:r>
              <a:rPr lang="ar-EG" altLang="en-US" sz="1600" b="1" dirty="0">
                <a:solidFill>
                  <a:schemeClr val="tx2"/>
                </a:solidFill>
              </a:rPr>
              <a:t>اشرَح</a:t>
            </a:r>
            <a:endParaRPr lang="en-US" sz="1600" dirty="0"/>
          </a:p>
          <a:p>
            <a:pPr rtl="1" algn="r" indent="0" marL="0">
              <a:buNone/>
            </a:pPr>
            <a:r>
              <a:rPr lang="ar-EG" altLang="en-US" sz="1400" dirty="0">
                <a:solidFill>
                  <a:schemeClr val="tx1"/>
                </a:solidFill>
              </a:rPr>
              <a:t>وضّح السبب وما سيتغير</a:t>
            </a:r>
            <a:endParaRPr lang="en-US" sz="1600" dirty="0"/>
          </a:p>
        </p:txBody>
      </p:sp>
      <p:sp>
        <p:nvSpPr>
          <p:cNvPr id="24" name="card-245"/>
          <p:cNvSpPr/>
          <p:nvPr/>
        </p:nvSpPr>
        <p:spPr>
          <a:xfrm>
            <a:off x="548640" y="5138928"/>
            <a:ext cx="11094415" cy="987552"/>
          </a:xfrm>
          <a:prstGeom prst="roundRect">
            <a:avLst>
              <a:gd name="adj" fmla="val 11111"/>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pic>
        <p:nvPicPr>
          <p:cNvPr id="25" name="latte-quote" descr="preencoded.png">    </p:cNvPr>
          <p:cNvPicPr>
            <a:picLocks noChangeAspect="1"/>
          </p:cNvPicPr>
          <p:nvPr/>
        </p:nvPicPr>
        <p:blipFill>
          <a:blip r:embed="rId1"/>
          <a:stretch>
            <a:fillRect/>
          </a:stretch>
        </p:blipFill>
        <p:spPr>
          <a:xfrm>
            <a:off x="822960" y="5340096"/>
            <a:ext cx="457200" cy="457200"/>
          </a:xfrm>
          <a:prstGeom prst="rect">
            <a:avLst/>
          </a:prstGeom>
        </p:spPr>
      </p:pic>
      <p:sp>
        <p:nvSpPr>
          <p:cNvPr id="26" name="text-246"/>
          <p:cNvSpPr txBox="1"/>
          <p:nvPr/>
        </p:nvSpPr>
        <p:spPr>
          <a:xfrm>
            <a:off x="1463040" y="5166360"/>
            <a:ext cx="5120640" cy="914400"/>
          </a:xfrm>
          <a:prstGeom prst="rect">
            <a:avLst/>
          </a:prstGeom>
          <a:noFill/>
          <a:ln/>
        </p:spPr>
        <p:txBody>
          <a:bodyPr wrap="square" lIns="0" tIns="0" rIns="0" bIns="0" rtlCol="0" anchor="ctr"/>
          <a:lstStyle/>
          <a:p>
            <a:pPr indent="0" marL="0">
              <a:buNone/>
            </a:pPr>
            <a:r>
              <a:rPr lang="en-US" sz="1500" b="1" i="1" dirty="0">
                <a:solidFill>
                  <a:schemeClr val="bg1"/>
                </a:solidFill>
              </a:rPr>
              <a:t>Thanking isn't agreeing – it recognises the customer's willingness to tell us.</a:t>
            </a:r>
            <a:endParaRPr lang="en-US" sz="1500" dirty="0"/>
          </a:p>
        </p:txBody>
      </p:sp>
      <p:sp>
        <p:nvSpPr>
          <p:cNvPr id="27" name="text-247"/>
          <p:cNvSpPr txBox="1"/>
          <p:nvPr/>
        </p:nvSpPr>
        <p:spPr>
          <a:xfrm>
            <a:off x="6400800" y="5166360"/>
            <a:ext cx="4967935" cy="914400"/>
          </a:xfrm>
          <a:prstGeom prst="rect">
            <a:avLst/>
          </a:prstGeom>
          <a:noFill/>
          <a:ln/>
        </p:spPr>
        <p:txBody>
          <a:bodyPr wrap="square" lIns="0" tIns="0" rIns="0" bIns="0" rtlCol="0" anchor="ctr"/>
          <a:lstStyle/>
          <a:p>
            <a:pPr rtl="1" algn="r" indent="0" marL="0">
              <a:buNone/>
            </a:pPr>
            <a:r>
              <a:rPr lang="ar-EG" altLang="en-US" sz="1500" b="1" dirty="0">
                <a:solidFill>
                  <a:schemeClr val="accent4"/>
                </a:solidFill>
              </a:rPr>
              <a:t>الشكر لا يعني الموافقة، بل تقدير لرغبة العميل في إخبارنا.</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Connecting with Customers: Green Apron Behaviours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التواصل مع العملاء: سلوكيات المريلة الخضراء</a:t>
            </a:r>
            <a:endParaRPr lang="ar-EG" sz="2000" dirty="0"/>
          </a:p>
        </p:txBody>
      </p:sp>
      <p:sp>
        <p:nvSpPr>
          <p:cNvPr id="4" name="card-248"/>
          <p:cNvSpPr/>
          <p:nvPr/>
        </p:nvSpPr>
        <p:spPr>
          <a:xfrm>
            <a:off x="548640" y="1691640"/>
            <a:ext cx="2036003" cy="260604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249"/>
          <p:cNvSpPr/>
          <p:nvPr/>
        </p:nvSpPr>
        <p:spPr>
          <a:xfrm>
            <a:off x="777240" y="1901952"/>
            <a:ext cx="603504" cy="603504"/>
          </a:xfrm>
          <a:prstGeom prst="ellipse">
            <a:avLst/>
          </a:prstGeom>
          <a:solidFill>
            <a:schemeClr val="accent1"/>
          </a:solidFill>
          <a:ln w="12700">
            <a:solidFill>
              <a:schemeClr val="accent1"/>
            </a:solidFill>
            <a:prstDash val="solid"/>
          </a:ln>
        </p:spPr>
      </p:sp>
      <p:pic>
        <p:nvPicPr>
          <p:cNvPr id="6" name="icon-250" descr="preencoded.png">    </p:cNvPr>
          <p:cNvPicPr>
            <a:picLocks noChangeAspect="1"/>
          </p:cNvPicPr>
          <p:nvPr/>
        </p:nvPicPr>
        <p:blipFill>
          <a:blip r:embed="rId1"/>
          <a:stretch>
            <a:fillRect/>
          </a:stretch>
        </p:blipFill>
        <p:spPr>
          <a:xfrm>
            <a:off x="910011" y="2034723"/>
            <a:ext cx="337962" cy="337962"/>
          </a:xfrm>
          <a:prstGeom prst="rect">
            <a:avLst/>
          </a:prstGeom>
        </p:spPr>
      </p:pic>
      <p:sp>
        <p:nvSpPr>
          <p:cNvPr id="7" name="text-251"/>
          <p:cNvSpPr txBox="1"/>
          <p:nvPr/>
        </p:nvSpPr>
        <p:spPr>
          <a:xfrm>
            <a:off x="777240" y="2651760"/>
            <a:ext cx="1578803" cy="16002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Be Welcoming</a:t>
            </a:r>
            <a:endParaRPr lang="en-US" sz="1500" dirty="0"/>
          </a:p>
          <a:p>
            <a:pPr algn="l" indent="0" marL="0">
              <a:spcAft>
                <a:spcPts val="600"/>
              </a:spcAft>
              <a:buNone/>
            </a:pPr>
            <a:r>
              <a:rPr lang="en-US" sz="1300" dirty="0">
                <a:solidFill>
                  <a:schemeClr val="tx1"/>
                </a:solidFill>
              </a:rPr>
              <a:t>A sense of belonging for all</a:t>
            </a:r>
            <a:endParaRPr lang="en-US" sz="1500" dirty="0"/>
          </a:p>
          <a:p>
            <a:pPr rtl="1" algn="r" indent="0" marL="0">
              <a:spcAft>
                <a:spcPts val="200"/>
              </a:spcAft>
              <a:buNone/>
            </a:pPr>
            <a:r>
              <a:rPr lang="ar-EG" altLang="en-US" sz="1500" b="1" dirty="0">
                <a:solidFill>
                  <a:schemeClr val="tx2"/>
                </a:solidFill>
              </a:rPr>
              <a:t>كن مرحِّباً</a:t>
            </a:r>
            <a:endParaRPr lang="en-US" sz="1500" dirty="0"/>
          </a:p>
          <a:p>
            <a:pPr rtl="1" algn="r" indent="0" marL="0">
              <a:buNone/>
            </a:pPr>
            <a:r>
              <a:rPr lang="ar-EG" altLang="en-US" sz="1300" dirty="0">
                <a:solidFill>
                  <a:schemeClr val="tx1"/>
                </a:solidFill>
              </a:rPr>
              <a:t>إحساس بالانتماء للجميع</a:t>
            </a:r>
            <a:endParaRPr lang="en-US" sz="1500" dirty="0"/>
          </a:p>
        </p:txBody>
      </p:sp>
      <p:sp>
        <p:nvSpPr>
          <p:cNvPr id="8" name="card-252"/>
          <p:cNvSpPr/>
          <p:nvPr/>
        </p:nvSpPr>
        <p:spPr>
          <a:xfrm>
            <a:off x="2767523" y="1691640"/>
            <a:ext cx="2036003" cy="260604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9" name="icon-bg-253"/>
          <p:cNvSpPr/>
          <p:nvPr/>
        </p:nvSpPr>
        <p:spPr>
          <a:xfrm>
            <a:off x="2996123" y="1901952"/>
            <a:ext cx="603504" cy="603504"/>
          </a:xfrm>
          <a:prstGeom prst="ellipse">
            <a:avLst/>
          </a:prstGeom>
          <a:solidFill>
            <a:schemeClr val="accent1"/>
          </a:solidFill>
          <a:ln w="12700">
            <a:solidFill>
              <a:schemeClr val="accent1"/>
            </a:solidFill>
            <a:prstDash val="solid"/>
          </a:ln>
        </p:spPr>
      </p:sp>
      <p:pic>
        <p:nvPicPr>
          <p:cNvPr id="10" name="icon-254" descr="preencoded.png">    </p:cNvPr>
          <p:cNvPicPr>
            <a:picLocks noChangeAspect="1"/>
          </p:cNvPicPr>
          <p:nvPr/>
        </p:nvPicPr>
        <p:blipFill>
          <a:blip r:embed="rId2"/>
          <a:stretch>
            <a:fillRect/>
          </a:stretch>
        </p:blipFill>
        <p:spPr>
          <a:xfrm>
            <a:off x="3128894" y="2034723"/>
            <a:ext cx="337962" cy="337962"/>
          </a:xfrm>
          <a:prstGeom prst="rect">
            <a:avLst/>
          </a:prstGeom>
        </p:spPr>
      </p:pic>
      <p:sp>
        <p:nvSpPr>
          <p:cNvPr id="11" name="text-255"/>
          <p:cNvSpPr txBox="1"/>
          <p:nvPr/>
        </p:nvSpPr>
        <p:spPr>
          <a:xfrm>
            <a:off x="2996123" y="2651760"/>
            <a:ext cx="1578803" cy="16002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Be Genuine</a:t>
            </a:r>
            <a:endParaRPr lang="en-US" sz="1500" dirty="0"/>
          </a:p>
          <a:p>
            <a:pPr algn="l" indent="0" marL="0">
              <a:spcAft>
                <a:spcPts val="600"/>
              </a:spcAft>
              <a:buNone/>
            </a:pPr>
            <a:r>
              <a:rPr lang="en-US" sz="1300" dirty="0">
                <a:solidFill>
                  <a:schemeClr val="tx1"/>
                </a:solidFill>
              </a:rPr>
              <a:t>Connect, discover, respond</a:t>
            </a:r>
            <a:endParaRPr lang="en-US" sz="1500" dirty="0"/>
          </a:p>
          <a:p>
            <a:pPr rtl="1" algn="r" indent="0" marL="0">
              <a:spcAft>
                <a:spcPts val="200"/>
              </a:spcAft>
              <a:buNone/>
            </a:pPr>
            <a:r>
              <a:rPr lang="ar-EG" altLang="en-US" sz="1500" b="1" dirty="0">
                <a:solidFill>
                  <a:schemeClr val="tx2"/>
                </a:solidFill>
              </a:rPr>
              <a:t>كن صادقاً</a:t>
            </a:r>
            <a:endParaRPr lang="en-US" sz="1500" dirty="0"/>
          </a:p>
          <a:p>
            <a:pPr rtl="1" algn="r" indent="0" marL="0">
              <a:buNone/>
            </a:pPr>
            <a:r>
              <a:rPr lang="ar-EG" altLang="en-US" sz="1300" dirty="0">
                <a:solidFill>
                  <a:schemeClr val="tx1"/>
                </a:solidFill>
              </a:rPr>
              <a:t>تواصَل، اكتشف، استجب</a:t>
            </a:r>
            <a:endParaRPr lang="en-US" sz="1500" dirty="0"/>
          </a:p>
        </p:txBody>
      </p:sp>
      <p:sp>
        <p:nvSpPr>
          <p:cNvPr id="12" name="card-256"/>
          <p:cNvSpPr/>
          <p:nvPr/>
        </p:nvSpPr>
        <p:spPr>
          <a:xfrm>
            <a:off x="4986406" y="1691640"/>
            <a:ext cx="2036003" cy="260604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3" name="icon-bg-257"/>
          <p:cNvSpPr/>
          <p:nvPr/>
        </p:nvSpPr>
        <p:spPr>
          <a:xfrm>
            <a:off x="5215006" y="1901952"/>
            <a:ext cx="603504" cy="603504"/>
          </a:xfrm>
          <a:prstGeom prst="ellipse">
            <a:avLst/>
          </a:prstGeom>
          <a:solidFill>
            <a:schemeClr val="accent1"/>
          </a:solidFill>
          <a:ln w="12700">
            <a:solidFill>
              <a:schemeClr val="accent1"/>
            </a:solidFill>
            <a:prstDash val="solid"/>
          </a:ln>
        </p:spPr>
      </p:sp>
      <p:pic>
        <p:nvPicPr>
          <p:cNvPr id="14" name="icon-258" descr="preencoded.png">    </p:cNvPr>
          <p:cNvPicPr>
            <a:picLocks noChangeAspect="1"/>
          </p:cNvPicPr>
          <p:nvPr/>
        </p:nvPicPr>
        <p:blipFill>
          <a:blip r:embed="rId3"/>
          <a:stretch>
            <a:fillRect/>
          </a:stretch>
        </p:blipFill>
        <p:spPr>
          <a:xfrm>
            <a:off x="5347777" y="2034723"/>
            <a:ext cx="337962" cy="337962"/>
          </a:xfrm>
          <a:prstGeom prst="rect">
            <a:avLst/>
          </a:prstGeom>
        </p:spPr>
      </p:pic>
      <p:sp>
        <p:nvSpPr>
          <p:cNvPr id="15" name="text-259"/>
          <p:cNvSpPr txBox="1"/>
          <p:nvPr/>
        </p:nvSpPr>
        <p:spPr>
          <a:xfrm>
            <a:off x="5215006" y="2651760"/>
            <a:ext cx="1578803" cy="16002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Be Knowledgeable</a:t>
            </a:r>
            <a:endParaRPr lang="en-US" sz="1500" dirty="0"/>
          </a:p>
          <a:p>
            <a:pPr algn="l" indent="0" marL="0">
              <a:spcAft>
                <a:spcPts val="600"/>
              </a:spcAft>
              <a:buNone/>
            </a:pPr>
            <a:r>
              <a:rPr lang="en-US" sz="1300" dirty="0">
                <a:solidFill>
                  <a:schemeClr val="tx1"/>
                </a:solidFill>
              </a:rPr>
              <a:t>Love and share your craft</a:t>
            </a:r>
            <a:endParaRPr lang="en-US" sz="1500" dirty="0"/>
          </a:p>
          <a:p>
            <a:pPr rtl="1" algn="r" indent="0" marL="0">
              <a:spcAft>
                <a:spcPts val="200"/>
              </a:spcAft>
              <a:buNone/>
            </a:pPr>
            <a:r>
              <a:rPr lang="ar-EG" altLang="en-US" sz="1500" b="1" dirty="0">
                <a:solidFill>
                  <a:schemeClr val="tx2"/>
                </a:solidFill>
              </a:rPr>
              <a:t>كن ملمّاً</a:t>
            </a:r>
            <a:endParaRPr lang="en-US" sz="1500" dirty="0"/>
          </a:p>
          <a:p>
            <a:pPr rtl="1" algn="r" indent="0" marL="0">
              <a:buNone/>
            </a:pPr>
            <a:r>
              <a:rPr lang="ar-EG" altLang="en-US" sz="1300" dirty="0">
                <a:solidFill>
                  <a:schemeClr val="tx1"/>
                </a:solidFill>
              </a:rPr>
              <a:t>أحبّ حرفتك وشاركها</a:t>
            </a:r>
            <a:endParaRPr lang="en-US" sz="1500" dirty="0"/>
          </a:p>
        </p:txBody>
      </p:sp>
      <p:sp>
        <p:nvSpPr>
          <p:cNvPr id="16" name="card-260"/>
          <p:cNvSpPr/>
          <p:nvPr/>
        </p:nvSpPr>
        <p:spPr>
          <a:xfrm>
            <a:off x="7205289" y="1691640"/>
            <a:ext cx="2036003" cy="260604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7" name="icon-bg-261"/>
          <p:cNvSpPr/>
          <p:nvPr/>
        </p:nvSpPr>
        <p:spPr>
          <a:xfrm>
            <a:off x="7433889" y="1901952"/>
            <a:ext cx="603504" cy="603504"/>
          </a:xfrm>
          <a:prstGeom prst="ellipse">
            <a:avLst/>
          </a:prstGeom>
          <a:solidFill>
            <a:schemeClr val="accent1"/>
          </a:solidFill>
          <a:ln w="12700">
            <a:solidFill>
              <a:schemeClr val="accent1"/>
            </a:solidFill>
            <a:prstDash val="solid"/>
          </a:ln>
        </p:spPr>
      </p:sp>
      <p:pic>
        <p:nvPicPr>
          <p:cNvPr id="18" name="icon-262" descr="preencoded.png">    </p:cNvPr>
          <p:cNvPicPr>
            <a:picLocks noChangeAspect="1"/>
          </p:cNvPicPr>
          <p:nvPr/>
        </p:nvPicPr>
        <p:blipFill>
          <a:blip r:embed="rId4"/>
          <a:stretch>
            <a:fillRect/>
          </a:stretch>
        </p:blipFill>
        <p:spPr>
          <a:xfrm>
            <a:off x="7566660" y="2034723"/>
            <a:ext cx="337962" cy="337962"/>
          </a:xfrm>
          <a:prstGeom prst="rect">
            <a:avLst/>
          </a:prstGeom>
        </p:spPr>
      </p:pic>
      <p:sp>
        <p:nvSpPr>
          <p:cNvPr id="19" name="text-263"/>
          <p:cNvSpPr txBox="1"/>
          <p:nvPr/>
        </p:nvSpPr>
        <p:spPr>
          <a:xfrm>
            <a:off x="7433889" y="2651760"/>
            <a:ext cx="1578803" cy="16002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Be Considerate</a:t>
            </a:r>
            <a:endParaRPr lang="en-US" sz="1500" dirty="0"/>
          </a:p>
          <a:p>
            <a:pPr algn="l" indent="0" marL="0">
              <a:spcAft>
                <a:spcPts val="600"/>
              </a:spcAft>
              <a:buNone/>
            </a:pPr>
            <a:r>
              <a:rPr lang="en-US" sz="1300" dirty="0">
                <a:solidFill>
                  <a:schemeClr val="tx1"/>
                </a:solidFill>
              </a:rPr>
              <a:t>Care for self, team, planet</a:t>
            </a:r>
            <a:endParaRPr lang="en-US" sz="1500" dirty="0"/>
          </a:p>
          <a:p>
            <a:pPr rtl="1" algn="r" indent="0" marL="0">
              <a:spcAft>
                <a:spcPts val="200"/>
              </a:spcAft>
              <a:buNone/>
            </a:pPr>
            <a:r>
              <a:rPr lang="ar-EG" altLang="en-US" sz="1500" b="1" dirty="0">
                <a:solidFill>
                  <a:schemeClr val="tx2"/>
                </a:solidFill>
              </a:rPr>
              <a:t>كن مراعياً</a:t>
            </a:r>
            <a:endParaRPr lang="en-US" sz="1500" dirty="0"/>
          </a:p>
          <a:p>
            <a:pPr rtl="1" algn="r" indent="0" marL="0">
              <a:buNone/>
            </a:pPr>
            <a:r>
              <a:rPr lang="ar-EG" altLang="en-US" sz="1300" dirty="0">
                <a:solidFill>
                  <a:schemeClr val="tx1"/>
                </a:solidFill>
              </a:rPr>
              <a:t>اهتم بنفسك وفريقك والبيئة</a:t>
            </a:r>
            <a:endParaRPr lang="en-US" sz="1500" dirty="0"/>
          </a:p>
        </p:txBody>
      </p:sp>
      <p:sp>
        <p:nvSpPr>
          <p:cNvPr id="20" name="card-264"/>
          <p:cNvSpPr/>
          <p:nvPr/>
        </p:nvSpPr>
        <p:spPr>
          <a:xfrm>
            <a:off x="9424172" y="1691640"/>
            <a:ext cx="2036003" cy="2606040"/>
          </a:xfrm>
          <a:prstGeom prst="roundRect">
            <a:avLst>
              <a:gd name="adj" fmla="val 5389"/>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1" name="icon-bg-265"/>
          <p:cNvSpPr/>
          <p:nvPr/>
        </p:nvSpPr>
        <p:spPr>
          <a:xfrm>
            <a:off x="9652772" y="1901952"/>
            <a:ext cx="603504" cy="603504"/>
          </a:xfrm>
          <a:prstGeom prst="ellipse">
            <a:avLst/>
          </a:prstGeom>
          <a:solidFill>
            <a:schemeClr val="accent1"/>
          </a:solidFill>
          <a:ln w="12700">
            <a:solidFill>
              <a:schemeClr val="accent1"/>
            </a:solidFill>
            <a:prstDash val="solid"/>
          </a:ln>
        </p:spPr>
      </p:sp>
      <p:pic>
        <p:nvPicPr>
          <p:cNvPr id="22" name="icon-266" descr="preencoded.png">    </p:cNvPr>
          <p:cNvPicPr>
            <a:picLocks noChangeAspect="1"/>
          </p:cNvPicPr>
          <p:nvPr/>
        </p:nvPicPr>
        <p:blipFill>
          <a:blip r:embed="rId5"/>
          <a:stretch>
            <a:fillRect/>
          </a:stretch>
        </p:blipFill>
        <p:spPr>
          <a:xfrm>
            <a:off x="9785543" y="2034723"/>
            <a:ext cx="337962" cy="337962"/>
          </a:xfrm>
          <a:prstGeom prst="rect">
            <a:avLst/>
          </a:prstGeom>
        </p:spPr>
      </p:pic>
      <p:sp>
        <p:nvSpPr>
          <p:cNvPr id="23" name="text-267"/>
          <p:cNvSpPr txBox="1"/>
          <p:nvPr/>
        </p:nvSpPr>
        <p:spPr>
          <a:xfrm>
            <a:off x="9652772" y="2651760"/>
            <a:ext cx="1578803" cy="160020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Be Involved</a:t>
            </a:r>
            <a:endParaRPr lang="en-US" sz="1500" dirty="0"/>
          </a:p>
          <a:p>
            <a:pPr algn="l" indent="0" marL="0">
              <a:spcAft>
                <a:spcPts val="600"/>
              </a:spcAft>
              <a:buNone/>
            </a:pPr>
            <a:r>
              <a:rPr lang="en-US" sz="1300" dirty="0">
                <a:solidFill>
                  <a:schemeClr val="tx1"/>
                </a:solidFill>
              </a:rPr>
              <a:t>In your store and community</a:t>
            </a:r>
            <a:endParaRPr lang="en-US" sz="1500" dirty="0"/>
          </a:p>
          <a:p>
            <a:pPr rtl="1" algn="r" indent="0" marL="0">
              <a:spcAft>
                <a:spcPts val="200"/>
              </a:spcAft>
              <a:buNone/>
            </a:pPr>
            <a:r>
              <a:rPr lang="ar-EG" altLang="en-US" sz="1500" b="1" dirty="0">
                <a:solidFill>
                  <a:schemeClr val="tx2"/>
                </a:solidFill>
              </a:rPr>
              <a:t>كن مشاركاً</a:t>
            </a:r>
            <a:endParaRPr lang="en-US" sz="1500" dirty="0"/>
          </a:p>
          <a:p>
            <a:pPr rtl="1" algn="r" indent="0" marL="0">
              <a:buNone/>
            </a:pPr>
            <a:r>
              <a:rPr lang="ar-EG" altLang="en-US" sz="1300" dirty="0">
                <a:solidFill>
                  <a:schemeClr val="tx1"/>
                </a:solidFill>
              </a:rPr>
              <a:t>في متجرك ومجتمعك</a:t>
            </a:r>
            <a:endParaRPr lang="en-US" sz="1500" dirty="0"/>
          </a:p>
        </p:txBody>
      </p:sp>
      <p:sp>
        <p:nvSpPr>
          <p:cNvPr id="24" name="card-268"/>
          <p:cNvSpPr/>
          <p:nvPr/>
        </p:nvSpPr>
        <p:spPr>
          <a:xfrm>
            <a:off x="548640" y="4480560"/>
            <a:ext cx="11094415" cy="1645920"/>
          </a:xfrm>
          <a:prstGeom prst="roundRect">
            <a:avLst>
              <a:gd name="adj" fmla="val 6667"/>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25" name="text-269"/>
          <p:cNvSpPr txBox="1"/>
          <p:nvPr/>
        </p:nvSpPr>
        <p:spPr>
          <a:xfrm>
            <a:off x="868680" y="4617720"/>
            <a:ext cx="5852160" cy="13716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Green Apron Service (2025)</a:t>
            </a:r>
            <a:endParaRPr lang="en-US" sz="1600" dirty="0"/>
          </a:p>
          <a:p>
            <a:pPr indent="0" marL="0">
              <a:buNone/>
            </a:pPr>
            <a:r>
              <a:rPr lang="en-US" sz="1400" dirty="0">
                <a:solidFill>
                  <a:schemeClr val="bg1"/>
                </a:solidFill>
              </a:rPr>
              <a:t>Warm greeting  ·  a message on the cup  ·  real connection at hand-off  ·  a welcoming, clean café  ·  goal of ≤ 4 minutes</a:t>
            </a:r>
            <a:endParaRPr lang="en-US" sz="1600" dirty="0"/>
          </a:p>
        </p:txBody>
      </p:sp>
      <p:sp>
        <p:nvSpPr>
          <p:cNvPr id="26" name="text-270"/>
          <p:cNvSpPr txBox="1"/>
          <p:nvPr/>
        </p:nvSpPr>
        <p:spPr>
          <a:xfrm>
            <a:off x="6492240" y="4617720"/>
            <a:ext cx="4830775" cy="1371600"/>
          </a:xfrm>
          <a:prstGeom prst="rect">
            <a:avLst/>
          </a:prstGeom>
          <a:noFill/>
          <a:ln/>
        </p:spPr>
        <p:txBody>
          <a:bodyPr wrap="square" lIns="0" tIns="0" rIns="0" bIns="0" rtlCol="0" anchor="ctr"/>
          <a:lstStyle/>
          <a:p>
            <a:pPr rtl="1" algn="r" indent="0" marL="0">
              <a:spcAft>
                <a:spcPts val="400"/>
              </a:spcAft>
              <a:buNone/>
            </a:pPr>
            <a:r>
              <a:rPr lang="ar-EG" altLang="en-US" sz="1600" b="1" dirty="0">
                <a:solidFill>
                  <a:schemeClr val="accent4"/>
                </a:solidFill>
              </a:rPr>
              <a:t>خدمة المريلة الخضراء (٢٠٢٥)</a:t>
            </a:r>
            <a:endParaRPr lang="en-US" sz="1600" dirty="0"/>
          </a:p>
          <a:p>
            <a:pPr rtl="1" algn="r" indent="0" marL="0">
              <a:buNone/>
            </a:pPr>
            <a:r>
              <a:rPr lang="ar-EG" altLang="en-US" sz="1400" dirty="0">
                <a:solidFill>
                  <a:schemeClr val="bg1"/>
                </a:solidFill>
              </a:rPr>
              <a:t>ترحيب دافئ · رسالة على الكوب · تواصل حقيقي عند التسليم · مقهى نظيف ومرحِّب · هدف ٤ دقائق أو أقل</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Coaching &amp; Feedback That Lands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توجيه وتغذية راجعة تُحدث فرقاً</a:t>
            </a:r>
            <a:endParaRPr lang="ar-EG" sz="2000" dirty="0"/>
          </a:p>
        </p:txBody>
      </p:sp>
      <p:sp>
        <p:nvSpPr>
          <p:cNvPr id="4" name="sbi-271"/>
          <p:cNvSpPr/>
          <p:nvPr/>
        </p:nvSpPr>
        <p:spPr>
          <a:xfrm>
            <a:off x="548640" y="1691640"/>
            <a:ext cx="960120" cy="960120"/>
          </a:xfrm>
          <a:prstGeom prst="roundRect">
            <a:avLst>
              <a:gd name="adj" fmla="val 11429"/>
            </a:avLst>
          </a:prstGeom>
          <a:solidFill>
            <a:schemeClr val="accent1"/>
          </a:solidFill>
          <a:ln w="12700">
            <a:solidFill>
              <a:schemeClr val="accent1"/>
            </a:solidFill>
            <a:prstDash val="solid"/>
          </a:ln>
        </p:spPr>
      </p:sp>
      <p:sp>
        <p:nvSpPr>
          <p:cNvPr id="5" name="text-272"/>
          <p:cNvSpPr txBox="1"/>
          <p:nvPr/>
        </p:nvSpPr>
        <p:spPr>
          <a:xfrm>
            <a:off x="548640" y="169164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S</a:t>
            </a:r>
            <a:endParaRPr lang="en-US" sz="3600" dirty="0"/>
          </a:p>
        </p:txBody>
      </p:sp>
      <p:sp>
        <p:nvSpPr>
          <p:cNvPr id="6" name="text-273"/>
          <p:cNvSpPr txBox="1"/>
          <p:nvPr/>
        </p:nvSpPr>
        <p:spPr>
          <a:xfrm>
            <a:off x="1691640" y="1737360"/>
            <a:ext cx="4206240" cy="868680"/>
          </a:xfrm>
          <a:prstGeom prst="rect">
            <a:avLst/>
          </a:prstGeom>
          <a:noFill/>
          <a:ln/>
        </p:spPr>
        <p:txBody>
          <a:bodyPr wrap="square" lIns="0" tIns="0" rIns="0" bIns="0" rtlCol="0" anchor="ctr"/>
          <a:lstStyle/>
          <a:p>
            <a:pPr indent="0" marL="0">
              <a:buNone/>
            </a:pPr>
            <a:r>
              <a:rPr lang="en-US" sz="1500" b="1" dirty="0">
                <a:solidFill>
                  <a:schemeClr val="tx1"/>
                </a:solidFill>
              </a:rPr>
              <a:t>Situation  –  When &amp; where</a:t>
            </a:r>
            <a:endParaRPr lang="en-US" sz="1500" dirty="0"/>
          </a:p>
          <a:p>
            <a:pPr rtl="1" algn="r" indent="0" marL="0">
              <a:buNone/>
            </a:pPr>
            <a:r>
              <a:rPr lang="ar-EG" altLang="en-US" sz="1400" dirty="0">
                <a:solidFill>
                  <a:schemeClr val="tx2"/>
                </a:solidFill>
              </a:rPr>
              <a:t>الموقف: متى وأين</a:t>
            </a:r>
            <a:endParaRPr lang="en-US" sz="1500" dirty="0"/>
          </a:p>
        </p:txBody>
      </p:sp>
      <p:sp>
        <p:nvSpPr>
          <p:cNvPr id="7" name="sbi-274"/>
          <p:cNvSpPr/>
          <p:nvPr/>
        </p:nvSpPr>
        <p:spPr>
          <a:xfrm>
            <a:off x="548640" y="2807208"/>
            <a:ext cx="960120" cy="960120"/>
          </a:xfrm>
          <a:prstGeom prst="roundRect">
            <a:avLst>
              <a:gd name="adj" fmla="val 11429"/>
            </a:avLst>
          </a:prstGeom>
          <a:solidFill>
            <a:schemeClr val="accent1"/>
          </a:solidFill>
          <a:ln w="12700">
            <a:solidFill>
              <a:schemeClr val="accent1"/>
            </a:solidFill>
            <a:prstDash val="solid"/>
          </a:ln>
        </p:spPr>
      </p:sp>
      <p:sp>
        <p:nvSpPr>
          <p:cNvPr id="8" name="text-275"/>
          <p:cNvSpPr txBox="1"/>
          <p:nvPr/>
        </p:nvSpPr>
        <p:spPr>
          <a:xfrm>
            <a:off x="548640" y="2807208"/>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B</a:t>
            </a:r>
            <a:endParaRPr lang="en-US" sz="3600" dirty="0"/>
          </a:p>
        </p:txBody>
      </p:sp>
      <p:sp>
        <p:nvSpPr>
          <p:cNvPr id="9" name="text-276"/>
          <p:cNvSpPr txBox="1"/>
          <p:nvPr/>
        </p:nvSpPr>
        <p:spPr>
          <a:xfrm>
            <a:off x="1691640" y="2852928"/>
            <a:ext cx="4206240" cy="868680"/>
          </a:xfrm>
          <a:prstGeom prst="rect">
            <a:avLst/>
          </a:prstGeom>
          <a:noFill/>
          <a:ln/>
        </p:spPr>
        <p:txBody>
          <a:bodyPr wrap="square" lIns="0" tIns="0" rIns="0" bIns="0" rtlCol="0" anchor="ctr"/>
          <a:lstStyle/>
          <a:p>
            <a:pPr indent="0" marL="0">
              <a:buNone/>
            </a:pPr>
            <a:r>
              <a:rPr lang="en-US" sz="1500" b="1" dirty="0">
                <a:solidFill>
                  <a:schemeClr val="tx1"/>
                </a:solidFill>
              </a:rPr>
              <a:t>Behaviour  –  What you saw – facts only</a:t>
            </a:r>
            <a:endParaRPr lang="en-US" sz="1500" dirty="0"/>
          </a:p>
          <a:p>
            <a:pPr rtl="1" algn="r" indent="0" marL="0">
              <a:buNone/>
            </a:pPr>
            <a:r>
              <a:rPr lang="ar-EG" altLang="en-US" sz="1400" dirty="0">
                <a:solidFill>
                  <a:schemeClr val="tx2"/>
                </a:solidFill>
              </a:rPr>
              <a:t>السلوك: ما رأيته فقط</a:t>
            </a:r>
            <a:endParaRPr lang="en-US" sz="1500" dirty="0"/>
          </a:p>
        </p:txBody>
      </p:sp>
      <p:sp>
        <p:nvSpPr>
          <p:cNvPr id="10" name="sbi-277"/>
          <p:cNvSpPr/>
          <p:nvPr/>
        </p:nvSpPr>
        <p:spPr>
          <a:xfrm>
            <a:off x="548640" y="3922776"/>
            <a:ext cx="960120" cy="960120"/>
          </a:xfrm>
          <a:prstGeom prst="roundRect">
            <a:avLst>
              <a:gd name="adj" fmla="val 11429"/>
            </a:avLst>
          </a:prstGeom>
          <a:solidFill>
            <a:schemeClr val="accent1"/>
          </a:solidFill>
          <a:ln w="12700">
            <a:solidFill>
              <a:schemeClr val="accent1"/>
            </a:solidFill>
            <a:prstDash val="solid"/>
          </a:ln>
        </p:spPr>
      </p:sp>
      <p:sp>
        <p:nvSpPr>
          <p:cNvPr id="11" name="text-278"/>
          <p:cNvSpPr txBox="1"/>
          <p:nvPr/>
        </p:nvSpPr>
        <p:spPr>
          <a:xfrm>
            <a:off x="548640" y="3922776"/>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I</a:t>
            </a:r>
            <a:endParaRPr lang="en-US" sz="3600" dirty="0"/>
          </a:p>
        </p:txBody>
      </p:sp>
      <p:sp>
        <p:nvSpPr>
          <p:cNvPr id="12" name="text-279"/>
          <p:cNvSpPr txBox="1"/>
          <p:nvPr/>
        </p:nvSpPr>
        <p:spPr>
          <a:xfrm>
            <a:off x="1691640" y="3968496"/>
            <a:ext cx="4206240" cy="868680"/>
          </a:xfrm>
          <a:prstGeom prst="rect">
            <a:avLst/>
          </a:prstGeom>
          <a:noFill/>
          <a:ln/>
        </p:spPr>
        <p:txBody>
          <a:bodyPr wrap="square" lIns="0" tIns="0" rIns="0" bIns="0" rtlCol="0" anchor="ctr"/>
          <a:lstStyle/>
          <a:p>
            <a:pPr indent="0" marL="0">
              <a:buNone/>
            </a:pPr>
            <a:r>
              <a:rPr lang="en-US" sz="1500" b="1" dirty="0">
                <a:solidFill>
                  <a:schemeClr val="tx1"/>
                </a:solidFill>
              </a:rPr>
              <a:t>Impact  –  Effect on customer / team</a:t>
            </a:r>
            <a:endParaRPr lang="en-US" sz="1500" dirty="0"/>
          </a:p>
          <a:p>
            <a:pPr rtl="1" algn="r" indent="0" marL="0">
              <a:buNone/>
            </a:pPr>
            <a:r>
              <a:rPr lang="ar-EG" altLang="en-US" sz="1400" dirty="0">
                <a:solidFill>
                  <a:schemeClr val="tx2"/>
                </a:solidFill>
              </a:rPr>
              <a:t>الأثر: على العميل والفريق</a:t>
            </a:r>
            <a:endParaRPr lang="en-US" sz="1500" dirty="0"/>
          </a:p>
        </p:txBody>
      </p:sp>
      <p:sp>
        <p:nvSpPr>
          <p:cNvPr id="13" name="sbi-280"/>
          <p:cNvSpPr/>
          <p:nvPr/>
        </p:nvSpPr>
        <p:spPr>
          <a:xfrm>
            <a:off x="548640" y="5038344"/>
            <a:ext cx="960120" cy="960120"/>
          </a:xfrm>
          <a:prstGeom prst="roundRect">
            <a:avLst>
              <a:gd name="adj" fmla="val 11429"/>
            </a:avLst>
          </a:prstGeom>
          <a:solidFill>
            <a:schemeClr val="accent3"/>
          </a:solidFill>
          <a:ln w="12700">
            <a:solidFill>
              <a:schemeClr val="accent1"/>
            </a:solidFill>
            <a:prstDash val="solid"/>
          </a:ln>
        </p:spPr>
      </p:sp>
      <p:sp>
        <p:nvSpPr>
          <p:cNvPr id="14" name="text-281"/>
          <p:cNvSpPr txBox="1"/>
          <p:nvPr/>
        </p:nvSpPr>
        <p:spPr>
          <a:xfrm>
            <a:off x="548640" y="5038344"/>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N</a:t>
            </a:r>
            <a:endParaRPr lang="en-US" sz="3600" dirty="0"/>
          </a:p>
        </p:txBody>
      </p:sp>
      <p:sp>
        <p:nvSpPr>
          <p:cNvPr id="15" name="text-282"/>
          <p:cNvSpPr txBox="1"/>
          <p:nvPr/>
        </p:nvSpPr>
        <p:spPr>
          <a:xfrm>
            <a:off x="1691640" y="5084064"/>
            <a:ext cx="4206240" cy="868680"/>
          </a:xfrm>
          <a:prstGeom prst="rect">
            <a:avLst/>
          </a:prstGeom>
          <a:noFill/>
          <a:ln/>
        </p:spPr>
        <p:txBody>
          <a:bodyPr wrap="square" lIns="0" tIns="0" rIns="0" bIns="0" rtlCol="0" anchor="ctr"/>
          <a:lstStyle/>
          <a:p>
            <a:pPr indent="0" marL="0">
              <a:buNone/>
            </a:pPr>
            <a:r>
              <a:rPr lang="en-US" sz="1500" b="1" dirty="0">
                <a:solidFill>
                  <a:schemeClr val="tx1"/>
                </a:solidFill>
              </a:rPr>
              <a:t>Next step  –  Agree what happens next</a:t>
            </a:r>
            <a:endParaRPr lang="en-US" sz="1500" dirty="0"/>
          </a:p>
          <a:p>
            <a:pPr rtl="1" algn="r" indent="0" marL="0">
              <a:buNone/>
            </a:pPr>
            <a:r>
              <a:rPr lang="ar-EG" altLang="en-US" sz="1400" dirty="0">
                <a:solidFill>
                  <a:schemeClr val="tx2"/>
                </a:solidFill>
              </a:rPr>
              <a:t>الخطوة التالية: اتفاق واضح</a:t>
            </a:r>
            <a:endParaRPr lang="en-US" sz="1500" dirty="0"/>
          </a:p>
        </p:txBody>
      </p:sp>
      <p:sp>
        <p:nvSpPr>
          <p:cNvPr id="16" name="card-283"/>
          <p:cNvSpPr/>
          <p:nvPr/>
        </p:nvSpPr>
        <p:spPr>
          <a:xfrm>
            <a:off x="6172200" y="1691640"/>
            <a:ext cx="5470855"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7" name="text-284"/>
          <p:cNvSpPr txBox="1"/>
          <p:nvPr/>
        </p:nvSpPr>
        <p:spPr>
          <a:xfrm>
            <a:off x="6446520" y="1874520"/>
            <a:ext cx="4922215" cy="2240280"/>
          </a:xfrm>
          <a:prstGeom prst="rect">
            <a:avLst/>
          </a:prstGeom>
          <a:noFill/>
          <a:ln/>
        </p:spPr>
        <p:txBody>
          <a:bodyPr wrap="square" lIns="0" tIns="0" rIns="0" bIns="0" rtlCol="0" anchor="t"/>
          <a:lstStyle/>
          <a:p>
            <a:pPr indent="0" marL="0">
              <a:spcAft>
                <a:spcPts val="600"/>
              </a:spcAft>
              <a:buNone/>
            </a:pPr>
            <a:r>
              <a:rPr lang="en-US" sz="1300" b="1" dirty="0">
                <a:solidFill>
                  <a:schemeClr val="tx2"/>
                </a:solidFill>
              </a:rPr>
              <a:t>Example  ·  مثال</a:t>
            </a:r>
            <a:endParaRPr lang="en-US" sz="1300" dirty="0"/>
          </a:p>
          <a:p>
            <a:pPr indent="0" marL="0">
              <a:spcAft>
                <a:spcPts val="800"/>
              </a:spcAft>
              <a:buNone/>
            </a:pPr>
            <a:r>
              <a:rPr lang="en-US" sz="1400" i="1" dirty="0">
                <a:solidFill>
                  <a:schemeClr val="tx1"/>
                </a:solidFill>
              </a:rPr>
              <a:t>“During the 8 am rush (S), you greeted every customer by name at hand-off (B). Two regulars told me it made their morning (I). Can you show Sara how you do it tomorrow? (N)”</a:t>
            </a:r>
            <a:endParaRPr lang="en-US" sz="1300" dirty="0"/>
          </a:p>
          <a:p>
            <a:pPr rtl="1" algn="r" indent="0" marL="0">
              <a:buNone/>
            </a:pPr>
            <a:r>
              <a:rPr lang="ar-EG" altLang="en-US" sz="1300" dirty="0">
                <a:solidFill>
                  <a:schemeClr val="tx1"/>
                </a:solidFill>
              </a:rPr>
              <a:t>«في زحمة الثامنة صباحاً، ناديت كل عميل باسمه عند التسليم، واثنان من العملاء الدائمين قالا إن ذلك أسعدهما. هل يمكنك أن تُري سارة كيف تفعل ذلك غداً؟»</a:t>
            </a:r>
            <a:endParaRPr lang="en-US" sz="1300" dirty="0"/>
          </a:p>
        </p:txBody>
      </p:sp>
      <p:sp>
        <p:nvSpPr>
          <p:cNvPr id="18" name="card-285"/>
          <p:cNvSpPr/>
          <p:nvPr/>
        </p:nvSpPr>
        <p:spPr>
          <a:xfrm>
            <a:off x="6172200" y="4389120"/>
            <a:ext cx="5470855" cy="1737360"/>
          </a:xfrm>
          <a:prstGeom prst="roundRect">
            <a:avLst>
              <a:gd name="adj" fmla="val 6316"/>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9" name="text-286"/>
          <p:cNvSpPr txBox="1"/>
          <p:nvPr/>
        </p:nvSpPr>
        <p:spPr>
          <a:xfrm>
            <a:off x="6446520" y="4526280"/>
            <a:ext cx="4922215" cy="1463040"/>
          </a:xfrm>
          <a:prstGeom prst="rect">
            <a:avLst/>
          </a:prstGeom>
          <a:noFill/>
          <a:ln/>
        </p:spPr>
        <p:txBody>
          <a:bodyPr wrap="square" lIns="0" tIns="0" rIns="0" bIns="0" rtlCol="0" anchor="ctr"/>
          <a:lstStyle/>
          <a:p>
            <a:pPr indent="0" marL="0">
              <a:spcAft>
                <a:spcPts val="800"/>
              </a:spcAft>
              <a:buNone/>
            </a:pPr>
            <a:r>
              <a:rPr lang="en-US" sz="1400" b="1" dirty="0">
                <a:solidFill>
                  <a:schemeClr val="bg1"/>
                </a:solidFill>
              </a:rPr>
              <a:t>Praise in public, redirect in private  ·  Coach in the moment  ·  Recognise more than you correct</a:t>
            </a:r>
            <a:endParaRPr lang="en-US" sz="1400" dirty="0"/>
          </a:p>
          <a:p>
            <a:pPr rtl="1" algn="r" indent="0" marL="0">
              <a:buNone/>
            </a:pPr>
            <a:r>
              <a:rPr lang="ar-EG" altLang="en-US" sz="1400" dirty="0">
                <a:solidFill>
                  <a:schemeClr val="accent4"/>
                </a:solidFill>
              </a:rPr>
              <a:t>امدح علناً ووجّه على انفراد · وجّه في اللحظة · قدّر أكثر مما تصحح</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Handling Difficult Moments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التعامل مع المواقف الصعبة</a:t>
            </a:r>
            <a:endParaRPr lang="ar-EG" sz="2000" dirty="0"/>
          </a:p>
        </p:txBody>
      </p:sp>
      <p:sp>
        <p:nvSpPr>
          <p:cNvPr id="4" name="card-287"/>
          <p:cNvSpPr/>
          <p:nvPr/>
        </p:nvSpPr>
        <p:spPr>
          <a:xfrm>
            <a:off x="548640" y="1691640"/>
            <a:ext cx="5486400" cy="4434840"/>
          </a:xfrm>
          <a:prstGeom prst="roundRect">
            <a:avLst>
              <a:gd name="adj" fmla="val 2474"/>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288"/>
          <p:cNvSpPr/>
          <p:nvPr/>
        </p:nvSpPr>
        <p:spPr>
          <a:xfrm>
            <a:off x="822960" y="1920240"/>
            <a:ext cx="640080" cy="640080"/>
          </a:xfrm>
          <a:prstGeom prst="ellipse">
            <a:avLst/>
          </a:prstGeom>
          <a:solidFill>
            <a:schemeClr val="accent1"/>
          </a:solidFill>
          <a:ln w="12700">
            <a:solidFill>
              <a:schemeClr val="accent1"/>
            </a:solidFill>
            <a:prstDash val="solid"/>
          </a:ln>
        </p:spPr>
      </p:sp>
      <p:pic>
        <p:nvPicPr>
          <p:cNvPr id="6" name="icon-289" descr="preencoded.png">    </p:cNvPr>
          <p:cNvPicPr>
            <a:picLocks noChangeAspect="1"/>
          </p:cNvPicPr>
          <p:nvPr/>
        </p:nvPicPr>
        <p:blipFill>
          <a:blip r:embed="rId1"/>
          <a:stretch>
            <a:fillRect/>
          </a:stretch>
        </p:blipFill>
        <p:spPr>
          <a:xfrm>
            <a:off x="963778" y="2061058"/>
            <a:ext cx="358445" cy="358445"/>
          </a:xfrm>
          <a:prstGeom prst="rect">
            <a:avLst/>
          </a:prstGeom>
        </p:spPr>
      </p:pic>
      <p:sp>
        <p:nvSpPr>
          <p:cNvPr id="7" name="text-290"/>
          <p:cNvSpPr txBox="1"/>
          <p:nvPr/>
        </p:nvSpPr>
        <p:spPr>
          <a:xfrm>
            <a:off x="1645920" y="1901952"/>
            <a:ext cx="4206240" cy="731520"/>
          </a:xfrm>
          <a:prstGeom prst="rect">
            <a:avLst/>
          </a:prstGeom>
          <a:noFill/>
          <a:ln/>
        </p:spPr>
        <p:txBody>
          <a:bodyPr wrap="square" lIns="0" tIns="0" rIns="0" bIns="0" rtlCol="0" anchor="t"/>
          <a:lstStyle/>
          <a:p>
            <a:pPr indent="0" marL="0">
              <a:buNone/>
            </a:pPr>
            <a:r>
              <a:rPr lang="en-US" sz="1600" b="1" dirty="0">
                <a:solidFill>
                  <a:schemeClr val="tx1"/>
                </a:solidFill>
              </a:rPr>
              <a:t>With customers: Interaction Guidelines</a:t>
            </a:r>
            <a:endParaRPr lang="en-US" sz="1600" dirty="0"/>
          </a:p>
          <a:p>
            <a:pPr rtl="1" algn="r" indent="0" marL="0">
              <a:buNone/>
            </a:pPr>
            <a:r>
              <a:rPr lang="ar-EG" altLang="en-US" sz="1500" b="1" dirty="0">
                <a:solidFill>
                  <a:schemeClr val="tx2"/>
                </a:solidFill>
              </a:rPr>
              <a:t>مع العملاء: إرشادات التعامل</a:t>
            </a:r>
            <a:endParaRPr lang="en-US" sz="1600" dirty="0"/>
          </a:p>
        </p:txBody>
      </p:sp>
      <p:sp>
        <p:nvSpPr>
          <p:cNvPr id="8" name="text-291"/>
          <p:cNvSpPr txBox="1"/>
          <p:nvPr/>
        </p:nvSpPr>
        <p:spPr>
          <a:xfrm>
            <a:off x="822960" y="2788920"/>
            <a:ext cx="4937760" cy="320040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Assess the behaviour, not the person</a:t>
            </a:r>
            <a:endParaRPr lang="en-US" sz="1400" dirty="0"/>
          </a:p>
          <a:p>
            <a:pPr rtl="1" algn="r" indent="0" marL="0">
              <a:spcAft>
                <a:spcPts val="800"/>
              </a:spcAft>
              <a:buNone/>
            </a:pPr>
            <a:r>
              <a:rPr lang="ar-EG" altLang="en-US" sz="1300" dirty="0">
                <a:solidFill>
                  <a:schemeClr val="tx2"/>
                </a:solidFill>
              </a:rPr>
              <a:t>قيّم السلوك لا الشخص</a:t>
            </a:r>
            <a:endParaRPr lang="en-US" sz="1400" dirty="0"/>
          </a:p>
          <a:p>
            <a:pPr marL="228600" indent="-228600">
              <a:buSzPct val="100000"/>
              <a:buFont typeface="+mj-lt"/>
              <a:buAutoNum type="arabicPeriod" startAt="1"/>
            </a:pPr>
            <a:r>
              <a:rPr lang="en-US" sz="1400" dirty="0">
                <a:solidFill>
                  <a:schemeClr val="tx1"/>
                </a:solidFill>
              </a:rPr>
              <a:t>Ask another partner to observe – look, listen, be aware</a:t>
            </a:r>
            <a:endParaRPr lang="en-US" sz="1400" dirty="0"/>
          </a:p>
          <a:p>
            <a:pPr rtl="1" algn="r" indent="0" marL="0">
              <a:spcAft>
                <a:spcPts val="800"/>
              </a:spcAft>
              <a:buNone/>
            </a:pPr>
            <a:r>
              <a:rPr lang="ar-EG" altLang="en-US" sz="1300" dirty="0">
                <a:solidFill>
                  <a:schemeClr val="tx2"/>
                </a:solidFill>
              </a:rPr>
              <a:t>اطلب من زميل أن يراقب الموقف</a:t>
            </a:r>
            <a:endParaRPr lang="en-US" sz="1400" dirty="0"/>
          </a:p>
          <a:p>
            <a:pPr marL="228600" indent="-228600">
              <a:buSzPct val="100000"/>
              <a:buFont typeface="+mj-lt"/>
              <a:buAutoNum type="arabicPeriod" startAt="1"/>
            </a:pPr>
            <a:r>
              <a:rPr lang="en-US" sz="1400" dirty="0">
                <a:solidFill>
                  <a:schemeClr val="tx1"/>
                </a:solidFill>
              </a:rPr>
              <a:t>Smile, introduce yourself, ask the customer's name</a:t>
            </a:r>
            <a:endParaRPr lang="en-US" sz="1400" dirty="0"/>
          </a:p>
          <a:p>
            <a:pPr rtl="1" algn="r" indent="0" marL="0">
              <a:spcAft>
                <a:spcPts val="800"/>
              </a:spcAft>
              <a:buNone/>
            </a:pPr>
            <a:r>
              <a:rPr lang="ar-EG" altLang="en-US" sz="1300" dirty="0">
                <a:solidFill>
                  <a:schemeClr val="tx2"/>
                </a:solidFill>
              </a:rPr>
              <a:t>ابتسم وعرّف بنفسك واسأل عن اسمه</a:t>
            </a:r>
            <a:endParaRPr lang="en-US" sz="1400" dirty="0"/>
          </a:p>
          <a:p>
            <a:pPr marL="228600" indent="-228600">
              <a:buSzPct val="100000"/>
              <a:buFont typeface="+mj-lt"/>
              <a:buAutoNum type="arabicPeriod" startAt="1"/>
            </a:pPr>
            <a:r>
              <a:rPr lang="en-US" sz="1400" dirty="0">
                <a:solidFill>
                  <a:schemeClr val="tx1"/>
                </a:solidFill>
              </a:rPr>
              <a:t>Listen actively, use a calm tone, clearly state what you need</a:t>
            </a:r>
            <a:endParaRPr lang="en-US" sz="1400" dirty="0"/>
          </a:p>
          <a:p>
            <a:pPr rtl="1" algn="r" indent="0" marL="0">
              <a:spcAft>
                <a:spcPts val="800"/>
              </a:spcAft>
              <a:buNone/>
            </a:pPr>
            <a:r>
              <a:rPr lang="ar-EG" altLang="en-US" sz="1300" dirty="0">
                <a:solidFill>
                  <a:schemeClr val="tx2"/>
                </a:solidFill>
              </a:rPr>
              <a:t>أنصت بهدوء ووضّح ما تحتاجه بوضوح</a:t>
            </a:r>
            <a:endParaRPr lang="en-US" sz="1400" dirty="0"/>
          </a:p>
        </p:txBody>
      </p:sp>
      <p:sp>
        <p:nvSpPr>
          <p:cNvPr id="9" name="card-292"/>
          <p:cNvSpPr/>
          <p:nvPr/>
        </p:nvSpPr>
        <p:spPr>
          <a:xfrm>
            <a:off x="6336792" y="1691640"/>
            <a:ext cx="5306263" cy="4434840"/>
          </a:xfrm>
          <a:prstGeom prst="roundRect">
            <a:avLst>
              <a:gd name="adj" fmla="val 2474"/>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0" name="icon-bg-293"/>
          <p:cNvSpPr/>
          <p:nvPr/>
        </p:nvSpPr>
        <p:spPr>
          <a:xfrm>
            <a:off x="6611112" y="1920240"/>
            <a:ext cx="640080" cy="640080"/>
          </a:xfrm>
          <a:prstGeom prst="ellipse">
            <a:avLst/>
          </a:prstGeom>
          <a:solidFill>
            <a:schemeClr val="accent3"/>
          </a:solidFill>
          <a:ln w="12700">
            <a:solidFill>
              <a:schemeClr val="accent3"/>
            </a:solidFill>
            <a:prstDash val="solid"/>
          </a:ln>
        </p:spPr>
      </p:sp>
      <p:pic>
        <p:nvPicPr>
          <p:cNvPr id="11" name="icon-294" descr="preencoded.png">    </p:cNvPr>
          <p:cNvPicPr>
            <a:picLocks noChangeAspect="1"/>
          </p:cNvPicPr>
          <p:nvPr/>
        </p:nvPicPr>
        <p:blipFill>
          <a:blip r:embed="rId2"/>
          <a:stretch>
            <a:fillRect/>
          </a:stretch>
        </p:blipFill>
        <p:spPr>
          <a:xfrm>
            <a:off x="6751930" y="2061058"/>
            <a:ext cx="358445" cy="358445"/>
          </a:xfrm>
          <a:prstGeom prst="rect">
            <a:avLst/>
          </a:prstGeom>
        </p:spPr>
      </p:pic>
      <p:sp>
        <p:nvSpPr>
          <p:cNvPr id="12" name="text-295"/>
          <p:cNvSpPr txBox="1"/>
          <p:nvPr/>
        </p:nvSpPr>
        <p:spPr>
          <a:xfrm>
            <a:off x="7434072" y="1901952"/>
            <a:ext cx="4114800" cy="731520"/>
          </a:xfrm>
          <a:prstGeom prst="rect">
            <a:avLst/>
          </a:prstGeom>
          <a:noFill/>
          <a:ln/>
        </p:spPr>
        <p:txBody>
          <a:bodyPr wrap="square" lIns="0" tIns="0" rIns="0" bIns="0" rtlCol="0" anchor="t"/>
          <a:lstStyle/>
          <a:p>
            <a:pPr indent="0" marL="0">
              <a:buNone/>
            </a:pPr>
            <a:r>
              <a:rPr lang="en-US" sz="1600" b="1" dirty="0">
                <a:solidFill>
                  <a:schemeClr val="bg1"/>
                </a:solidFill>
              </a:rPr>
              <a:t>Between partners: resolve conflict</a:t>
            </a:r>
            <a:endParaRPr lang="en-US" sz="1600" dirty="0"/>
          </a:p>
          <a:p>
            <a:pPr rtl="1" algn="r" indent="0" marL="0">
              <a:buNone/>
            </a:pPr>
            <a:r>
              <a:rPr lang="ar-EG" altLang="en-US" sz="1500" b="1" dirty="0">
                <a:solidFill>
                  <a:schemeClr val="accent4"/>
                </a:solidFill>
              </a:rPr>
              <a:t>بين الشركاء: حل الخلافات</a:t>
            </a:r>
            <a:endParaRPr lang="en-US" sz="1600" dirty="0"/>
          </a:p>
        </p:txBody>
      </p:sp>
      <p:sp>
        <p:nvSpPr>
          <p:cNvPr id="13" name="text-296"/>
          <p:cNvSpPr txBox="1"/>
          <p:nvPr/>
        </p:nvSpPr>
        <p:spPr>
          <a:xfrm>
            <a:off x="6611112" y="2788920"/>
            <a:ext cx="4757623" cy="3200400"/>
          </a:xfrm>
          <a:prstGeom prst="rect">
            <a:avLst/>
          </a:prstGeom>
          <a:noFill/>
          <a:ln/>
        </p:spPr>
        <p:txBody>
          <a:bodyPr wrap="square" lIns="0" tIns="0" rIns="0" bIns="0" rtlCol="0" anchor="t"/>
          <a:lstStyle/>
          <a:p>
            <a:pPr marL="177800" indent="-177800">
              <a:buSzPct val="100000"/>
              <a:buChar char="•"/>
            </a:pPr>
            <a:r>
              <a:rPr lang="en-US" sz="1400" dirty="0">
                <a:solidFill>
                  <a:schemeClr val="bg1"/>
                </a:solidFill>
              </a:rPr>
              <a:t>Step off the floor – never argue in front of customers</a:t>
            </a:r>
            <a:endParaRPr lang="en-US" sz="1400" dirty="0"/>
          </a:p>
          <a:p>
            <a:pPr rtl="1" algn="r" indent="0" marL="0">
              <a:spcAft>
                <a:spcPts val="800"/>
              </a:spcAft>
              <a:buNone/>
            </a:pPr>
            <a:r>
              <a:rPr lang="ar-EG" altLang="en-US" sz="1300" dirty="0">
                <a:solidFill>
                  <a:schemeClr val="accent4"/>
                </a:solidFill>
              </a:rPr>
              <a:t>ابتعد عن الأرضية ولا تتجادل أمام العملاء</a:t>
            </a:r>
            <a:endParaRPr lang="en-US" sz="1400" dirty="0"/>
          </a:p>
          <a:p>
            <a:pPr marL="177800" indent="-177800">
              <a:buSzPct val="100000"/>
              <a:buChar char="•"/>
            </a:pPr>
            <a:r>
              <a:rPr lang="en-US" sz="1400" dirty="0">
                <a:solidFill>
                  <a:schemeClr val="bg1"/>
                </a:solidFill>
              </a:rPr>
              <a:t>Hear each side separately, then together</a:t>
            </a:r>
            <a:endParaRPr lang="en-US" sz="1400" dirty="0"/>
          </a:p>
          <a:p>
            <a:pPr rtl="1" algn="r" indent="0" marL="0">
              <a:spcAft>
                <a:spcPts val="800"/>
              </a:spcAft>
              <a:buNone/>
            </a:pPr>
            <a:r>
              <a:rPr lang="ar-EG" altLang="en-US" sz="1300" dirty="0">
                <a:solidFill>
                  <a:schemeClr val="accent4"/>
                </a:solidFill>
              </a:rPr>
              <a:t>استمع لكل طرف ثم لهما معاً</a:t>
            </a:r>
            <a:endParaRPr lang="en-US" sz="1400" dirty="0"/>
          </a:p>
          <a:p>
            <a:pPr marL="177800" indent="-177800">
              <a:buSzPct val="100000"/>
              <a:buChar char="•"/>
            </a:pPr>
            <a:r>
              <a:rPr lang="en-US" sz="1400" dirty="0">
                <a:solidFill>
                  <a:schemeClr val="bg1"/>
                </a:solidFill>
              </a:rPr>
              <a:t>Focus on facts and the shared goal: the customer</a:t>
            </a:r>
            <a:endParaRPr lang="en-US" sz="1400" dirty="0"/>
          </a:p>
          <a:p>
            <a:pPr rtl="1" algn="r" indent="0" marL="0">
              <a:spcAft>
                <a:spcPts val="800"/>
              </a:spcAft>
              <a:buNone/>
            </a:pPr>
            <a:r>
              <a:rPr lang="ar-EG" altLang="en-US" sz="1300" dirty="0">
                <a:solidFill>
                  <a:schemeClr val="accent4"/>
                </a:solidFill>
              </a:rPr>
              <a:t>ركّز على الحقائق والهدف المشترك</a:t>
            </a:r>
            <a:endParaRPr lang="en-US" sz="1400" dirty="0"/>
          </a:p>
          <a:p>
            <a:pPr marL="177800" indent="-177800">
              <a:buSzPct val="100000"/>
              <a:buChar char="•"/>
            </a:pPr>
            <a:r>
              <a:rPr lang="en-US" sz="1400" dirty="0">
                <a:solidFill>
                  <a:schemeClr val="bg1"/>
                </a:solidFill>
              </a:rPr>
              <a:t>Agree next steps; document &amp; escalate to your SM if needed</a:t>
            </a:r>
            <a:endParaRPr lang="en-US" sz="1400" dirty="0"/>
          </a:p>
          <a:p>
            <a:pPr rtl="1" algn="r" indent="0" marL="0">
              <a:spcAft>
                <a:spcPts val="800"/>
              </a:spcAft>
              <a:buNone/>
            </a:pPr>
            <a:r>
              <a:rPr lang="ar-EG" altLang="en-US" sz="1300" dirty="0">
                <a:solidFill>
                  <a:schemeClr val="accent4"/>
                </a:solidFill>
              </a:rPr>
              <a:t>اتفقوا على الحل، ووثّق وصعّد للمدير عند الحاجة</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3200400" cy="1371600"/>
          </a:xfrm>
          <a:prstGeom prst="rect">
            <a:avLst/>
          </a:prstGeom>
          <a:noFill/>
          <a:ln/>
        </p:spPr>
        <p:txBody>
          <a:bodyPr wrap="square" lIns="0" tIns="0" rIns="0" bIns="0" rtlCol="0" anchor="ctr"/>
          <a:lstStyle/>
          <a:p>
            <a:pPr algn="l" indent="0" marL="0">
              <a:buNone/>
            </a:pPr>
            <a:r>
              <a:rPr lang="en-US" sz="9600" b="1" dirty="0">
                <a:solidFill>
                  <a:schemeClr val="accent3"/>
                </a:solidFill>
              </a:rPr>
              <a:t>03</a:t>
            </a:r>
            <a:endParaRPr lang="en-US" sz="9600" dirty="0"/>
          </a:p>
        </p:txBody>
      </p:sp>
      <p:sp>
        <p:nvSpPr>
          <p:cNvPr id="3" name="Text 0"/>
          <p:cNvSpPr/>
          <p:nvPr>
            <p:ph idx="101" type="title" hasCustomPrompt="1"/>
          </p:nvPr>
        </p:nvSpPr>
        <p:spPr>
          <a:xfrm>
            <a:off x="640080" y="27432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rPr>
              <a:t>Effective Time Management</a:t>
            </a:r>
            <a:endParaRPr lang="en-US" sz="4000" dirty="0"/>
          </a:p>
        </p:txBody>
      </p:sp>
      <p:sp>
        <p:nvSpPr>
          <p:cNvPr id="4" name="Text 0"/>
          <p:cNvSpPr/>
          <p:nvPr>
            <p:ph idx="102" type="body" hasCustomPrompt="1"/>
          </p:nvPr>
        </p:nvSpPr>
        <p:spPr>
          <a:xfrm>
            <a:off x="640080" y="4160520"/>
            <a:ext cx="6949440" cy="731520"/>
          </a:xfrm>
          <a:prstGeom prst="rect">
            <a:avLst/>
          </a:prstGeom>
          <a:noFill/>
          <a:ln/>
        </p:spPr>
        <p:txBody>
          <a:bodyPr wrap="square" lIns="0" tIns="0" rIns="0" bIns="0" rtlCol="0" anchor="t"/>
          <a:lstStyle/>
          <a:p>
            <a:pPr rtl="1" algn="r" indent="0" marL="0">
              <a:buNone/>
            </a:pPr>
            <a:r>
              <a:rPr lang="ar-EG" altLang="en-US" sz="2800" b="1" dirty="0">
                <a:solidFill>
                  <a:schemeClr val="accent4"/>
                </a:solidFill>
              </a:rPr>
              <a:t>إدارة الوقت بفعالية</a:t>
            </a:r>
            <a:endParaRPr lang="ar-EG" sz="2800" dirty="0"/>
          </a:p>
        </p:txBody>
      </p:sp>
      <p:sp>
        <p:nvSpPr>
          <p:cNvPr id="5" name="Text 0"/>
          <p:cNvSpPr/>
          <p:nvPr>
            <p:ph idx="103" type="body" hasCustomPrompt="1"/>
          </p:nvPr>
        </p:nvSpPr>
        <p:spPr>
          <a:xfrm>
            <a:off x="640080" y="5074920"/>
            <a:ext cx="6949440" cy="822960"/>
          </a:xfrm>
          <a:prstGeom prst="rect">
            <a:avLst/>
          </a:prstGeom>
          <a:noFill/>
          <a:ln/>
        </p:spPr>
        <p:txBody>
          <a:bodyPr wrap="square" lIns="0" tIns="0" rIns="0" bIns="0" rtlCol="0" anchor="t"/>
          <a:lstStyle/>
          <a:p>
            <a:pPr algn="l" indent="0" marL="0">
              <a:buNone/>
            </a:pPr>
            <a:r>
              <a:rPr lang="en-US" sz="1500" dirty="0">
                <a:solidFill>
                  <a:schemeClr val="accent4"/>
                </a:solidFill>
              </a:rPr>
              <a:t>Plan the shift, protect the peak, finish strong</a:t>
            </a:r>
            <a:endParaRPr lang="en-US" sz="1500" dirty="0"/>
          </a:p>
        </p:txBody>
      </p:sp>
      <p:sp>
        <p:nvSpPr>
          <p:cNvPr id="6" name="sec-circle"/>
          <p:cNvSpPr/>
          <p:nvPr/>
        </p:nvSpPr>
        <p:spPr>
          <a:xfrm>
            <a:off x="8229600" y="1463040"/>
            <a:ext cx="3566160" cy="3566160"/>
          </a:xfrm>
          <a:prstGeom prst="ellipse">
            <a:avLst/>
          </a:prstGeom>
          <a:solidFill>
            <a:schemeClr val="accent1"/>
          </a:solidFill>
          <a:ln w="12700">
            <a:solidFill>
              <a:schemeClr val="accent1"/>
            </a:solidFill>
            <a:prstDash val="solid"/>
          </a:ln>
        </p:spPr>
      </p:sp>
      <p:pic>
        <p:nvPicPr>
          <p:cNvPr id="7" name="sec-icon" descr="preencoded.png">    </p:cNvPr>
          <p:cNvPicPr>
            <a:picLocks noChangeAspect="1"/>
          </p:cNvPicPr>
          <p:nvPr/>
        </p:nvPicPr>
        <p:blipFill>
          <a:blip r:embed="rId1"/>
          <a:stretch>
            <a:fillRect/>
          </a:stretch>
        </p:blipFill>
        <p:spPr>
          <a:xfrm>
            <a:off x="9235440" y="2468880"/>
            <a:ext cx="1554480" cy="1554480"/>
          </a:xfrm>
          <a:prstGeom prst="rect">
            <a:avLst/>
          </a:prstGeom>
        </p:spPr>
      </p:pic>
      <p:pic>
        <p:nvPicPr>
          <p:cNvPr id="8" name="sec-logo" descr="preencoded.png">    </p:cNvPr>
          <p:cNvPicPr>
            <a:picLocks noChangeAspect="1"/>
          </p:cNvPicPr>
          <p:nvPr/>
        </p:nvPicPr>
        <p:blipFill>
          <a:blip r:embed="rId2"/>
          <a:stretch>
            <a:fillRect/>
          </a:stretch>
        </p:blipFill>
        <p:spPr>
          <a:xfrm>
            <a:off x="11076127" y="365760"/>
            <a:ext cx="566928" cy="56692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Plan Before You Lead: Your Planning Tools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خطّط قبل أن تقود: أدوات التخطيط</a:t>
            </a:r>
            <a:endParaRPr lang="ar-EG" sz="2000" dirty="0"/>
          </a:p>
        </p:txBody>
      </p:sp>
      <p:sp>
        <p:nvSpPr>
          <p:cNvPr id="4" name="card-297"/>
          <p:cNvSpPr/>
          <p:nvPr/>
        </p:nvSpPr>
        <p:spPr>
          <a:xfrm>
            <a:off x="548640" y="1691640"/>
            <a:ext cx="3493008"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298"/>
          <p:cNvSpPr/>
          <p:nvPr/>
        </p:nvSpPr>
        <p:spPr>
          <a:xfrm>
            <a:off x="804672" y="1947672"/>
            <a:ext cx="640080" cy="640080"/>
          </a:xfrm>
          <a:prstGeom prst="ellipse">
            <a:avLst/>
          </a:prstGeom>
          <a:solidFill>
            <a:schemeClr val="accent1"/>
          </a:solidFill>
          <a:ln w="12700">
            <a:solidFill>
              <a:schemeClr val="accent1"/>
            </a:solidFill>
            <a:prstDash val="solid"/>
          </a:ln>
        </p:spPr>
      </p:sp>
      <p:pic>
        <p:nvPicPr>
          <p:cNvPr id="6" name="icon-299" descr="preencoded.png">    </p:cNvPr>
          <p:cNvPicPr>
            <a:picLocks noChangeAspect="1"/>
          </p:cNvPicPr>
          <p:nvPr/>
        </p:nvPicPr>
        <p:blipFill>
          <a:blip r:embed="rId1"/>
          <a:stretch>
            <a:fillRect/>
          </a:stretch>
        </p:blipFill>
        <p:spPr>
          <a:xfrm>
            <a:off x="945490" y="2088490"/>
            <a:ext cx="358445" cy="358445"/>
          </a:xfrm>
          <a:prstGeom prst="rect">
            <a:avLst/>
          </a:prstGeom>
        </p:spPr>
      </p:pic>
      <p:sp>
        <p:nvSpPr>
          <p:cNvPr id="7" name="text-300"/>
          <p:cNvSpPr txBox="1"/>
          <p:nvPr/>
        </p:nvSpPr>
        <p:spPr>
          <a:xfrm>
            <a:off x="1600200" y="1920240"/>
            <a:ext cx="2212848" cy="169164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Daily Coverage Report</a:t>
            </a:r>
            <a:endParaRPr lang="en-US" sz="1500" dirty="0"/>
          </a:p>
          <a:p>
            <a:pPr algn="l" indent="0" marL="0">
              <a:spcAft>
                <a:spcPts val="600"/>
              </a:spcAft>
              <a:buNone/>
            </a:pPr>
            <a:r>
              <a:rPr lang="en-US" sz="1300" dirty="0">
                <a:solidFill>
                  <a:schemeClr val="tx1"/>
                </a:solidFill>
              </a:rPr>
              <a:t>Who's on, positions, routines, rest &amp; meal breaks</a:t>
            </a:r>
            <a:endParaRPr lang="en-US" sz="1500" dirty="0"/>
          </a:p>
          <a:p>
            <a:pPr rtl="1" algn="r" indent="0" marL="0">
              <a:spcAft>
                <a:spcPts val="200"/>
              </a:spcAft>
              <a:buNone/>
            </a:pPr>
            <a:r>
              <a:rPr lang="ar-EG" altLang="en-US" sz="1500" b="1" dirty="0">
                <a:solidFill>
                  <a:schemeClr val="tx2"/>
                </a:solidFill>
              </a:rPr>
              <a:t>تقرير التغطية اليومي</a:t>
            </a:r>
            <a:endParaRPr lang="en-US" sz="1500" dirty="0"/>
          </a:p>
          <a:p>
            <a:pPr rtl="1" algn="r" indent="0" marL="0">
              <a:buNone/>
            </a:pPr>
            <a:r>
              <a:rPr lang="ar-EG" altLang="en-US" sz="1300" dirty="0">
                <a:solidFill>
                  <a:schemeClr val="tx1"/>
                </a:solidFill>
              </a:rPr>
              <a:t>مَن في الشفت والمواقع والاستراحات</a:t>
            </a:r>
            <a:endParaRPr lang="en-US" sz="1500" dirty="0"/>
          </a:p>
        </p:txBody>
      </p:sp>
      <p:sp>
        <p:nvSpPr>
          <p:cNvPr id="8" name="card-301"/>
          <p:cNvSpPr/>
          <p:nvPr/>
        </p:nvSpPr>
        <p:spPr>
          <a:xfrm>
            <a:off x="4315968" y="1691640"/>
            <a:ext cx="3493008"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9" name="icon-bg-302"/>
          <p:cNvSpPr/>
          <p:nvPr/>
        </p:nvSpPr>
        <p:spPr>
          <a:xfrm>
            <a:off x="4572000" y="1947672"/>
            <a:ext cx="640080" cy="640080"/>
          </a:xfrm>
          <a:prstGeom prst="ellipse">
            <a:avLst/>
          </a:prstGeom>
          <a:solidFill>
            <a:schemeClr val="accent1"/>
          </a:solidFill>
          <a:ln w="12700">
            <a:solidFill>
              <a:schemeClr val="accent1"/>
            </a:solidFill>
            <a:prstDash val="solid"/>
          </a:ln>
        </p:spPr>
      </p:sp>
      <p:pic>
        <p:nvPicPr>
          <p:cNvPr id="10" name="icon-303" descr="preencoded.png">    </p:cNvPr>
          <p:cNvPicPr>
            <a:picLocks noChangeAspect="1"/>
          </p:cNvPicPr>
          <p:nvPr/>
        </p:nvPicPr>
        <p:blipFill>
          <a:blip r:embed="rId2"/>
          <a:stretch>
            <a:fillRect/>
          </a:stretch>
        </p:blipFill>
        <p:spPr>
          <a:xfrm>
            <a:off x="4712818" y="2088490"/>
            <a:ext cx="358445" cy="358445"/>
          </a:xfrm>
          <a:prstGeom prst="rect">
            <a:avLst/>
          </a:prstGeom>
        </p:spPr>
      </p:pic>
      <p:sp>
        <p:nvSpPr>
          <p:cNvPr id="11" name="text-304"/>
          <p:cNvSpPr txBox="1"/>
          <p:nvPr/>
        </p:nvSpPr>
        <p:spPr>
          <a:xfrm>
            <a:off x="5367528" y="1920240"/>
            <a:ext cx="2212848" cy="169164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Daily Plan</a:t>
            </a:r>
            <a:endParaRPr lang="en-US" sz="1500" dirty="0"/>
          </a:p>
          <a:p>
            <a:pPr algn="l" indent="0" marL="0">
              <a:spcAft>
                <a:spcPts val="600"/>
              </a:spcAft>
              <a:buNone/>
            </a:pPr>
            <a:r>
              <a:rPr lang="en-US" sz="1300" dirty="0">
                <a:solidFill>
                  <a:schemeClr val="tx1"/>
                </a:solidFill>
              </a:rPr>
              <a:t>Today's priorities and notes from the last shift</a:t>
            </a:r>
            <a:endParaRPr lang="en-US" sz="1500" dirty="0"/>
          </a:p>
          <a:p>
            <a:pPr rtl="1" algn="r" indent="0" marL="0">
              <a:spcAft>
                <a:spcPts val="200"/>
              </a:spcAft>
              <a:buNone/>
            </a:pPr>
            <a:r>
              <a:rPr lang="ar-EG" altLang="en-US" sz="1500" b="1" dirty="0">
                <a:solidFill>
                  <a:schemeClr val="tx2"/>
                </a:solidFill>
              </a:rPr>
              <a:t>الخطة اليومية</a:t>
            </a:r>
            <a:endParaRPr lang="en-US" sz="1500" dirty="0"/>
          </a:p>
          <a:p>
            <a:pPr rtl="1" algn="r" indent="0" marL="0">
              <a:buNone/>
            </a:pPr>
            <a:r>
              <a:rPr lang="ar-EG" altLang="en-US" sz="1300" dirty="0">
                <a:solidFill>
                  <a:schemeClr val="tx1"/>
                </a:solidFill>
              </a:rPr>
              <a:t>أولويات اليوم وملاحظات الشفت السابق</a:t>
            </a:r>
            <a:endParaRPr lang="en-US" sz="1500" dirty="0"/>
          </a:p>
        </p:txBody>
      </p:sp>
      <p:sp>
        <p:nvSpPr>
          <p:cNvPr id="12" name="card-305"/>
          <p:cNvSpPr/>
          <p:nvPr/>
        </p:nvSpPr>
        <p:spPr>
          <a:xfrm>
            <a:off x="8083296" y="1691640"/>
            <a:ext cx="3493008"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3" name="icon-bg-306"/>
          <p:cNvSpPr/>
          <p:nvPr/>
        </p:nvSpPr>
        <p:spPr>
          <a:xfrm>
            <a:off x="8339328" y="1947672"/>
            <a:ext cx="640080" cy="640080"/>
          </a:xfrm>
          <a:prstGeom prst="ellipse">
            <a:avLst/>
          </a:prstGeom>
          <a:solidFill>
            <a:schemeClr val="accent1"/>
          </a:solidFill>
          <a:ln w="12700">
            <a:solidFill>
              <a:schemeClr val="accent1"/>
            </a:solidFill>
            <a:prstDash val="solid"/>
          </a:ln>
        </p:spPr>
      </p:sp>
      <p:pic>
        <p:nvPicPr>
          <p:cNvPr id="14" name="icon-307" descr="preencoded.png">    </p:cNvPr>
          <p:cNvPicPr>
            <a:picLocks noChangeAspect="1"/>
          </p:cNvPicPr>
          <p:nvPr/>
        </p:nvPicPr>
        <p:blipFill>
          <a:blip r:embed="rId3"/>
          <a:stretch>
            <a:fillRect/>
          </a:stretch>
        </p:blipFill>
        <p:spPr>
          <a:xfrm>
            <a:off x="8480146" y="2088490"/>
            <a:ext cx="358445" cy="358445"/>
          </a:xfrm>
          <a:prstGeom prst="rect">
            <a:avLst/>
          </a:prstGeom>
        </p:spPr>
      </p:pic>
      <p:sp>
        <p:nvSpPr>
          <p:cNvPr id="15" name="text-308"/>
          <p:cNvSpPr txBox="1"/>
          <p:nvPr/>
        </p:nvSpPr>
        <p:spPr>
          <a:xfrm>
            <a:off x="9134856" y="1920240"/>
            <a:ext cx="2212848" cy="169164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Store Walk</a:t>
            </a:r>
            <a:endParaRPr lang="en-US" sz="1500" dirty="0"/>
          </a:p>
          <a:p>
            <a:pPr algn="l" indent="0" marL="0">
              <a:spcAft>
                <a:spcPts val="600"/>
              </a:spcAft>
              <a:buNone/>
            </a:pPr>
            <a:r>
              <a:rPr lang="en-US" sz="1300" dirty="0">
                <a:solidFill>
                  <a:schemeClr val="tx1"/>
                </a:solidFill>
              </a:rPr>
              <a:t>Condition of the café: clean, safe, customer-ready</a:t>
            </a:r>
            <a:endParaRPr lang="en-US" sz="1500" dirty="0"/>
          </a:p>
          <a:p>
            <a:pPr rtl="1" algn="r" indent="0" marL="0">
              <a:spcAft>
                <a:spcPts val="200"/>
              </a:spcAft>
              <a:buNone/>
            </a:pPr>
            <a:r>
              <a:rPr lang="ar-EG" altLang="en-US" sz="1500" b="1" dirty="0">
                <a:solidFill>
                  <a:schemeClr val="tx2"/>
                </a:solidFill>
              </a:rPr>
              <a:t>جولة المتجر</a:t>
            </a:r>
            <a:endParaRPr lang="en-US" sz="1500" dirty="0"/>
          </a:p>
          <a:p>
            <a:pPr rtl="1" algn="r" indent="0" marL="0">
              <a:buNone/>
            </a:pPr>
            <a:r>
              <a:rPr lang="ar-EG" altLang="en-US" sz="1300" dirty="0">
                <a:solidFill>
                  <a:schemeClr val="tx1"/>
                </a:solidFill>
              </a:rPr>
              <a:t>نظافة وسلامة وجاهزية المقهى</a:t>
            </a:r>
            <a:endParaRPr lang="en-US" sz="1500" dirty="0"/>
          </a:p>
        </p:txBody>
      </p:sp>
      <p:sp>
        <p:nvSpPr>
          <p:cNvPr id="16" name="card-309"/>
          <p:cNvSpPr/>
          <p:nvPr/>
        </p:nvSpPr>
        <p:spPr>
          <a:xfrm>
            <a:off x="548640" y="4023360"/>
            <a:ext cx="5422392"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7" name="icon-bg-310"/>
          <p:cNvSpPr/>
          <p:nvPr/>
        </p:nvSpPr>
        <p:spPr>
          <a:xfrm>
            <a:off x="804672" y="4279392"/>
            <a:ext cx="640080" cy="640080"/>
          </a:xfrm>
          <a:prstGeom prst="ellipse">
            <a:avLst/>
          </a:prstGeom>
          <a:solidFill>
            <a:schemeClr val="accent1"/>
          </a:solidFill>
          <a:ln w="12700">
            <a:solidFill>
              <a:schemeClr val="accent1"/>
            </a:solidFill>
            <a:prstDash val="solid"/>
          </a:ln>
        </p:spPr>
      </p:sp>
      <p:pic>
        <p:nvPicPr>
          <p:cNvPr id="18" name="icon-311" descr="preencoded.png">    </p:cNvPr>
          <p:cNvPicPr>
            <a:picLocks noChangeAspect="1"/>
          </p:cNvPicPr>
          <p:nvPr/>
        </p:nvPicPr>
        <p:blipFill>
          <a:blip r:embed="rId4"/>
          <a:stretch>
            <a:fillRect/>
          </a:stretch>
        </p:blipFill>
        <p:spPr>
          <a:xfrm>
            <a:off x="945490" y="4420210"/>
            <a:ext cx="358445" cy="358445"/>
          </a:xfrm>
          <a:prstGeom prst="rect">
            <a:avLst/>
          </a:prstGeom>
        </p:spPr>
      </p:pic>
      <p:sp>
        <p:nvSpPr>
          <p:cNvPr id="19" name="text-312"/>
          <p:cNvSpPr txBox="1"/>
          <p:nvPr/>
        </p:nvSpPr>
        <p:spPr>
          <a:xfrm>
            <a:off x="1600200" y="4251960"/>
            <a:ext cx="4142232" cy="169164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Operations Station &amp; Play Caller Cards</a:t>
            </a:r>
            <a:endParaRPr lang="en-US" sz="1500" dirty="0"/>
          </a:p>
          <a:p>
            <a:pPr algn="l" indent="0" marL="0">
              <a:spcAft>
                <a:spcPts val="600"/>
              </a:spcAft>
              <a:buNone/>
            </a:pPr>
            <a:r>
              <a:rPr lang="en-US" sz="1300" dirty="0">
                <a:solidFill>
                  <a:schemeClr val="tx1"/>
                </a:solidFill>
              </a:rPr>
              <a:t>Routine tasks, set by time of day</a:t>
            </a:r>
            <a:endParaRPr lang="en-US" sz="1500" dirty="0"/>
          </a:p>
          <a:p>
            <a:pPr rtl="1" algn="r" indent="0" marL="0">
              <a:spcAft>
                <a:spcPts val="200"/>
              </a:spcAft>
              <a:buNone/>
            </a:pPr>
            <a:r>
              <a:rPr lang="ar-EG" altLang="en-US" sz="1500" b="1" dirty="0">
                <a:solidFill>
                  <a:schemeClr val="tx2"/>
                </a:solidFill>
              </a:rPr>
              <a:t>محطة العمليات وبطاقات الخطة</a:t>
            </a:r>
            <a:endParaRPr lang="en-US" sz="1500" dirty="0"/>
          </a:p>
          <a:p>
            <a:pPr rtl="1" algn="r" indent="0" marL="0">
              <a:buNone/>
            </a:pPr>
            <a:r>
              <a:rPr lang="ar-EG" altLang="en-US" sz="1300" dirty="0">
                <a:solidFill>
                  <a:schemeClr val="tx1"/>
                </a:solidFill>
              </a:rPr>
              <a:t>المهام الروتينية حسب الوقت</a:t>
            </a:r>
            <a:endParaRPr lang="en-US" sz="1500" dirty="0"/>
          </a:p>
        </p:txBody>
      </p:sp>
      <p:sp>
        <p:nvSpPr>
          <p:cNvPr id="20" name="card-313"/>
          <p:cNvSpPr/>
          <p:nvPr/>
        </p:nvSpPr>
        <p:spPr>
          <a:xfrm>
            <a:off x="6153912" y="4023360"/>
            <a:ext cx="5422392"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1" name="icon-bg-314"/>
          <p:cNvSpPr/>
          <p:nvPr/>
        </p:nvSpPr>
        <p:spPr>
          <a:xfrm>
            <a:off x="6409944" y="4279392"/>
            <a:ext cx="640080" cy="640080"/>
          </a:xfrm>
          <a:prstGeom prst="ellipse">
            <a:avLst/>
          </a:prstGeom>
          <a:solidFill>
            <a:schemeClr val="accent1"/>
          </a:solidFill>
          <a:ln w="12700">
            <a:solidFill>
              <a:schemeClr val="accent1"/>
            </a:solidFill>
            <a:prstDash val="solid"/>
          </a:ln>
        </p:spPr>
      </p:sp>
      <p:pic>
        <p:nvPicPr>
          <p:cNvPr id="22" name="icon-315" descr="preencoded.png">    </p:cNvPr>
          <p:cNvPicPr>
            <a:picLocks noChangeAspect="1"/>
          </p:cNvPicPr>
          <p:nvPr/>
        </p:nvPicPr>
        <p:blipFill>
          <a:blip r:embed="rId5"/>
          <a:stretch>
            <a:fillRect/>
          </a:stretch>
        </p:blipFill>
        <p:spPr>
          <a:xfrm>
            <a:off x="6550762" y="4420210"/>
            <a:ext cx="358445" cy="358445"/>
          </a:xfrm>
          <a:prstGeom prst="rect">
            <a:avLst/>
          </a:prstGeom>
        </p:spPr>
      </p:pic>
      <p:sp>
        <p:nvSpPr>
          <p:cNvPr id="23" name="text-316"/>
          <p:cNvSpPr txBox="1"/>
          <p:nvPr/>
        </p:nvSpPr>
        <p:spPr>
          <a:xfrm>
            <a:off x="7205472" y="4251960"/>
            <a:ext cx="4142232" cy="169164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Partner Hub</a:t>
            </a:r>
            <a:endParaRPr lang="en-US" sz="1500" dirty="0"/>
          </a:p>
          <a:p>
            <a:pPr algn="l" indent="0" marL="0">
              <a:spcAft>
                <a:spcPts val="600"/>
              </a:spcAft>
              <a:buNone/>
            </a:pPr>
            <a:r>
              <a:rPr lang="en-US" sz="1300" dirty="0">
                <a:solidFill>
                  <a:schemeClr val="tx1"/>
                </a:solidFill>
              </a:rPr>
              <a:t>Updates, launches and what to share</a:t>
            </a:r>
            <a:endParaRPr lang="en-US" sz="1500" dirty="0"/>
          </a:p>
          <a:p>
            <a:pPr rtl="1" algn="r" indent="0" marL="0">
              <a:spcAft>
                <a:spcPts val="200"/>
              </a:spcAft>
              <a:buNone/>
            </a:pPr>
            <a:r>
              <a:rPr lang="ar-EG" altLang="en-US" sz="1500" b="1" dirty="0">
                <a:solidFill>
                  <a:schemeClr val="tx2"/>
                </a:solidFill>
              </a:rPr>
              <a:t>Partner Hub</a:t>
            </a:r>
            <a:endParaRPr lang="en-US" sz="1500" dirty="0"/>
          </a:p>
          <a:p>
            <a:pPr rtl="1" algn="r" indent="0" marL="0">
              <a:buNone/>
            </a:pPr>
            <a:r>
              <a:rPr lang="ar-EG" altLang="en-US" sz="1300" dirty="0">
                <a:solidFill>
                  <a:schemeClr val="tx1"/>
                </a:solidFill>
              </a:rPr>
              <a:t>التحديثات والإطلاقات وما يجب مشاركته</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Peak vs. Non-Peak: Protect the Customer</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الذروة وغير الذروة: احمِ تجربة العميل</a:t>
            </a:r>
            <a:endParaRPr lang="ar-EG" sz="2000" dirty="0"/>
          </a:p>
        </p:txBody>
      </p:sp>
      <p:sp>
        <p:nvSpPr>
          <p:cNvPr id="4" name="card-317"/>
          <p:cNvSpPr/>
          <p:nvPr/>
        </p:nvSpPr>
        <p:spPr>
          <a:xfrm>
            <a:off x="548640" y="1691640"/>
            <a:ext cx="4160520" cy="4434840"/>
          </a:xfrm>
          <a:prstGeom prst="roundRect">
            <a:avLst>
              <a:gd name="adj" fmla="val 2637"/>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5" name="icon-bg-318"/>
          <p:cNvSpPr/>
          <p:nvPr/>
        </p:nvSpPr>
        <p:spPr>
          <a:xfrm>
            <a:off x="822960" y="1920240"/>
            <a:ext cx="640080" cy="640080"/>
          </a:xfrm>
          <a:prstGeom prst="ellipse">
            <a:avLst/>
          </a:prstGeom>
          <a:solidFill>
            <a:schemeClr val="tx1"/>
          </a:solidFill>
          <a:ln w="12700">
            <a:solidFill>
              <a:schemeClr val="tx1"/>
            </a:solidFill>
            <a:prstDash val="solid"/>
          </a:ln>
        </p:spPr>
      </p:sp>
      <p:pic>
        <p:nvPicPr>
          <p:cNvPr id="6" name="icon-319" descr="preencoded.png">    </p:cNvPr>
          <p:cNvPicPr>
            <a:picLocks noChangeAspect="1"/>
          </p:cNvPicPr>
          <p:nvPr/>
        </p:nvPicPr>
        <p:blipFill>
          <a:blip r:embed="rId1"/>
          <a:stretch>
            <a:fillRect/>
          </a:stretch>
        </p:blipFill>
        <p:spPr>
          <a:xfrm>
            <a:off x="963778" y="2061058"/>
            <a:ext cx="358445" cy="358445"/>
          </a:xfrm>
          <a:prstGeom prst="rect">
            <a:avLst/>
          </a:prstGeom>
        </p:spPr>
      </p:pic>
      <p:sp>
        <p:nvSpPr>
          <p:cNvPr id="7" name="text-320"/>
          <p:cNvSpPr txBox="1"/>
          <p:nvPr/>
        </p:nvSpPr>
        <p:spPr>
          <a:xfrm>
            <a:off x="1645920" y="1874520"/>
            <a:ext cx="2834640" cy="777240"/>
          </a:xfrm>
          <a:prstGeom prst="rect">
            <a:avLst/>
          </a:prstGeom>
          <a:noFill/>
          <a:ln/>
        </p:spPr>
        <p:txBody>
          <a:bodyPr wrap="square" lIns="0" tIns="0" rIns="0" bIns="0" rtlCol="0" anchor="t"/>
          <a:lstStyle/>
          <a:p>
            <a:pPr indent="0" marL="0">
              <a:buNone/>
            </a:pPr>
            <a:r>
              <a:rPr lang="en-US" sz="2000" b="1" dirty="0">
                <a:solidFill>
                  <a:schemeClr val="bg1"/>
                </a:solidFill>
              </a:rPr>
              <a:t>During peak</a:t>
            </a:r>
            <a:endParaRPr lang="en-US" sz="2000" dirty="0"/>
          </a:p>
          <a:p>
            <a:pPr rtl="1" algn="r" indent="0" marL="0">
              <a:buNone/>
            </a:pPr>
            <a:r>
              <a:rPr lang="ar-EG" altLang="en-US" sz="1800" b="1" dirty="0">
                <a:solidFill>
                  <a:schemeClr val="accent4"/>
                </a:solidFill>
              </a:rPr>
              <a:t>وقت الذروة</a:t>
            </a:r>
            <a:endParaRPr lang="en-US" sz="2000" dirty="0"/>
          </a:p>
        </p:txBody>
      </p:sp>
      <p:sp>
        <p:nvSpPr>
          <p:cNvPr id="8" name="text-321"/>
          <p:cNvSpPr txBox="1"/>
          <p:nvPr/>
        </p:nvSpPr>
        <p:spPr>
          <a:xfrm>
            <a:off x="822960" y="2834640"/>
            <a:ext cx="3611880" cy="3200400"/>
          </a:xfrm>
          <a:prstGeom prst="rect">
            <a:avLst/>
          </a:prstGeom>
          <a:noFill/>
          <a:ln/>
        </p:spPr>
        <p:txBody>
          <a:bodyPr wrap="square" lIns="0" tIns="0" rIns="0" bIns="0" rtlCol="0" anchor="t"/>
          <a:lstStyle/>
          <a:p>
            <a:pPr marL="177800" indent="-177800">
              <a:buSzPct val="100000"/>
              <a:buChar char="•"/>
            </a:pPr>
            <a:r>
              <a:rPr lang="en-US" sz="1400" dirty="0">
                <a:solidFill>
                  <a:schemeClr val="bg1"/>
                </a:solidFill>
              </a:rPr>
              <a:t>Everyone on customer-facing positions</a:t>
            </a:r>
            <a:endParaRPr lang="en-US" sz="1400" dirty="0"/>
          </a:p>
          <a:p>
            <a:pPr rtl="1" algn="r" indent="0" marL="0">
              <a:spcAft>
                <a:spcPts val="700"/>
              </a:spcAft>
              <a:buNone/>
            </a:pPr>
            <a:r>
              <a:rPr lang="ar-EG" altLang="en-US" sz="1300" dirty="0">
                <a:solidFill>
                  <a:schemeClr val="accent4"/>
                </a:solidFill>
              </a:rPr>
              <a:t>الجميع في مواقع خدمة العملاء</a:t>
            </a:r>
            <a:endParaRPr lang="en-US" sz="1400" dirty="0"/>
          </a:p>
          <a:p>
            <a:pPr marL="177800" indent="-177800">
              <a:buSzPct val="100000"/>
              <a:buChar char="•"/>
            </a:pPr>
            <a:r>
              <a:rPr lang="en-US" sz="1400" dirty="0">
                <a:solidFill>
                  <a:schemeClr val="bg1"/>
                </a:solidFill>
              </a:rPr>
              <a:t>You stand where you read customer cues</a:t>
            </a:r>
            <a:endParaRPr lang="en-US" sz="1400" dirty="0"/>
          </a:p>
          <a:p>
            <a:pPr rtl="1" algn="r" indent="0" marL="0">
              <a:spcAft>
                <a:spcPts val="700"/>
              </a:spcAft>
              <a:buNone/>
            </a:pPr>
            <a:r>
              <a:rPr lang="ar-EG" altLang="en-US" sz="1300" dirty="0">
                <a:solidFill>
                  <a:schemeClr val="accent4"/>
                </a:solidFill>
              </a:rPr>
              <a:t>قف حيث ترى احتياج العميل</a:t>
            </a:r>
            <a:endParaRPr lang="en-US" sz="1400" dirty="0"/>
          </a:p>
          <a:p>
            <a:pPr marL="177800" indent="-177800">
              <a:buSzPct val="100000"/>
              <a:buChar char="•"/>
            </a:pPr>
            <a:r>
              <a:rPr lang="en-US" sz="1400" dirty="0">
                <a:solidFill>
                  <a:schemeClr val="bg1"/>
                </a:solidFill>
              </a:rPr>
              <a:t>Flex the play as queues build</a:t>
            </a:r>
            <a:endParaRPr lang="en-US" sz="1400" dirty="0"/>
          </a:p>
          <a:p>
            <a:pPr rtl="1" algn="r" indent="0" marL="0">
              <a:spcAft>
                <a:spcPts val="700"/>
              </a:spcAft>
              <a:buNone/>
            </a:pPr>
            <a:r>
              <a:rPr lang="ar-EG" altLang="en-US" sz="1300" dirty="0">
                <a:solidFill>
                  <a:schemeClr val="accent4"/>
                </a:solidFill>
              </a:rPr>
              <a:t>عدّل الخطة مع زيادة الطابور</a:t>
            </a:r>
            <a:endParaRPr lang="en-US" sz="1400" dirty="0"/>
          </a:p>
          <a:p>
            <a:pPr marL="177800" indent="-177800">
              <a:buSzPct val="100000"/>
              <a:buChar char="•"/>
            </a:pPr>
            <a:r>
              <a:rPr lang="en-US" sz="1400" dirty="0">
                <a:solidFill>
                  <a:schemeClr val="bg1"/>
                </a:solidFill>
              </a:rPr>
              <a:t>Pause non-critical tasks</a:t>
            </a:r>
            <a:endParaRPr lang="en-US" sz="1400" dirty="0"/>
          </a:p>
          <a:p>
            <a:pPr rtl="1" algn="r" indent="0" marL="0">
              <a:spcAft>
                <a:spcPts val="700"/>
              </a:spcAft>
              <a:buNone/>
            </a:pPr>
            <a:r>
              <a:rPr lang="ar-EG" altLang="en-US" sz="1300" dirty="0">
                <a:solidFill>
                  <a:schemeClr val="accent4"/>
                </a:solidFill>
              </a:rPr>
              <a:t>أجّل المهام غير الضرورية</a:t>
            </a:r>
            <a:endParaRPr lang="en-US" sz="1400" dirty="0"/>
          </a:p>
        </p:txBody>
      </p:sp>
      <p:sp>
        <p:nvSpPr>
          <p:cNvPr id="9" name="card-322"/>
          <p:cNvSpPr/>
          <p:nvPr/>
        </p:nvSpPr>
        <p:spPr>
          <a:xfrm>
            <a:off x="4892040" y="1691640"/>
            <a:ext cx="4160520" cy="4434840"/>
          </a:xfrm>
          <a:prstGeom prst="roundRect">
            <a:avLst>
              <a:gd name="adj" fmla="val 263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0" name="icon-bg-323"/>
          <p:cNvSpPr/>
          <p:nvPr/>
        </p:nvSpPr>
        <p:spPr>
          <a:xfrm>
            <a:off x="5166360" y="1920240"/>
            <a:ext cx="640080" cy="640080"/>
          </a:xfrm>
          <a:prstGeom prst="ellipse">
            <a:avLst/>
          </a:prstGeom>
          <a:solidFill>
            <a:schemeClr val="accent1"/>
          </a:solidFill>
          <a:ln w="12700">
            <a:solidFill>
              <a:schemeClr val="accent1"/>
            </a:solidFill>
            <a:prstDash val="solid"/>
          </a:ln>
        </p:spPr>
      </p:sp>
      <p:pic>
        <p:nvPicPr>
          <p:cNvPr id="11" name="icon-324" descr="preencoded.png">    </p:cNvPr>
          <p:cNvPicPr>
            <a:picLocks noChangeAspect="1"/>
          </p:cNvPicPr>
          <p:nvPr/>
        </p:nvPicPr>
        <p:blipFill>
          <a:blip r:embed="rId2"/>
          <a:stretch>
            <a:fillRect/>
          </a:stretch>
        </p:blipFill>
        <p:spPr>
          <a:xfrm>
            <a:off x="5307178" y="2061058"/>
            <a:ext cx="358445" cy="358445"/>
          </a:xfrm>
          <a:prstGeom prst="rect">
            <a:avLst/>
          </a:prstGeom>
        </p:spPr>
      </p:pic>
      <p:sp>
        <p:nvSpPr>
          <p:cNvPr id="12" name="text-325"/>
          <p:cNvSpPr txBox="1"/>
          <p:nvPr/>
        </p:nvSpPr>
        <p:spPr>
          <a:xfrm>
            <a:off x="5989320" y="1874520"/>
            <a:ext cx="2834640" cy="777240"/>
          </a:xfrm>
          <a:prstGeom prst="rect">
            <a:avLst/>
          </a:prstGeom>
          <a:noFill/>
          <a:ln/>
        </p:spPr>
        <p:txBody>
          <a:bodyPr wrap="square" lIns="0" tIns="0" rIns="0" bIns="0" rtlCol="0" anchor="t"/>
          <a:lstStyle/>
          <a:p>
            <a:pPr indent="0" marL="0">
              <a:buNone/>
            </a:pPr>
            <a:r>
              <a:rPr lang="en-US" sz="2000" b="1" dirty="0">
                <a:solidFill>
                  <a:schemeClr val="tx1"/>
                </a:solidFill>
              </a:rPr>
              <a:t>During non-peak</a:t>
            </a:r>
            <a:endParaRPr lang="en-US" sz="2000" dirty="0"/>
          </a:p>
          <a:p>
            <a:pPr rtl="1" algn="r" indent="0" marL="0">
              <a:buNone/>
            </a:pPr>
            <a:r>
              <a:rPr lang="ar-EG" altLang="en-US" sz="1800" b="1" dirty="0">
                <a:solidFill>
                  <a:schemeClr val="tx2"/>
                </a:solidFill>
              </a:rPr>
              <a:t>خارج الذروة</a:t>
            </a:r>
            <a:endParaRPr lang="en-US" sz="2000" dirty="0"/>
          </a:p>
        </p:txBody>
      </p:sp>
      <p:sp>
        <p:nvSpPr>
          <p:cNvPr id="13" name="text-326"/>
          <p:cNvSpPr txBox="1"/>
          <p:nvPr/>
        </p:nvSpPr>
        <p:spPr>
          <a:xfrm>
            <a:off x="5166360" y="2834640"/>
            <a:ext cx="3611880" cy="3200400"/>
          </a:xfrm>
          <a:prstGeom prst="rect">
            <a:avLst/>
          </a:prstGeom>
          <a:noFill/>
          <a:ln/>
        </p:spPr>
        <p:txBody>
          <a:bodyPr wrap="square" lIns="0" tIns="0" rIns="0" bIns="0" rtlCol="0" anchor="t"/>
          <a:lstStyle/>
          <a:p>
            <a:pPr marL="177800" indent="-177800">
              <a:buSzPct val="100000"/>
              <a:buChar char="•"/>
            </a:pPr>
            <a:r>
              <a:rPr lang="en-US" sz="1400" dirty="0">
                <a:solidFill>
                  <a:schemeClr val="tx1"/>
                </a:solidFill>
              </a:rPr>
              <a:t>Clean Plays &amp; Station Assessments</a:t>
            </a:r>
            <a:endParaRPr lang="en-US" sz="1400" dirty="0"/>
          </a:p>
          <a:p>
            <a:pPr rtl="1" algn="r" indent="0" marL="0">
              <a:spcAft>
                <a:spcPts val="700"/>
              </a:spcAft>
              <a:buNone/>
            </a:pPr>
            <a:r>
              <a:rPr lang="ar-EG" altLang="en-US" sz="1300" dirty="0">
                <a:solidFill>
                  <a:schemeClr val="tx2"/>
                </a:solidFill>
              </a:rPr>
              <a:t>خطط النظافة وتقييم المحطات</a:t>
            </a:r>
            <a:endParaRPr lang="en-US" sz="1400" dirty="0"/>
          </a:p>
          <a:p>
            <a:pPr marL="177800" indent="-177800">
              <a:buSzPct val="100000"/>
              <a:buChar char="•"/>
            </a:pPr>
            <a:r>
              <a:rPr lang="en-US" sz="1400" dirty="0">
                <a:solidFill>
                  <a:schemeClr val="tx1"/>
                </a:solidFill>
              </a:rPr>
              <a:t>Restock &amp; prep for the next peak</a:t>
            </a:r>
            <a:endParaRPr lang="en-US" sz="1400" dirty="0"/>
          </a:p>
          <a:p>
            <a:pPr rtl="1" algn="r" indent="0" marL="0">
              <a:spcAft>
                <a:spcPts val="700"/>
              </a:spcAft>
              <a:buNone/>
            </a:pPr>
            <a:r>
              <a:rPr lang="ar-EG" altLang="en-US" sz="1300" dirty="0">
                <a:solidFill>
                  <a:schemeClr val="tx2"/>
                </a:solidFill>
              </a:rPr>
              <a:t>إعادة التعبئة والتجهيز للذروة</a:t>
            </a:r>
            <a:endParaRPr lang="en-US" sz="1400" dirty="0"/>
          </a:p>
          <a:p>
            <a:pPr marL="177800" indent="-177800">
              <a:buSzPct val="100000"/>
              <a:buChar char="•"/>
            </a:pPr>
            <a:r>
              <a:rPr lang="en-US" sz="1400" dirty="0">
                <a:solidFill>
                  <a:schemeClr val="tx1"/>
                </a:solidFill>
              </a:rPr>
              <a:t>Rest and meal breaks</a:t>
            </a:r>
            <a:endParaRPr lang="en-US" sz="1400" dirty="0"/>
          </a:p>
          <a:p>
            <a:pPr rtl="1" algn="r" indent="0" marL="0">
              <a:spcAft>
                <a:spcPts val="700"/>
              </a:spcAft>
              <a:buNone/>
            </a:pPr>
            <a:r>
              <a:rPr lang="ar-EG" altLang="en-US" sz="1300" dirty="0">
                <a:solidFill>
                  <a:schemeClr val="tx2"/>
                </a:solidFill>
              </a:rPr>
              <a:t>الاستراحات ووجبات الشركاء</a:t>
            </a:r>
            <a:endParaRPr lang="en-US" sz="1400" dirty="0"/>
          </a:p>
          <a:p>
            <a:pPr marL="177800" indent="-177800">
              <a:buSzPct val="100000"/>
              <a:buChar char="•"/>
            </a:pPr>
            <a:r>
              <a:rPr lang="en-US" sz="1400" dirty="0">
                <a:solidFill>
                  <a:schemeClr val="tx1"/>
                </a:solidFill>
              </a:rPr>
              <a:t>Coaching, orders &amp; deliveries</a:t>
            </a:r>
            <a:endParaRPr lang="en-US" sz="1400" dirty="0"/>
          </a:p>
          <a:p>
            <a:pPr rtl="1" algn="r" indent="0" marL="0">
              <a:spcAft>
                <a:spcPts val="700"/>
              </a:spcAft>
              <a:buNone/>
            </a:pPr>
            <a:r>
              <a:rPr lang="ar-EG" altLang="en-US" sz="1300" dirty="0">
                <a:solidFill>
                  <a:schemeClr val="tx2"/>
                </a:solidFill>
              </a:rPr>
              <a:t>التدريب والطلبيات والاستلام</a:t>
            </a:r>
            <a:endParaRPr lang="en-US" sz="1400" dirty="0"/>
          </a:p>
        </p:txBody>
      </p:sp>
      <p:sp>
        <p:nvSpPr>
          <p:cNvPr id="14" name="card-327"/>
          <p:cNvSpPr/>
          <p:nvPr/>
        </p:nvSpPr>
        <p:spPr>
          <a:xfrm>
            <a:off x="9281160" y="1691640"/>
            <a:ext cx="2361895" cy="2121408"/>
          </a:xfrm>
          <a:prstGeom prst="roundRect">
            <a:avLst>
              <a:gd name="adj" fmla="val 5172"/>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5" name="text-328"/>
          <p:cNvSpPr txBox="1"/>
          <p:nvPr/>
        </p:nvSpPr>
        <p:spPr>
          <a:xfrm>
            <a:off x="9509760" y="1783080"/>
            <a:ext cx="1904695" cy="1938528"/>
          </a:xfrm>
          <a:prstGeom prst="rect">
            <a:avLst/>
          </a:prstGeom>
          <a:noFill/>
          <a:ln/>
        </p:spPr>
        <p:txBody>
          <a:bodyPr wrap="square" lIns="0" tIns="0" rIns="0" bIns="0" rtlCol="0" anchor="ctr"/>
          <a:lstStyle/>
          <a:p>
            <a:pPr indent="0" marL="0">
              <a:buNone/>
            </a:pPr>
            <a:r>
              <a:rPr lang="en-US" sz="4000" b="1" dirty="0">
                <a:solidFill>
                  <a:schemeClr val="accent3"/>
                </a:solidFill>
              </a:rPr>
              <a:t>≤ 4 min</a:t>
            </a:r>
            <a:endParaRPr lang="en-US" sz="4000" dirty="0"/>
          </a:p>
          <a:p>
            <a:pPr indent="0" marL="0">
              <a:buNone/>
            </a:pPr>
            <a:r>
              <a:rPr lang="en-US" sz="1200" dirty="0">
                <a:solidFill>
                  <a:schemeClr val="bg1"/>
                </a:solidFill>
              </a:rPr>
              <a:t>Green Apron Service wait-time goal</a:t>
            </a:r>
            <a:endParaRPr lang="en-US" sz="4000" dirty="0"/>
          </a:p>
          <a:p>
            <a:pPr rtl="1" algn="r" indent="0" marL="0">
              <a:buNone/>
            </a:pPr>
            <a:r>
              <a:rPr lang="ar-EG" altLang="en-US" sz="1200" dirty="0">
                <a:solidFill>
                  <a:schemeClr val="accent4"/>
                </a:solidFill>
              </a:rPr>
              <a:t>هدف وقت الانتظار</a:t>
            </a:r>
            <a:endParaRPr lang="en-US" sz="4000" dirty="0"/>
          </a:p>
        </p:txBody>
      </p:sp>
      <p:sp>
        <p:nvSpPr>
          <p:cNvPr id="16" name="card-329"/>
          <p:cNvSpPr/>
          <p:nvPr/>
        </p:nvSpPr>
        <p:spPr>
          <a:xfrm>
            <a:off x="9281160" y="4005072"/>
            <a:ext cx="2361895" cy="2121408"/>
          </a:xfrm>
          <a:prstGeom prst="roundRect">
            <a:avLst>
              <a:gd name="adj" fmla="val 5172"/>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7" name="text-330"/>
          <p:cNvSpPr txBox="1"/>
          <p:nvPr/>
        </p:nvSpPr>
        <p:spPr>
          <a:xfrm>
            <a:off x="9509760" y="4096512"/>
            <a:ext cx="1904695" cy="1938528"/>
          </a:xfrm>
          <a:prstGeom prst="rect">
            <a:avLst/>
          </a:prstGeom>
          <a:noFill/>
          <a:ln/>
        </p:spPr>
        <p:txBody>
          <a:bodyPr wrap="square" lIns="0" tIns="0" rIns="0" bIns="0" rtlCol="0" anchor="ctr"/>
          <a:lstStyle/>
          <a:p>
            <a:pPr indent="0" marL="0">
              <a:buNone/>
            </a:pPr>
            <a:r>
              <a:rPr lang="en-US" sz="4000" b="1" dirty="0">
                <a:solidFill>
                  <a:schemeClr val="accent3"/>
                </a:solidFill>
              </a:rPr>
              <a:t>−2 min</a:t>
            </a:r>
            <a:endParaRPr lang="en-US" sz="4000" dirty="0"/>
          </a:p>
          <a:p>
            <a:pPr indent="0" marL="0">
              <a:buNone/>
            </a:pPr>
            <a:r>
              <a:rPr lang="en-US" sz="1200" dirty="0">
                <a:solidFill>
                  <a:schemeClr val="bg1"/>
                </a:solidFill>
              </a:rPr>
              <a:t>Avg. wait cut in the 2025 pilot stores</a:t>
            </a:r>
            <a:endParaRPr lang="en-US" sz="4000" dirty="0"/>
          </a:p>
          <a:p>
            <a:pPr rtl="1" algn="r" indent="0" marL="0">
              <a:buNone/>
            </a:pPr>
            <a:r>
              <a:rPr lang="ar-EG" altLang="en-US" sz="1200" dirty="0">
                <a:solidFill>
                  <a:schemeClr val="accent4"/>
                </a:solidFill>
              </a:rPr>
              <a:t>انخفاض متوسط الانتظار في التجربة</a:t>
            </a: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Prioritise: The Urgent / Important Matrix</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رتّب أولوياتك: مصفوفة العاجل والمهم</a:t>
            </a:r>
            <a:endParaRPr lang="ar-EG" sz="2000" dirty="0"/>
          </a:p>
        </p:txBody>
      </p:sp>
      <p:sp>
        <p:nvSpPr>
          <p:cNvPr id="4" name="text-331"/>
          <p:cNvSpPr txBox="1"/>
          <p:nvPr/>
        </p:nvSpPr>
        <p:spPr>
          <a:xfrm>
            <a:off x="1600200" y="1481328"/>
            <a:ext cx="4846320" cy="274320"/>
          </a:xfrm>
          <a:prstGeom prst="rect">
            <a:avLst/>
          </a:prstGeom>
          <a:noFill/>
          <a:ln/>
        </p:spPr>
        <p:txBody>
          <a:bodyPr wrap="square" lIns="0" tIns="0" rIns="0" bIns="0" rtlCol="0" anchor="t"/>
          <a:lstStyle/>
          <a:p>
            <a:pPr algn="ctr" indent="0" marL="0">
              <a:buNone/>
            </a:pPr>
            <a:r>
              <a:rPr lang="en-US" sz="1200" b="1" dirty="0">
                <a:solidFill>
                  <a:schemeClr val="accent6"/>
                </a:solidFill>
              </a:rPr>
              <a:t>URGENT  ·  عاجل</a:t>
            </a:r>
            <a:endParaRPr lang="en-US" sz="1200" dirty="0"/>
          </a:p>
        </p:txBody>
      </p:sp>
      <p:sp>
        <p:nvSpPr>
          <p:cNvPr id="5" name="text-332"/>
          <p:cNvSpPr txBox="1"/>
          <p:nvPr/>
        </p:nvSpPr>
        <p:spPr>
          <a:xfrm>
            <a:off x="6629400" y="1481328"/>
            <a:ext cx="4846320" cy="274320"/>
          </a:xfrm>
          <a:prstGeom prst="rect">
            <a:avLst/>
          </a:prstGeom>
          <a:noFill/>
          <a:ln/>
        </p:spPr>
        <p:txBody>
          <a:bodyPr wrap="square" lIns="0" tIns="0" rIns="0" bIns="0" rtlCol="0" anchor="t"/>
          <a:lstStyle/>
          <a:p>
            <a:pPr algn="ctr" indent="0" marL="0">
              <a:buNone/>
            </a:pPr>
            <a:r>
              <a:rPr lang="en-US" sz="1200" b="1" dirty="0">
                <a:solidFill>
                  <a:schemeClr val="accent6"/>
                </a:solidFill>
              </a:rPr>
              <a:t>NOT URGENT  ·  غير عاجل</a:t>
            </a:r>
            <a:endParaRPr lang="en-US" sz="1200" dirty="0"/>
          </a:p>
        </p:txBody>
      </p:sp>
      <p:sp>
        <p:nvSpPr>
          <p:cNvPr id="6" name="text-333"/>
          <p:cNvSpPr txBox="1"/>
          <p:nvPr/>
        </p:nvSpPr>
        <p:spPr>
          <a:xfrm>
            <a:off x="548640" y="1783080"/>
            <a:ext cx="914400" cy="2103120"/>
          </a:xfrm>
          <a:prstGeom prst="rect">
            <a:avLst/>
          </a:prstGeom>
          <a:noFill/>
          <a:ln/>
        </p:spPr>
        <p:txBody>
          <a:bodyPr wrap="square" lIns="0" tIns="0" rIns="0" bIns="0" rtlCol="0" anchor="ctr"/>
          <a:lstStyle/>
          <a:p>
            <a:pPr algn="ctr" indent="0" marL="0">
              <a:buNone/>
            </a:pPr>
            <a:r>
              <a:rPr lang="en-US" sz="1200" b="1" dirty="0">
                <a:solidFill>
                  <a:schemeClr val="accent6"/>
                </a:solidFill>
              </a:rPr>
              <a:t>IMPORTANT</a:t>
            </a:r>
            <a:endParaRPr lang="en-US" sz="1200" dirty="0"/>
          </a:p>
          <a:p>
            <a:pPr rtl="1" algn="ctr" indent="0" marL="0">
              <a:buNone/>
            </a:pPr>
            <a:r>
              <a:rPr lang="ar-EG" altLang="en-US" sz="1200" b="1" dirty="0">
                <a:solidFill>
                  <a:schemeClr val="accent6"/>
                </a:solidFill>
              </a:rPr>
              <a:t>مهم</a:t>
            </a:r>
            <a:endParaRPr lang="en-US" sz="1200" dirty="0"/>
          </a:p>
        </p:txBody>
      </p:sp>
      <p:sp>
        <p:nvSpPr>
          <p:cNvPr id="7" name="text-334"/>
          <p:cNvSpPr txBox="1"/>
          <p:nvPr/>
        </p:nvSpPr>
        <p:spPr>
          <a:xfrm>
            <a:off x="548640" y="4069080"/>
            <a:ext cx="914400" cy="2103120"/>
          </a:xfrm>
          <a:prstGeom prst="rect">
            <a:avLst/>
          </a:prstGeom>
          <a:noFill/>
          <a:ln/>
        </p:spPr>
        <p:txBody>
          <a:bodyPr wrap="square" lIns="0" tIns="0" rIns="0" bIns="0" rtlCol="0" anchor="ctr"/>
          <a:lstStyle/>
          <a:p>
            <a:pPr algn="ctr" indent="0" marL="0">
              <a:buNone/>
            </a:pPr>
            <a:r>
              <a:rPr lang="en-US" sz="1200" b="1" dirty="0">
                <a:solidFill>
                  <a:schemeClr val="accent6"/>
                </a:solidFill>
              </a:rPr>
              <a:t>NOT IMPORTANT</a:t>
            </a:r>
            <a:endParaRPr lang="en-US" sz="1200" dirty="0"/>
          </a:p>
          <a:p>
            <a:pPr rtl="1" algn="ctr" indent="0" marL="0">
              <a:buNone/>
            </a:pPr>
            <a:r>
              <a:rPr lang="ar-EG" altLang="en-US" sz="1200" b="1" dirty="0">
                <a:solidFill>
                  <a:schemeClr val="accent6"/>
                </a:solidFill>
              </a:rPr>
              <a:t>غير مهم</a:t>
            </a:r>
            <a:endParaRPr lang="en-US" sz="1200" dirty="0"/>
          </a:p>
        </p:txBody>
      </p:sp>
      <p:sp>
        <p:nvSpPr>
          <p:cNvPr id="8" name="quad-335"/>
          <p:cNvSpPr/>
          <p:nvPr/>
        </p:nvSpPr>
        <p:spPr>
          <a:xfrm>
            <a:off x="1600200" y="1783080"/>
            <a:ext cx="4846320" cy="2103120"/>
          </a:xfrm>
          <a:prstGeom prst="roundRect">
            <a:avLst>
              <a:gd name="adj" fmla="val 5217"/>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9" name="text-336"/>
          <p:cNvSpPr txBox="1"/>
          <p:nvPr/>
        </p:nvSpPr>
        <p:spPr>
          <a:xfrm>
            <a:off x="1874520" y="1984248"/>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DO NOW</a:t>
            </a:r>
            <a:endParaRPr lang="en-US" sz="2000" dirty="0"/>
          </a:p>
        </p:txBody>
      </p:sp>
      <p:sp>
        <p:nvSpPr>
          <p:cNvPr id="10" name="text-337"/>
          <p:cNvSpPr txBox="1"/>
          <p:nvPr/>
        </p:nvSpPr>
        <p:spPr>
          <a:xfrm>
            <a:off x="4251960" y="1984248"/>
            <a:ext cx="1920240" cy="457200"/>
          </a:xfrm>
          <a:prstGeom prst="rect">
            <a:avLst/>
          </a:prstGeom>
          <a:noFill/>
          <a:ln/>
        </p:spPr>
        <p:txBody>
          <a:bodyPr wrap="square" lIns="0" tIns="0" rIns="0" bIns="0" rtlCol="0" anchor="ctr"/>
          <a:lstStyle/>
          <a:p>
            <a:pPr rtl="1" algn="r" indent="0" marL="0">
              <a:buNone/>
            </a:pPr>
            <a:r>
              <a:rPr lang="ar-EG" altLang="en-US" sz="2000" b="1" dirty="0">
                <a:solidFill>
                  <a:schemeClr val="accent4"/>
                </a:solidFill>
              </a:rPr>
              <a:t>نفّذ فوراً</a:t>
            </a:r>
            <a:endParaRPr lang="en-US" sz="2000" dirty="0"/>
          </a:p>
        </p:txBody>
      </p:sp>
      <p:sp>
        <p:nvSpPr>
          <p:cNvPr id="11" name="text-338"/>
          <p:cNvSpPr txBox="1"/>
          <p:nvPr/>
        </p:nvSpPr>
        <p:spPr>
          <a:xfrm>
            <a:off x="1874520" y="2560320"/>
            <a:ext cx="4297680" cy="118872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Safety hazard · queue building · product outage · upset customer</a:t>
            </a:r>
            <a:endParaRPr lang="en-US" sz="1400" dirty="0"/>
          </a:p>
          <a:p>
            <a:pPr rtl="1" algn="r" indent="0" marL="0">
              <a:buNone/>
            </a:pPr>
            <a:r>
              <a:rPr lang="ar-EG" altLang="en-US" sz="1400" dirty="0">
                <a:solidFill>
                  <a:schemeClr val="bg1"/>
                </a:solidFill>
              </a:rPr>
              <a:t>خطر سلامة · طابور يكبر · نفاد منتج · عميل غاضب</a:t>
            </a:r>
            <a:endParaRPr lang="en-US" sz="1400" dirty="0"/>
          </a:p>
        </p:txBody>
      </p:sp>
      <p:sp>
        <p:nvSpPr>
          <p:cNvPr id="12" name="quad-339"/>
          <p:cNvSpPr/>
          <p:nvPr/>
        </p:nvSpPr>
        <p:spPr>
          <a:xfrm>
            <a:off x="6629400" y="1783080"/>
            <a:ext cx="4846320" cy="2103120"/>
          </a:xfrm>
          <a:prstGeom prst="roundRect">
            <a:avLst>
              <a:gd name="adj" fmla="val 5217"/>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3" name="text-340"/>
          <p:cNvSpPr txBox="1"/>
          <p:nvPr/>
        </p:nvSpPr>
        <p:spPr>
          <a:xfrm>
            <a:off x="6903720" y="1984248"/>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SCHEDULE</a:t>
            </a:r>
            <a:endParaRPr lang="en-US" sz="2000" dirty="0"/>
          </a:p>
        </p:txBody>
      </p:sp>
      <p:sp>
        <p:nvSpPr>
          <p:cNvPr id="14" name="text-341"/>
          <p:cNvSpPr txBox="1"/>
          <p:nvPr/>
        </p:nvSpPr>
        <p:spPr>
          <a:xfrm>
            <a:off x="9281160" y="1984248"/>
            <a:ext cx="1920240" cy="457200"/>
          </a:xfrm>
          <a:prstGeom prst="rect">
            <a:avLst/>
          </a:prstGeom>
          <a:noFill/>
          <a:ln/>
        </p:spPr>
        <p:txBody>
          <a:bodyPr wrap="square" lIns="0" tIns="0" rIns="0" bIns="0" rtlCol="0" anchor="ctr"/>
          <a:lstStyle/>
          <a:p>
            <a:pPr rtl="1" algn="r" indent="0" marL="0">
              <a:buNone/>
            </a:pPr>
            <a:r>
              <a:rPr lang="ar-EG" altLang="en-US" sz="2000" b="1" dirty="0">
                <a:solidFill>
                  <a:schemeClr val="accent4"/>
                </a:solidFill>
              </a:rPr>
              <a:t>خطّط له</a:t>
            </a:r>
            <a:endParaRPr lang="en-US" sz="2000" dirty="0"/>
          </a:p>
        </p:txBody>
      </p:sp>
      <p:sp>
        <p:nvSpPr>
          <p:cNvPr id="15" name="text-342"/>
          <p:cNvSpPr txBox="1"/>
          <p:nvPr/>
        </p:nvSpPr>
        <p:spPr>
          <a:xfrm>
            <a:off x="6903720" y="2560320"/>
            <a:ext cx="4297680" cy="118872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Coaching · prep for next peak · break plan · Daily Plan notes</a:t>
            </a:r>
            <a:endParaRPr lang="en-US" sz="1400" dirty="0"/>
          </a:p>
          <a:p>
            <a:pPr rtl="1" algn="r" indent="0" marL="0">
              <a:buNone/>
            </a:pPr>
            <a:r>
              <a:rPr lang="ar-EG" altLang="en-US" sz="1400" dirty="0">
                <a:solidFill>
                  <a:schemeClr val="bg1"/>
                </a:solidFill>
              </a:rPr>
              <a:t>التدريب · التجهيز للذروة · خطة الاستراحات · ملاحظات الخطة</a:t>
            </a:r>
            <a:endParaRPr lang="en-US" sz="1400" dirty="0"/>
          </a:p>
        </p:txBody>
      </p:sp>
      <p:sp>
        <p:nvSpPr>
          <p:cNvPr id="16" name="quad-343"/>
          <p:cNvSpPr/>
          <p:nvPr/>
        </p:nvSpPr>
        <p:spPr>
          <a:xfrm>
            <a:off x="1600200" y="4069080"/>
            <a:ext cx="4846320" cy="2103120"/>
          </a:xfrm>
          <a:prstGeom prst="roundRect">
            <a:avLst>
              <a:gd name="adj" fmla="val 5217"/>
            </a:avLst>
          </a:prstGeom>
          <a:solidFill>
            <a:schemeClr val="accent4"/>
          </a:solidFill>
          <a:ln w="12700">
            <a:solidFill>
              <a:schemeClr val="accent4"/>
            </a:solidFill>
            <a:prstDash val="solid"/>
          </a:ln>
          <a:effectLst>
            <a:outerShdw sx="100000" sy="100000" kx="0" ky="0" algn="bl" rotWithShape="0" blurRad="101600" dist="25400" dir="5400000">
              <a:srgbClr val="1E3932">
                <a:alpha val="12000"/>
              </a:srgbClr>
            </a:outerShdw>
          </a:effectLst>
        </p:spPr>
      </p:sp>
      <p:sp>
        <p:nvSpPr>
          <p:cNvPr id="17" name="text-344"/>
          <p:cNvSpPr txBox="1"/>
          <p:nvPr/>
        </p:nvSpPr>
        <p:spPr>
          <a:xfrm>
            <a:off x="1874520" y="4270248"/>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DELEGATE</a:t>
            </a:r>
            <a:endParaRPr lang="en-US" sz="2000" dirty="0"/>
          </a:p>
        </p:txBody>
      </p:sp>
      <p:sp>
        <p:nvSpPr>
          <p:cNvPr id="18" name="text-345"/>
          <p:cNvSpPr txBox="1"/>
          <p:nvPr/>
        </p:nvSpPr>
        <p:spPr>
          <a:xfrm>
            <a:off x="4251960" y="4270248"/>
            <a:ext cx="1920240"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فوّض</a:t>
            </a:r>
            <a:endParaRPr lang="en-US" sz="2000" dirty="0"/>
          </a:p>
        </p:txBody>
      </p:sp>
      <p:sp>
        <p:nvSpPr>
          <p:cNvPr id="19" name="text-346"/>
          <p:cNvSpPr txBox="1"/>
          <p:nvPr/>
        </p:nvSpPr>
        <p:spPr>
          <a:xfrm>
            <a:off x="1874520" y="4846320"/>
            <a:ext cx="4297680" cy="11887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Restock cups &amp; lids · answer the phone · tidy condiment bar</a:t>
            </a:r>
            <a:endParaRPr lang="en-US" sz="1400" dirty="0"/>
          </a:p>
          <a:p>
            <a:pPr rtl="1" algn="r" indent="0" marL="0">
              <a:buNone/>
            </a:pPr>
            <a:r>
              <a:rPr lang="ar-EG" altLang="en-US" sz="1400" dirty="0">
                <a:solidFill>
                  <a:schemeClr val="tx1"/>
                </a:solidFill>
              </a:rPr>
              <a:t>تعبئة الأكواب · الرد على الهاتف · ترتيب ركن الإضافات</a:t>
            </a:r>
            <a:endParaRPr lang="en-US" sz="1400" dirty="0"/>
          </a:p>
        </p:txBody>
      </p:sp>
      <p:sp>
        <p:nvSpPr>
          <p:cNvPr id="20" name="quad-347"/>
          <p:cNvSpPr/>
          <p:nvPr/>
        </p:nvSpPr>
        <p:spPr>
          <a:xfrm>
            <a:off x="6629400" y="4069080"/>
            <a:ext cx="48463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21" name="text-348"/>
          <p:cNvSpPr txBox="1"/>
          <p:nvPr/>
        </p:nvSpPr>
        <p:spPr>
          <a:xfrm>
            <a:off x="6903720" y="4270248"/>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DROP / LATER</a:t>
            </a:r>
            <a:endParaRPr lang="en-US" sz="2000" dirty="0"/>
          </a:p>
        </p:txBody>
      </p:sp>
      <p:sp>
        <p:nvSpPr>
          <p:cNvPr id="22" name="text-349"/>
          <p:cNvSpPr txBox="1"/>
          <p:nvPr/>
        </p:nvSpPr>
        <p:spPr>
          <a:xfrm>
            <a:off x="9281160" y="4270248"/>
            <a:ext cx="1920240"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ألغِ أو أجّل</a:t>
            </a:r>
            <a:endParaRPr lang="en-US" sz="2000" dirty="0"/>
          </a:p>
        </p:txBody>
      </p:sp>
      <p:sp>
        <p:nvSpPr>
          <p:cNvPr id="23" name="text-350"/>
          <p:cNvSpPr txBox="1"/>
          <p:nvPr/>
        </p:nvSpPr>
        <p:spPr>
          <a:xfrm>
            <a:off x="6903720" y="4846320"/>
            <a:ext cx="4297680" cy="11887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Side chats in peak · re-doing finished work · non-essential checks</a:t>
            </a:r>
            <a:endParaRPr lang="en-US" sz="1400" dirty="0"/>
          </a:p>
          <a:p>
            <a:pPr rtl="1" algn="r" indent="0" marL="0">
              <a:buNone/>
            </a:pPr>
            <a:r>
              <a:rPr lang="ar-EG" altLang="en-US" sz="1400" dirty="0">
                <a:solidFill>
                  <a:schemeClr val="tx1"/>
                </a:solidFill>
              </a:rPr>
              <a:t>أحاديث جانبية وقت الذروة · إعادة عمل منتهٍ · مراجعات غير ضرورية</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Deploy &amp; Delegate: Right Partner, Right Position</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التوزيع والتفويض: الشريك المناسب في المكان المناسب</a:t>
            </a:r>
            <a:endParaRPr lang="ar-EG" sz="2000" dirty="0"/>
          </a:p>
        </p:txBody>
      </p:sp>
      <p:sp>
        <p:nvSpPr>
          <p:cNvPr id="4" name="dep-351"/>
          <p:cNvSpPr/>
          <p:nvPr/>
        </p:nvSpPr>
        <p:spPr>
          <a:xfrm>
            <a:off x="640080" y="1691640"/>
            <a:ext cx="2036003" cy="2697480"/>
          </a:xfrm>
          <a:prstGeom prst="roundRect">
            <a:avLst>
              <a:gd name="adj" fmla="val 5389"/>
            </a:avLst>
          </a:prstGeom>
          <a:solidFill>
            <a:schemeClr val="accent4"/>
          </a:solidFill>
          <a:ln w="12700">
            <a:solidFill>
              <a:schemeClr val="bg2"/>
            </a:solidFill>
            <a:prstDash val="solid"/>
          </a:ln>
        </p:spPr>
      </p:sp>
      <p:sp>
        <p:nvSpPr>
          <p:cNvPr id="5" name="text-352"/>
          <p:cNvSpPr txBox="1"/>
          <p:nvPr/>
        </p:nvSpPr>
        <p:spPr>
          <a:xfrm>
            <a:off x="822960" y="1828800"/>
            <a:ext cx="548640" cy="320040"/>
          </a:xfrm>
          <a:prstGeom prst="rect">
            <a:avLst/>
          </a:prstGeom>
          <a:noFill/>
          <a:ln/>
        </p:spPr>
        <p:txBody>
          <a:bodyPr wrap="square" lIns="0" tIns="0" rIns="0" bIns="0" rtlCol="0" anchor="t"/>
          <a:lstStyle/>
          <a:p>
            <a:pPr indent="0" marL="0">
              <a:buNone/>
            </a:pPr>
            <a:r>
              <a:rPr lang="en-US" sz="1300" b="1" dirty="0">
                <a:solidFill>
                  <a:schemeClr val="tx2"/>
                </a:solidFill>
              </a:rPr>
              <a:t>01</a:t>
            </a:r>
            <a:endParaRPr lang="en-US" sz="1300" dirty="0"/>
          </a:p>
        </p:txBody>
      </p:sp>
      <p:sp>
        <p:nvSpPr>
          <p:cNvPr id="6" name="icon-bg-353"/>
          <p:cNvSpPr/>
          <p:nvPr/>
        </p:nvSpPr>
        <p:spPr>
          <a:xfrm>
            <a:off x="1898843" y="1828800"/>
            <a:ext cx="548640" cy="548640"/>
          </a:xfrm>
          <a:prstGeom prst="ellipse">
            <a:avLst/>
          </a:prstGeom>
          <a:solidFill>
            <a:schemeClr val="accent1"/>
          </a:solidFill>
          <a:ln w="12700">
            <a:solidFill>
              <a:schemeClr val="accent1"/>
            </a:solidFill>
            <a:prstDash val="solid"/>
          </a:ln>
        </p:spPr>
      </p:sp>
      <p:pic>
        <p:nvPicPr>
          <p:cNvPr id="7" name="icon-354" descr="preencoded.png">    </p:cNvPr>
          <p:cNvPicPr>
            <a:picLocks noChangeAspect="1"/>
          </p:cNvPicPr>
          <p:nvPr/>
        </p:nvPicPr>
        <p:blipFill>
          <a:blip r:embed="rId1"/>
          <a:stretch>
            <a:fillRect/>
          </a:stretch>
        </p:blipFill>
        <p:spPr>
          <a:xfrm>
            <a:off x="2019544" y="1949501"/>
            <a:ext cx="307238" cy="307238"/>
          </a:xfrm>
          <a:prstGeom prst="rect">
            <a:avLst/>
          </a:prstGeom>
        </p:spPr>
      </p:pic>
      <p:sp>
        <p:nvSpPr>
          <p:cNvPr id="8" name="text-355"/>
          <p:cNvSpPr txBox="1"/>
          <p:nvPr/>
        </p:nvSpPr>
        <p:spPr>
          <a:xfrm>
            <a:off x="822960" y="2514600"/>
            <a:ext cx="1670243" cy="178308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Read the coverage</a:t>
            </a:r>
            <a:endParaRPr lang="en-US" sz="1500" dirty="0"/>
          </a:p>
          <a:p>
            <a:pPr algn="l" indent="0" marL="0">
              <a:spcAft>
                <a:spcPts val="600"/>
              </a:spcAft>
              <a:buNone/>
            </a:pPr>
            <a:r>
              <a:rPr lang="en-US" sz="1300" dirty="0">
                <a:solidFill>
                  <a:schemeClr val="tx1"/>
                </a:solidFill>
              </a:rPr>
              <a:t>Check who's on and when peaks hit</a:t>
            </a:r>
            <a:endParaRPr lang="en-US" sz="1500" dirty="0"/>
          </a:p>
          <a:p>
            <a:pPr rtl="1" algn="r" indent="0" marL="0">
              <a:spcAft>
                <a:spcPts val="200"/>
              </a:spcAft>
              <a:buNone/>
            </a:pPr>
            <a:r>
              <a:rPr lang="ar-EG" altLang="en-US" sz="1500" b="1" dirty="0">
                <a:solidFill>
                  <a:schemeClr val="tx2"/>
                </a:solidFill>
              </a:rPr>
              <a:t>اقرأ التغطية</a:t>
            </a:r>
            <a:endParaRPr lang="en-US" sz="1500" dirty="0"/>
          </a:p>
          <a:p>
            <a:pPr rtl="1" algn="r" indent="0" marL="0">
              <a:buNone/>
            </a:pPr>
            <a:r>
              <a:rPr lang="ar-EG" altLang="en-US" sz="1300" dirty="0">
                <a:solidFill>
                  <a:schemeClr val="tx1"/>
                </a:solidFill>
              </a:rPr>
              <a:t>مَن في الشفت ومتى الذروة</a:t>
            </a:r>
            <a:endParaRPr lang="en-US" sz="1500" dirty="0"/>
          </a:p>
        </p:txBody>
      </p:sp>
      <p:sp>
        <p:nvSpPr>
          <p:cNvPr id="9" name="dep-356"/>
          <p:cNvSpPr/>
          <p:nvPr/>
        </p:nvSpPr>
        <p:spPr>
          <a:xfrm>
            <a:off x="2858963" y="1691640"/>
            <a:ext cx="2036003" cy="2697480"/>
          </a:xfrm>
          <a:prstGeom prst="roundRect">
            <a:avLst>
              <a:gd name="adj" fmla="val 5389"/>
            </a:avLst>
          </a:prstGeom>
          <a:solidFill>
            <a:schemeClr val="bg2"/>
          </a:solidFill>
          <a:ln w="12700">
            <a:solidFill>
              <a:schemeClr val="bg2"/>
            </a:solidFill>
            <a:prstDash val="solid"/>
          </a:ln>
        </p:spPr>
      </p:sp>
      <p:sp>
        <p:nvSpPr>
          <p:cNvPr id="10" name="text-357"/>
          <p:cNvSpPr txBox="1"/>
          <p:nvPr/>
        </p:nvSpPr>
        <p:spPr>
          <a:xfrm>
            <a:off x="3041843" y="1828800"/>
            <a:ext cx="548640" cy="320040"/>
          </a:xfrm>
          <a:prstGeom prst="rect">
            <a:avLst/>
          </a:prstGeom>
          <a:noFill/>
          <a:ln/>
        </p:spPr>
        <p:txBody>
          <a:bodyPr wrap="square" lIns="0" tIns="0" rIns="0" bIns="0" rtlCol="0" anchor="t"/>
          <a:lstStyle/>
          <a:p>
            <a:pPr indent="0" marL="0">
              <a:buNone/>
            </a:pPr>
            <a:r>
              <a:rPr lang="en-US" sz="1300" b="1" dirty="0">
                <a:solidFill>
                  <a:schemeClr val="tx2"/>
                </a:solidFill>
              </a:rPr>
              <a:t>02</a:t>
            </a:r>
            <a:endParaRPr lang="en-US" sz="1300" dirty="0"/>
          </a:p>
        </p:txBody>
      </p:sp>
      <p:sp>
        <p:nvSpPr>
          <p:cNvPr id="11" name="icon-bg-358"/>
          <p:cNvSpPr/>
          <p:nvPr/>
        </p:nvSpPr>
        <p:spPr>
          <a:xfrm>
            <a:off x="4117726" y="1828800"/>
            <a:ext cx="548640" cy="548640"/>
          </a:xfrm>
          <a:prstGeom prst="ellipse">
            <a:avLst/>
          </a:prstGeom>
          <a:solidFill>
            <a:schemeClr val="accent1"/>
          </a:solidFill>
          <a:ln w="12700">
            <a:solidFill>
              <a:schemeClr val="accent1"/>
            </a:solidFill>
            <a:prstDash val="solid"/>
          </a:ln>
        </p:spPr>
      </p:sp>
      <p:pic>
        <p:nvPicPr>
          <p:cNvPr id="12" name="icon-359" descr="preencoded.png">    </p:cNvPr>
          <p:cNvPicPr>
            <a:picLocks noChangeAspect="1"/>
          </p:cNvPicPr>
          <p:nvPr/>
        </p:nvPicPr>
        <p:blipFill>
          <a:blip r:embed="rId2"/>
          <a:stretch>
            <a:fillRect/>
          </a:stretch>
        </p:blipFill>
        <p:spPr>
          <a:xfrm>
            <a:off x="4238427" y="1949501"/>
            <a:ext cx="307238" cy="307238"/>
          </a:xfrm>
          <a:prstGeom prst="rect">
            <a:avLst/>
          </a:prstGeom>
        </p:spPr>
      </p:pic>
      <p:sp>
        <p:nvSpPr>
          <p:cNvPr id="13" name="text-360"/>
          <p:cNvSpPr txBox="1"/>
          <p:nvPr/>
        </p:nvSpPr>
        <p:spPr>
          <a:xfrm>
            <a:off x="3041843" y="2514600"/>
            <a:ext cx="1670243" cy="178308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Place strengths</a:t>
            </a:r>
            <a:endParaRPr lang="en-US" sz="1500" dirty="0"/>
          </a:p>
          <a:p>
            <a:pPr algn="l" indent="0" marL="0">
              <a:spcAft>
                <a:spcPts val="600"/>
              </a:spcAft>
              <a:buNone/>
            </a:pPr>
            <a:r>
              <a:rPr lang="en-US" sz="1300" dirty="0">
                <a:solidFill>
                  <a:schemeClr val="tx1"/>
                </a:solidFill>
              </a:rPr>
              <a:t>Strongest partners on key positions</a:t>
            </a:r>
            <a:endParaRPr lang="en-US" sz="1500" dirty="0"/>
          </a:p>
          <a:p>
            <a:pPr rtl="1" algn="r" indent="0" marL="0">
              <a:spcAft>
                <a:spcPts val="200"/>
              </a:spcAft>
              <a:buNone/>
            </a:pPr>
            <a:r>
              <a:rPr lang="ar-EG" altLang="en-US" sz="1500" b="1" dirty="0">
                <a:solidFill>
                  <a:schemeClr val="tx2"/>
                </a:solidFill>
              </a:rPr>
              <a:t>وزّع حسب القوة</a:t>
            </a:r>
            <a:endParaRPr lang="en-US" sz="1500" dirty="0"/>
          </a:p>
          <a:p>
            <a:pPr rtl="1" algn="r" indent="0" marL="0">
              <a:buNone/>
            </a:pPr>
            <a:r>
              <a:rPr lang="ar-EG" altLang="en-US" sz="1300" dirty="0">
                <a:solidFill>
                  <a:schemeClr val="tx1"/>
                </a:solidFill>
              </a:rPr>
              <a:t>الأقوى في المواقع الحرجة</a:t>
            </a:r>
            <a:endParaRPr lang="en-US" sz="1500" dirty="0"/>
          </a:p>
        </p:txBody>
      </p:sp>
      <p:sp>
        <p:nvSpPr>
          <p:cNvPr id="14" name="dep-361"/>
          <p:cNvSpPr/>
          <p:nvPr/>
        </p:nvSpPr>
        <p:spPr>
          <a:xfrm>
            <a:off x="5077846" y="1691640"/>
            <a:ext cx="2036003" cy="2697480"/>
          </a:xfrm>
          <a:prstGeom prst="roundRect">
            <a:avLst>
              <a:gd name="adj" fmla="val 5389"/>
            </a:avLst>
          </a:prstGeom>
          <a:solidFill>
            <a:schemeClr val="accent4"/>
          </a:solidFill>
          <a:ln w="12700">
            <a:solidFill>
              <a:schemeClr val="bg2"/>
            </a:solidFill>
            <a:prstDash val="solid"/>
          </a:ln>
        </p:spPr>
      </p:sp>
      <p:sp>
        <p:nvSpPr>
          <p:cNvPr id="15" name="text-362"/>
          <p:cNvSpPr txBox="1"/>
          <p:nvPr/>
        </p:nvSpPr>
        <p:spPr>
          <a:xfrm>
            <a:off x="5260726" y="1828800"/>
            <a:ext cx="548640" cy="320040"/>
          </a:xfrm>
          <a:prstGeom prst="rect">
            <a:avLst/>
          </a:prstGeom>
          <a:noFill/>
          <a:ln/>
        </p:spPr>
        <p:txBody>
          <a:bodyPr wrap="square" lIns="0" tIns="0" rIns="0" bIns="0" rtlCol="0" anchor="t"/>
          <a:lstStyle/>
          <a:p>
            <a:pPr indent="0" marL="0">
              <a:buNone/>
            </a:pPr>
            <a:r>
              <a:rPr lang="en-US" sz="1300" b="1" dirty="0">
                <a:solidFill>
                  <a:schemeClr val="tx2"/>
                </a:solidFill>
              </a:rPr>
              <a:t>03</a:t>
            </a:r>
            <a:endParaRPr lang="en-US" sz="1300" dirty="0"/>
          </a:p>
        </p:txBody>
      </p:sp>
      <p:sp>
        <p:nvSpPr>
          <p:cNvPr id="16" name="icon-bg-363"/>
          <p:cNvSpPr/>
          <p:nvPr/>
        </p:nvSpPr>
        <p:spPr>
          <a:xfrm>
            <a:off x="6336609" y="1828800"/>
            <a:ext cx="548640" cy="548640"/>
          </a:xfrm>
          <a:prstGeom prst="ellipse">
            <a:avLst/>
          </a:prstGeom>
          <a:solidFill>
            <a:schemeClr val="accent1"/>
          </a:solidFill>
          <a:ln w="12700">
            <a:solidFill>
              <a:schemeClr val="accent1"/>
            </a:solidFill>
            <a:prstDash val="solid"/>
          </a:ln>
        </p:spPr>
      </p:sp>
      <p:pic>
        <p:nvPicPr>
          <p:cNvPr id="17" name="icon-364" descr="preencoded.png">    </p:cNvPr>
          <p:cNvPicPr>
            <a:picLocks noChangeAspect="1"/>
          </p:cNvPicPr>
          <p:nvPr/>
        </p:nvPicPr>
        <p:blipFill>
          <a:blip r:embed="rId3"/>
          <a:stretch>
            <a:fillRect/>
          </a:stretch>
        </p:blipFill>
        <p:spPr>
          <a:xfrm>
            <a:off x="6457310" y="1949501"/>
            <a:ext cx="307238" cy="307238"/>
          </a:xfrm>
          <a:prstGeom prst="rect">
            <a:avLst/>
          </a:prstGeom>
        </p:spPr>
      </p:pic>
      <p:sp>
        <p:nvSpPr>
          <p:cNvPr id="18" name="text-365"/>
          <p:cNvSpPr txBox="1"/>
          <p:nvPr/>
        </p:nvSpPr>
        <p:spPr>
          <a:xfrm>
            <a:off x="5260726" y="2514600"/>
            <a:ext cx="1670243" cy="178308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Plan breaks early</a:t>
            </a:r>
            <a:endParaRPr lang="en-US" sz="1500" dirty="0"/>
          </a:p>
          <a:p>
            <a:pPr algn="l" indent="0" marL="0">
              <a:spcAft>
                <a:spcPts val="600"/>
              </a:spcAft>
              <a:buNone/>
            </a:pPr>
            <a:r>
              <a:rPr lang="en-US" sz="1300" dirty="0">
                <a:solidFill>
                  <a:schemeClr val="tx1"/>
                </a:solidFill>
              </a:rPr>
              <a:t>Rest &amp; meal breaks outside the peak</a:t>
            </a:r>
            <a:endParaRPr lang="en-US" sz="1500" dirty="0"/>
          </a:p>
          <a:p>
            <a:pPr rtl="1" algn="r" indent="0" marL="0">
              <a:spcAft>
                <a:spcPts val="200"/>
              </a:spcAft>
              <a:buNone/>
            </a:pPr>
            <a:r>
              <a:rPr lang="ar-EG" altLang="en-US" sz="1500" b="1" dirty="0">
                <a:solidFill>
                  <a:schemeClr val="tx2"/>
                </a:solidFill>
              </a:rPr>
              <a:t>خطّط للاستراحات</a:t>
            </a:r>
            <a:endParaRPr lang="en-US" sz="1500" dirty="0"/>
          </a:p>
          <a:p>
            <a:pPr rtl="1" algn="r" indent="0" marL="0">
              <a:buNone/>
            </a:pPr>
            <a:r>
              <a:rPr lang="ar-EG" altLang="en-US" sz="1300" dirty="0">
                <a:solidFill>
                  <a:schemeClr val="tx1"/>
                </a:solidFill>
              </a:rPr>
              <a:t>الاستراحات خارج وقت الذروة</a:t>
            </a:r>
            <a:endParaRPr lang="en-US" sz="1500" dirty="0"/>
          </a:p>
        </p:txBody>
      </p:sp>
      <p:sp>
        <p:nvSpPr>
          <p:cNvPr id="19" name="dep-366"/>
          <p:cNvSpPr/>
          <p:nvPr/>
        </p:nvSpPr>
        <p:spPr>
          <a:xfrm>
            <a:off x="7296729" y="1691640"/>
            <a:ext cx="2036003" cy="2697480"/>
          </a:xfrm>
          <a:prstGeom prst="roundRect">
            <a:avLst>
              <a:gd name="adj" fmla="val 5389"/>
            </a:avLst>
          </a:prstGeom>
          <a:solidFill>
            <a:schemeClr val="bg2"/>
          </a:solidFill>
          <a:ln w="12700">
            <a:solidFill>
              <a:schemeClr val="bg2"/>
            </a:solidFill>
            <a:prstDash val="solid"/>
          </a:ln>
        </p:spPr>
      </p:sp>
      <p:sp>
        <p:nvSpPr>
          <p:cNvPr id="20" name="text-367"/>
          <p:cNvSpPr txBox="1"/>
          <p:nvPr/>
        </p:nvSpPr>
        <p:spPr>
          <a:xfrm>
            <a:off x="7479609" y="1828800"/>
            <a:ext cx="548640" cy="320040"/>
          </a:xfrm>
          <a:prstGeom prst="rect">
            <a:avLst/>
          </a:prstGeom>
          <a:noFill/>
          <a:ln/>
        </p:spPr>
        <p:txBody>
          <a:bodyPr wrap="square" lIns="0" tIns="0" rIns="0" bIns="0" rtlCol="0" anchor="t"/>
          <a:lstStyle/>
          <a:p>
            <a:pPr indent="0" marL="0">
              <a:buNone/>
            </a:pPr>
            <a:r>
              <a:rPr lang="en-US" sz="1300" b="1" dirty="0">
                <a:solidFill>
                  <a:schemeClr val="tx2"/>
                </a:solidFill>
              </a:rPr>
              <a:t>04</a:t>
            </a:r>
            <a:endParaRPr lang="en-US" sz="1300" dirty="0"/>
          </a:p>
        </p:txBody>
      </p:sp>
      <p:sp>
        <p:nvSpPr>
          <p:cNvPr id="21" name="icon-bg-368"/>
          <p:cNvSpPr/>
          <p:nvPr/>
        </p:nvSpPr>
        <p:spPr>
          <a:xfrm>
            <a:off x="8555492" y="1828800"/>
            <a:ext cx="548640" cy="548640"/>
          </a:xfrm>
          <a:prstGeom prst="ellipse">
            <a:avLst/>
          </a:prstGeom>
          <a:solidFill>
            <a:schemeClr val="accent1"/>
          </a:solidFill>
          <a:ln w="12700">
            <a:solidFill>
              <a:schemeClr val="accent1"/>
            </a:solidFill>
            <a:prstDash val="solid"/>
          </a:ln>
        </p:spPr>
      </p:sp>
      <p:pic>
        <p:nvPicPr>
          <p:cNvPr id="22" name="icon-369" descr="preencoded.png">    </p:cNvPr>
          <p:cNvPicPr>
            <a:picLocks noChangeAspect="1"/>
          </p:cNvPicPr>
          <p:nvPr/>
        </p:nvPicPr>
        <p:blipFill>
          <a:blip r:embed="rId4"/>
          <a:stretch>
            <a:fillRect/>
          </a:stretch>
        </p:blipFill>
        <p:spPr>
          <a:xfrm>
            <a:off x="8676193" y="1949501"/>
            <a:ext cx="307238" cy="307238"/>
          </a:xfrm>
          <a:prstGeom prst="rect">
            <a:avLst/>
          </a:prstGeom>
        </p:spPr>
      </p:pic>
      <p:sp>
        <p:nvSpPr>
          <p:cNvPr id="23" name="text-370"/>
          <p:cNvSpPr txBox="1"/>
          <p:nvPr/>
        </p:nvSpPr>
        <p:spPr>
          <a:xfrm>
            <a:off x="7479609" y="2514600"/>
            <a:ext cx="1670243" cy="178308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Delegate clearly</a:t>
            </a:r>
            <a:endParaRPr lang="en-US" sz="1500" dirty="0"/>
          </a:p>
          <a:p>
            <a:pPr algn="l" indent="0" marL="0">
              <a:spcAft>
                <a:spcPts val="600"/>
              </a:spcAft>
              <a:buNone/>
            </a:pPr>
            <a:r>
              <a:rPr lang="en-US" sz="1300" dirty="0">
                <a:solidFill>
                  <a:schemeClr val="tx1"/>
                </a:solidFill>
              </a:rPr>
              <a:t>Task + outcome + deadline</a:t>
            </a:r>
            <a:endParaRPr lang="en-US" sz="1500" dirty="0"/>
          </a:p>
          <a:p>
            <a:pPr rtl="1" algn="r" indent="0" marL="0">
              <a:spcAft>
                <a:spcPts val="200"/>
              </a:spcAft>
              <a:buNone/>
            </a:pPr>
            <a:r>
              <a:rPr lang="ar-EG" altLang="en-US" sz="1500" b="1" dirty="0">
                <a:solidFill>
                  <a:schemeClr val="tx2"/>
                </a:solidFill>
              </a:rPr>
              <a:t>فوّض بوضوح</a:t>
            </a:r>
            <a:endParaRPr lang="en-US" sz="1500" dirty="0"/>
          </a:p>
          <a:p>
            <a:pPr rtl="1" algn="r" indent="0" marL="0">
              <a:buNone/>
            </a:pPr>
            <a:r>
              <a:rPr lang="ar-EG" altLang="en-US" sz="1300" dirty="0">
                <a:solidFill>
                  <a:schemeClr val="tx1"/>
                </a:solidFill>
              </a:rPr>
              <a:t>المهمة + النتيجة + الموعد</a:t>
            </a:r>
            <a:endParaRPr lang="en-US" sz="1500" dirty="0"/>
          </a:p>
        </p:txBody>
      </p:sp>
      <p:sp>
        <p:nvSpPr>
          <p:cNvPr id="24" name="dep-371"/>
          <p:cNvSpPr/>
          <p:nvPr/>
        </p:nvSpPr>
        <p:spPr>
          <a:xfrm>
            <a:off x="9515612" y="1691640"/>
            <a:ext cx="2036003" cy="2697480"/>
          </a:xfrm>
          <a:prstGeom prst="roundRect">
            <a:avLst>
              <a:gd name="adj" fmla="val 5389"/>
            </a:avLst>
          </a:prstGeom>
          <a:solidFill>
            <a:schemeClr val="accent4"/>
          </a:solidFill>
          <a:ln w="12700">
            <a:solidFill>
              <a:schemeClr val="bg2"/>
            </a:solidFill>
            <a:prstDash val="solid"/>
          </a:ln>
        </p:spPr>
      </p:sp>
      <p:sp>
        <p:nvSpPr>
          <p:cNvPr id="25" name="text-372"/>
          <p:cNvSpPr txBox="1"/>
          <p:nvPr/>
        </p:nvSpPr>
        <p:spPr>
          <a:xfrm>
            <a:off x="9698492" y="1828800"/>
            <a:ext cx="548640" cy="320040"/>
          </a:xfrm>
          <a:prstGeom prst="rect">
            <a:avLst/>
          </a:prstGeom>
          <a:noFill/>
          <a:ln/>
        </p:spPr>
        <p:txBody>
          <a:bodyPr wrap="square" lIns="0" tIns="0" rIns="0" bIns="0" rtlCol="0" anchor="t"/>
          <a:lstStyle/>
          <a:p>
            <a:pPr indent="0" marL="0">
              <a:buNone/>
            </a:pPr>
            <a:r>
              <a:rPr lang="en-US" sz="1300" b="1" dirty="0">
                <a:solidFill>
                  <a:schemeClr val="tx2"/>
                </a:solidFill>
              </a:rPr>
              <a:t>05</a:t>
            </a:r>
            <a:endParaRPr lang="en-US" sz="1300" dirty="0"/>
          </a:p>
        </p:txBody>
      </p:sp>
      <p:sp>
        <p:nvSpPr>
          <p:cNvPr id="26" name="icon-bg-373"/>
          <p:cNvSpPr/>
          <p:nvPr/>
        </p:nvSpPr>
        <p:spPr>
          <a:xfrm>
            <a:off x="10774375" y="1828800"/>
            <a:ext cx="548640" cy="548640"/>
          </a:xfrm>
          <a:prstGeom prst="ellipse">
            <a:avLst/>
          </a:prstGeom>
          <a:solidFill>
            <a:schemeClr val="accent1"/>
          </a:solidFill>
          <a:ln w="12700">
            <a:solidFill>
              <a:schemeClr val="accent1"/>
            </a:solidFill>
            <a:prstDash val="solid"/>
          </a:ln>
        </p:spPr>
      </p:sp>
      <p:pic>
        <p:nvPicPr>
          <p:cNvPr id="27" name="icon-374" descr="preencoded.png">    </p:cNvPr>
          <p:cNvPicPr>
            <a:picLocks noChangeAspect="1"/>
          </p:cNvPicPr>
          <p:nvPr/>
        </p:nvPicPr>
        <p:blipFill>
          <a:blip r:embed="rId5"/>
          <a:stretch>
            <a:fillRect/>
          </a:stretch>
        </p:blipFill>
        <p:spPr>
          <a:xfrm>
            <a:off x="10895076" y="1949501"/>
            <a:ext cx="307238" cy="307238"/>
          </a:xfrm>
          <a:prstGeom prst="rect">
            <a:avLst/>
          </a:prstGeom>
        </p:spPr>
      </p:pic>
      <p:sp>
        <p:nvSpPr>
          <p:cNvPr id="28" name="text-375"/>
          <p:cNvSpPr txBox="1"/>
          <p:nvPr/>
        </p:nvSpPr>
        <p:spPr>
          <a:xfrm>
            <a:off x="9698492" y="2514600"/>
            <a:ext cx="1670243" cy="178308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Follow up</a:t>
            </a:r>
            <a:endParaRPr lang="en-US" sz="1500" dirty="0"/>
          </a:p>
          <a:p>
            <a:pPr algn="l" indent="0" marL="0">
              <a:spcAft>
                <a:spcPts val="600"/>
              </a:spcAft>
              <a:buNone/>
            </a:pPr>
            <a:r>
              <a:rPr lang="en-US" sz="1300" dirty="0">
                <a:solidFill>
                  <a:schemeClr val="tx1"/>
                </a:solidFill>
              </a:rPr>
              <a:t>Check, thank and adjust</a:t>
            </a:r>
            <a:endParaRPr lang="en-US" sz="1500" dirty="0"/>
          </a:p>
          <a:p>
            <a:pPr rtl="1" algn="r" indent="0" marL="0">
              <a:spcAft>
                <a:spcPts val="200"/>
              </a:spcAft>
              <a:buNone/>
            </a:pPr>
            <a:r>
              <a:rPr lang="ar-EG" altLang="en-US" sz="1500" b="1" dirty="0">
                <a:solidFill>
                  <a:schemeClr val="tx2"/>
                </a:solidFill>
              </a:rPr>
              <a:t>تابِع</a:t>
            </a:r>
            <a:endParaRPr lang="en-US" sz="1500" dirty="0"/>
          </a:p>
          <a:p>
            <a:pPr rtl="1" algn="r" indent="0" marL="0">
              <a:buNone/>
            </a:pPr>
            <a:r>
              <a:rPr lang="ar-EG" altLang="en-US" sz="1300" dirty="0">
                <a:solidFill>
                  <a:schemeClr val="tx1"/>
                </a:solidFill>
              </a:rPr>
              <a:t>راجع واشكر وعدّل</a:t>
            </a:r>
            <a:endParaRPr lang="en-US" sz="1500" dirty="0"/>
          </a:p>
        </p:txBody>
      </p:sp>
      <p:sp>
        <p:nvSpPr>
          <p:cNvPr id="29" name="card-376"/>
          <p:cNvSpPr/>
          <p:nvPr/>
        </p:nvSpPr>
        <p:spPr>
          <a:xfrm>
            <a:off x="548640" y="4572000"/>
            <a:ext cx="11094415" cy="1554480"/>
          </a:xfrm>
          <a:prstGeom prst="roundRect">
            <a:avLst>
              <a:gd name="adj" fmla="val 7059"/>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30" name="icon-bg-377"/>
          <p:cNvSpPr/>
          <p:nvPr/>
        </p:nvSpPr>
        <p:spPr>
          <a:xfrm>
            <a:off x="822960" y="4983480"/>
            <a:ext cx="731520" cy="731520"/>
          </a:xfrm>
          <a:prstGeom prst="ellipse">
            <a:avLst/>
          </a:prstGeom>
          <a:solidFill>
            <a:schemeClr val="accent3"/>
          </a:solidFill>
          <a:ln w="12700">
            <a:solidFill>
              <a:schemeClr val="accent3"/>
            </a:solidFill>
            <a:prstDash val="solid"/>
          </a:ln>
        </p:spPr>
      </p:sp>
      <p:pic>
        <p:nvPicPr>
          <p:cNvPr id="31" name="icon-378" descr="preencoded.png">    </p:cNvPr>
          <p:cNvPicPr>
            <a:picLocks noChangeAspect="1"/>
          </p:cNvPicPr>
          <p:nvPr/>
        </p:nvPicPr>
        <p:blipFill>
          <a:blip r:embed="rId6"/>
          <a:stretch>
            <a:fillRect/>
          </a:stretch>
        </p:blipFill>
        <p:spPr>
          <a:xfrm>
            <a:off x="983894" y="5144414"/>
            <a:ext cx="409651" cy="409651"/>
          </a:xfrm>
          <a:prstGeom prst="rect">
            <a:avLst/>
          </a:prstGeom>
        </p:spPr>
      </p:pic>
      <p:sp>
        <p:nvSpPr>
          <p:cNvPr id="32" name="text-379"/>
          <p:cNvSpPr txBox="1"/>
          <p:nvPr/>
        </p:nvSpPr>
        <p:spPr>
          <a:xfrm>
            <a:off x="1783080" y="4681728"/>
            <a:ext cx="4434840" cy="1325880"/>
          </a:xfrm>
          <a:prstGeom prst="rect">
            <a:avLst/>
          </a:prstGeom>
          <a:noFill/>
          <a:ln/>
        </p:spPr>
        <p:txBody>
          <a:bodyPr wrap="square" lIns="0" tIns="0" rIns="0" bIns="0" rtlCol="0" anchor="ctr"/>
          <a:lstStyle/>
          <a:p>
            <a:pPr indent="0" marL="0">
              <a:buNone/>
            </a:pPr>
            <a:r>
              <a:rPr lang="en-US" sz="1500" b="1" dirty="0">
                <a:solidFill>
                  <a:schemeClr val="accent3"/>
                </a:solidFill>
              </a:rPr>
              <a:t>Top time-wasters to avoid:</a:t>
            </a:r>
            <a:endParaRPr lang="en-US" sz="1500" dirty="0"/>
          </a:p>
          <a:p>
            <a:pPr indent="0" marL="0">
              <a:buNone/>
            </a:pPr>
            <a:r>
              <a:rPr lang="en-US" sz="1400" dirty="0">
                <a:solidFill>
                  <a:schemeClr val="bg1"/>
                </a:solidFill>
              </a:rPr>
              <a:t>Doing every task yourself · unclear instructions · late breaks that collide with peak · no hand-off notes</a:t>
            </a:r>
            <a:endParaRPr lang="en-US" sz="1500" dirty="0"/>
          </a:p>
        </p:txBody>
      </p:sp>
      <p:sp>
        <p:nvSpPr>
          <p:cNvPr id="33" name="text-380"/>
          <p:cNvSpPr txBox="1"/>
          <p:nvPr/>
        </p:nvSpPr>
        <p:spPr>
          <a:xfrm>
            <a:off x="6446520" y="4681728"/>
            <a:ext cx="4922215" cy="1325880"/>
          </a:xfrm>
          <a:prstGeom prst="rect">
            <a:avLst/>
          </a:prstGeom>
          <a:noFill/>
          <a:ln/>
        </p:spPr>
        <p:txBody>
          <a:bodyPr wrap="square" lIns="0" tIns="0" rIns="0" bIns="0" rtlCol="0" anchor="ctr"/>
          <a:lstStyle/>
          <a:p>
            <a:pPr rtl="1" algn="r" indent="0" marL="0">
              <a:buNone/>
            </a:pPr>
            <a:r>
              <a:rPr lang="ar-EG" altLang="en-US" sz="1500" b="1" dirty="0">
                <a:solidFill>
                  <a:schemeClr val="accent3"/>
                </a:solidFill>
              </a:rPr>
              <a:t>أكثر ما يضيّع الوقت:</a:t>
            </a:r>
            <a:endParaRPr lang="en-US" sz="1500" dirty="0"/>
          </a:p>
          <a:p>
            <a:pPr rtl="1" algn="r" indent="0" marL="0">
              <a:buNone/>
            </a:pPr>
            <a:r>
              <a:rPr lang="ar-EG" altLang="en-US" sz="1400" dirty="0">
                <a:solidFill>
                  <a:schemeClr val="bg1"/>
                </a:solidFill>
              </a:rPr>
              <a:t>فعل كل شيء بنفسك · تعليمات غير واضحة · استراحات متأخرة وقت الذروة · غياب ملاحظات التسليم</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A Well-Managed Opening Shift (Example)</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مثال: إدارة شفت صباحي بإحكام</a:t>
            </a:r>
            <a:endParaRPr lang="ar-EG" sz="2000" dirty="0"/>
          </a:p>
        </p:txBody>
      </p:sp>
      <p:sp>
        <p:nvSpPr>
          <p:cNvPr id="4" name="tl-line"/>
          <p:cNvSpPr/>
          <p:nvPr/>
        </p:nvSpPr>
        <p:spPr>
          <a:xfrm>
            <a:off x="1473175" y="2148840"/>
            <a:ext cx="9245346" cy="0"/>
          </a:xfrm>
          <a:prstGeom prst="line">
            <a:avLst/>
          </a:prstGeom>
          <a:noFill/>
          <a:ln w="38100">
            <a:solidFill>
              <a:schemeClr val="accent4"/>
            </a:solidFill>
            <a:prstDash val="solid"/>
          </a:ln>
        </p:spPr>
      </p:sp>
      <p:sp>
        <p:nvSpPr>
          <p:cNvPr id="5" name="tl-dot-381"/>
          <p:cNvSpPr/>
          <p:nvPr/>
        </p:nvSpPr>
        <p:spPr>
          <a:xfrm>
            <a:off x="1290295" y="1965960"/>
            <a:ext cx="365760" cy="365760"/>
          </a:xfrm>
          <a:prstGeom prst="ellipse">
            <a:avLst/>
          </a:prstGeom>
          <a:solidFill>
            <a:schemeClr val="accent1"/>
          </a:solidFill>
          <a:ln w="38100">
            <a:solidFill>
              <a:schemeClr val="bg1"/>
            </a:solidFill>
            <a:prstDash val="solid"/>
          </a:ln>
        </p:spPr>
      </p:sp>
      <p:sp>
        <p:nvSpPr>
          <p:cNvPr id="6" name="text-382"/>
          <p:cNvSpPr txBox="1"/>
          <p:nvPr/>
        </p:nvSpPr>
        <p:spPr>
          <a:xfrm>
            <a:off x="548640" y="1508760"/>
            <a:ext cx="1849069" cy="365760"/>
          </a:xfrm>
          <a:prstGeom prst="rect">
            <a:avLst/>
          </a:prstGeom>
          <a:noFill/>
          <a:ln/>
        </p:spPr>
        <p:txBody>
          <a:bodyPr wrap="square" lIns="0" tIns="0" rIns="0" bIns="0" rtlCol="0" anchor="t"/>
          <a:lstStyle/>
          <a:p>
            <a:pPr algn="ctr" indent="0" marL="0">
              <a:buNone/>
            </a:pPr>
            <a:r>
              <a:rPr lang="en-US" sz="1600" b="1" dirty="0">
                <a:solidFill>
                  <a:schemeClr val="tx2"/>
                </a:solidFill>
              </a:rPr>
              <a:t>05:30</a:t>
            </a:r>
            <a:endParaRPr lang="en-US" sz="1600" dirty="0"/>
          </a:p>
        </p:txBody>
      </p:sp>
      <p:sp>
        <p:nvSpPr>
          <p:cNvPr id="7" name="tl-card-383"/>
          <p:cNvSpPr/>
          <p:nvPr/>
        </p:nvSpPr>
        <p:spPr>
          <a:xfrm>
            <a:off x="621792" y="2606040"/>
            <a:ext cx="1702765" cy="3520440"/>
          </a:xfrm>
          <a:prstGeom prst="roundRect">
            <a:avLst>
              <a:gd name="adj" fmla="val 6444"/>
            </a:avLst>
          </a:prstGeom>
          <a:solidFill>
            <a:schemeClr val="accent4"/>
          </a:solidFill>
          <a:ln w="12700">
            <a:solidFill>
              <a:schemeClr val="accent4"/>
            </a:solidFill>
            <a:prstDash val="solid"/>
          </a:ln>
          <a:effectLst>
            <a:outerShdw sx="100000" sy="100000" kx="0" ky="0" algn="bl" rotWithShape="0" blurRad="101600" dist="25400" dir="5400000">
              <a:srgbClr val="1E3932">
                <a:alpha val="12000"/>
              </a:srgbClr>
            </a:outerShdw>
          </a:effectLst>
        </p:spPr>
      </p:sp>
      <p:sp>
        <p:nvSpPr>
          <p:cNvPr id="8" name="text-384"/>
          <p:cNvSpPr txBox="1"/>
          <p:nvPr/>
        </p:nvSpPr>
        <p:spPr>
          <a:xfrm>
            <a:off x="777240" y="2788920"/>
            <a:ext cx="1391869" cy="3200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Prepare</a:t>
            </a:r>
            <a:endParaRPr lang="en-US" sz="1600" dirty="0"/>
          </a:p>
          <a:p>
            <a:pPr indent="0" marL="0">
              <a:spcAft>
                <a:spcPts val="1000"/>
              </a:spcAft>
              <a:buNone/>
            </a:pPr>
            <a:r>
              <a:rPr lang="en-US" sz="1300" dirty="0">
                <a:solidFill>
                  <a:schemeClr val="tx1"/>
                </a:solidFill>
              </a:rPr>
              <a:t>Check in with yourself, store &amp; comms; Store Walk</a:t>
            </a:r>
            <a:endParaRPr lang="en-US" sz="1600" dirty="0"/>
          </a:p>
          <a:p>
            <a:pPr rtl="1" algn="r" indent="0" marL="0">
              <a:buNone/>
            </a:pPr>
            <a:r>
              <a:rPr lang="ar-EG" altLang="en-US" sz="1300" dirty="0">
                <a:solidFill>
                  <a:schemeClr val="tx1"/>
                </a:solidFill>
              </a:rPr>
              <a:t>استعد: راجع الخطة والتقارير وجولة المتجر</a:t>
            </a:r>
            <a:endParaRPr lang="en-US" sz="1600" dirty="0"/>
          </a:p>
        </p:txBody>
      </p:sp>
      <p:sp>
        <p:nvSpPr>
          <p:cNvPr id="9" name="tl-dot-385"/>
          <p:cNvSpPr/>
          <p:nvPr/>
        </p:nvSpPr>
        <p:spPr>
          <a:xfrm>
            <a:off x="3139364" y="1965960"/>
            <a:ext cx="365760" cy="365760"/>
          </a:xfrm>
          <a:prstGeom prst="ellipse">
            <a:avLst/>
          </a:prstGeom>
          <a:solidFill>
            <a:schemeClr val="accent1"/>
          </a:solidFill>
          <a:ln w="38100">
            <a:solidFill>
              <a:schemeClr val="bg1"/>
            </a:solidFill>
            <a:prstDash val="solid"/>
          </a:ln>
        </p:spPr>
      </p:sp>
      <p:sp>
        <p:nvSpPr>
          <p:cNvPr id="10" name="text-386"/>
          <p:cNvSpPr txBox="1"/>
          <p:nvPr/>
        </p:nvSpPr>
        <p:spPr>
          <a:xfrm>
            <a:off x="2397709" y="1508760"/>
            <a:ext cx="1849069" cy="365760"/>
          </a:xfrm>
          <a:prstGeom prst="rect">
            <a:avLst/>
          </a:prstGeom>
          <a:noFill/>
          <a:ln/>
        </p:spPr>
        <p:txBody>
          <a:bodyPr wrap="square" lIns="0" tIns="0" rIns="0" bIns="0" rtlCol="0" anchor="t"/>
          <a:lstStyle/>
          <a:p>
            <a:pPr algn="ctr" indent="0" marL="0">
              <a:buNone/>
            </a:pPr>
            <a:r>
              <a:rPr lang="en-US" sz="1600" b="1" dirty="0">
                <a:solidFill>
                  <a:schemeClr val="tx2"/>
                </a:solidFill>
              </a:rPr>
              <a:t>06:00</a:t>
            </a:r>
            <a:endParaRPr lang="en-US" sz="1600" dirty="0"/>
          </a:p>
        </p:txBody>
      </p:sp>
      <p:sp>
        <p:nvSpPr>
          <p:cNvPr id="11" name="tl-card-387"/>
          <p:cNvSpPr/>
          <p:nvPr/>
        </p:nvSpPr>
        <p:spPr>
          <a:xfrm>
            <a:off x="2470861" y="2606040"/>
            <a:ext cx="1702765" cy="3520440"/>
          </a:xfrm>
          <a:prstGeom prst="roundRect">
            <a:avLst>
              <a:gd name="adj" fmla="val 6444"/>
            </a:avLst>
          </a:prstGeom>
          <a:solidFill>
            <a:schemeClr val="accent4"/>
          </a:solidFill>
          <a:ln w="12700">
            <a:solidFill>
              <a:schemeClr val="accent4"/>
            </a:solidFill>
            <a:prstDash val="solid"/>
          </a:ln>
          <a:effectLst>
            <a:outerShdw sx="100000" sy="100000" kx="0" ky="0" algn="bl" rotWithShape="0" blurRad="101600" dist="25400" dir="5400000">
              <a:srgbClr val="1E3932">
                <a:alpha val="12000"/>
              </a:srgbClr>
            </a:outerShdw>
          </a:effectLst>
        </p:spPr>
      </p:sp>
      <p:sp>
        <p:nvSpPr>
          <p:cNvPr id="12" name="text-388"/>
          <p:cNvSpPr txBox="1"/>
          <p:nvPr/>
        </p:nvSpPr>
        <p:spPr>
          <a:xfrm>
            <a:off x="2626309" y="2788920"/>
            <a:ext cx="1391869" cy="3200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Quick Connect</a:t>
            </a:r>
            <a:endParaRPr lang="en-US" sz="1600" dirty="0"/>
          </a:p>
          <a:p>
            <a:pPr indent="0" marL="0">
              <a:spcAft>
                <a:spcPts val="1000"/>
              </a:spcAft>
              <a:buNone/>
            </a:pPr>
            <a:r>
              <a:rPr lang="en-US" sz="1300" dirty="0">
                <a:solidFill>
                  <a:schemeClr val="tx1"/>
                </a:solidFill>
              </a:rPr>
              <a:t>Positions, breaks, one focus for today</a:t>
            </a:r>
            <a:endParaRPr lang="en-US" sz="1600" dirty="0"/>
          </a:p>
          <a:p>
            <a:pPr rtl="1" algn="r" indent="0" marL="0">
              <a:buNone/>
            </a:pPr>
            <a:r>
              <a:rPr lang="ar-EG" altLang="en-US" sz="1300" dirty="0">
                <a:solidFill>
                  <a:schemeClr val="tx1"/>
                </a:solidFill>
              </a:rPr>
              <a:t>اجتماع سريع: المواقع والاستراحات والتركيز</a:t>
            </a:r>
            <a:endParaRPr lang="en-US" sz="1600" dirty="0"/>
          </a:p>
        </p:txBody>
      </p:sp>
      <p:sp>
        <p:nvSpPr>
          <p:cNvPr id="13" name="tl-dot-389"/>
          <p:cNvSpPr/>
          <p:nvPr/>
        </p:nvSpPr>
        <p:spPr>
          <a:xfrm>
            <a:off x="4988433" y="1965960"/>
            <a:ext cx="365760" cy="365760"/>
          </a:xfrm>
          <a:prstGeom prst="ellipse">
            <a:avLst/>
          </a:prstGeom>
          <a:solidFill>
            <a:schemeClr val="accent1"/>
          </a:solidFill>
          <a:ln w="38100">
            <a:solidFill>
              <a:schemeClr val="bg1"/>
            </a:solidFill>
            <a:prstDash val="solid"/>
          </a:ln>
        </p:spPr>
      </p:sp>
      <p:sp>
        <p:nvSpPr>
          <p:cNvPr id="14" name="text-390"/>
          <p:cNvSpPr txBox="1"/>
          <p:nvPr/>
        </p:nvSpPr>
        <p:spPr>
          <a:xfrm>
            <a:off x="4246778" y="1508760"/>
            <a:ext cx="1849069" cy="365760"/>
          </a:xfrm>
          <a:prstGeom prst="rect">
            <a:avLst/>
          </a:prstGeom>
          <a:noFill/>
          <a:ln/>
        </p:spPr>
        <p:txBody>
          <a:bodyPr wrap="square" lIns="0" tIns="0" rIns="0" bIns="0" rtlCol="0" anchor="t"/>
          <a:lstStyle/>
          <a:p>
            <a:pPr algn="ctr" indent="0" marL="0">
              <a:buNone/>
            </a:pPr>
            <a:r>
              <a:rPr lang="en-US" sz="1600" b="1" dirty="0">
                <a:solidFill>
                  <a:schemeClr val="tx2"/>
                </a:solidFill>
              </a:rPr>
              <a:t>06:30</a:t>
            </a:r>
            <a:endParaRPr lang="en-US" sz="1600" dirty="0"/>
          </a:p>
        </p:txBody>
      </p:sp>
      <p:sp>
        <p:nvSpPr>
          <p:cNvPr id="15" name="tl-card-391"/>
          <p:cNvSpPr/>
          <p:nvPr/>
        </p:nvSpPr>
        <p:spPr>
          <a:xfrm>
            <a:off x="4319930" y="2606040"/>
            <a:ext cx="1702765" cy="3520440"/>
          </a:xfrm>
          <a:prstGeom prst="roundRect">
            <a:avLst>
              <a:gd name="adj" fmla="val 6444"/>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16" name="text-392"/>
          <p:cNvSpPr txBox="1"/>
          <p:nvPr/>
        </p:nvSpPr>
        <p:spPr>
          <a:xfrm>
            <a:off x="4475378" y="2788920"/>
            <a:ext cx="1391869" cy="320040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Morning peak</a:t>
            </a:r>
            <a:endParaRPr lang="en-US" sz="1600" dirty="0"/>
          </a:p>
          <a:p>
            <a:pPr indent="0" marL="0">
              <a:spcAft>
                <a:spcPts val="1000"/>
              </a:spcAft>
              <a:buNone/>
            </a:pPr>
            <a:r>
              <a:rPr lang="en-US" sz="1300" dirty="0">
                <a:solidFill>
                  <a:schemeClr val="bg1"/>
                </a:solidFill>
              </a:rPr>
              <a:t>Lead from the floor, flex the play, ≤ 4 min</a:t>
            </a:r>
            <a:endParaRPr lang="en-US" sz="1600" dirty="0"/>
          </a:p>
          <a:p>
            <a:pPr rtl="1" algn="r" indent="0" marL="0">
              <a:buNone/>
            </a:pPr>
            <a:r>
              <a:rPr lang="ar-EG" altLang="en-US" sz="1300" dirty="0">
                <a:solidFill>
                  <a:schemeClr val="bg1"/>
                </a:solidFill>
              </a:rPr>
              <a:t>ذروة الصباح: قُد من الأرضية وعدّل الخطة</a:t>
            </a:r>
            <a:endParaRPr lang="en-US" sz="1600" dirty="0"/>
          </a:p>
        </p:txBody>
      </p:sp>
      <p:sp>
        <p:nvSpPr>
          <p:cNvPr id="17" name="tl-dot-393"/>
          <p:cNvSpPr/>
          <p:nvPr/>
        </p:nvSpPr>
        <p:spPr>
          <a:xfrm>
            <a:off x="6837502" y="1965960"/>
            <a:ext cx="365760" cy="365760"/>
          </a:xfrm>
          <a:prstGeom prst="ellipse">
            <a:avLst/>
          </a:prstGeom>
          <a:solidFill>
            <a:schemeClr val="accent1"/>
          </a:solidFill>
          <a:ln w="38100">
            <a:solidFill>
              <a:schemeClr val="bg1"/>
            </a:solidFill>
            <a:prstDash val="solid"/>
          </a:ln>
        </p:spPr>
      </p:sp>
      <p:sp>
        <p:nvSpPr>
          <p:cNvPr id="18" name="text-394"/>
          <p:cNvSpPr txBox="1"/>
          <p:nvPr/>
        </p:nvSpPr>
        <p:spPr>
          <a:xfrm>
            <a:off x="6095848" y="1508760"/>
            <a:ext cx="1849069" cy="365760"/>
          </a:xfrm>
          <a:prstGeom prst="rect">
            <a:avLst/>
          </a:prstGeom>
          <a:noFill/>
          <a:ln/>
        </p:spPr>
        <p:txBody>
          <a:bodyPr wrap="square" lIns="0" tIns="0" rIns="0" bIns="0" rtlCol="0" anchor="t"/>
          <a:lstStyle/>
          <a:p>
            <a:pPr algn="ctr" indent="0" marL="0">
              <a:buNone/>
            </a:pPr>
            <a:r>
              <a:rPr lang="en-US" sz="1600" b="1" dirty="0">
                <a:solidFill>
                  <a:schemeClr val="tx2"/>
                </a:solidFill>
              </a:rPr>
              <a:t>09:30</a:t>
            </a:r>
            <a:endParaRPr lang="en-US" sz="1600" dirty="0"/>
          </a:p>
        </p:txBody>
      </p:sp>
      <p:sp>
        <p:nvSpPr>
          <p:cNvPr id="19" name="tl-card-395"/>
          <p:cNvSpPr/>
          <p:nvPr/>
        </p:nvSpPr>
        <p:spPr>
          <a:xfrm>
            <a:off x="6169000" y="2606040"/>
            <a:ext cx="1702765" cy="3520440"/>
          </a:xfrm>
          <a:prstGeom prst="roundRect">
            <a:avLst>
              <a:gd name="adj" fmla="val 6444"/>
            </a:avLst>
          </a:prstGeom>
          <a:solidFill>
            <a:schemeClr val="accent4"/>
          </a:solidFill>
          <a:ln w="12700">
            <a:solidFill>
              <a:schemeClr val="accent4"/>
            </a:solidFill>
            <a:prstDash val="solid"/>
          </a:ln>
          <a:effectLst>
            <a:outerShdw sx="100000" sy="100000" kx="0" ky="0" algn="bl" rotWithShape="0" blurRad="101600" dist="25400" dir="5400000">
              <a:srgbClr val="1E3932">
                <a:alpha val="12000"/>
              </a:srgbClr>
            </a:outerShdw>
          </a:effectLst>
        </p:spPr>
      </p:sp>
      <p:sp>
        <p:nvSpPr>
          <p:cNvPr id="20" name="text-396"/>
          <p:cNvSpPr txBox="1"/>
          <p:nvPr/>
        </p:nvSpPr>
        <p:spPr>
          <a:xfrm>
            <a:off x="6324448" y="2788920"/>
            <a:ext cx="1391869" cy="3200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Reset</a:t>
            </a:r>
            <a:endParaRPr lang="en-US" sz="1600" dirty="0"/>
          </a:p>
          <a:p>
            <a:pPr indent="0" marL="0">
              <a:spcAft>
                <a:spcPts val="1000"/>
              </a:spcAft>
              <a:buNone/>
            </a:pPr>
            <a:r>
              <a:rPr lang="en-US" sz="1300" dirty="0">
                <a:solidFill>
                  <a:schemeClr val="tx1"/>
                </a:solidFill>
              </a:rPr>
              <a:t>Breaks, Clean Plays, restock, quick coaching</a:t>
            </a:r>
            <a:endParaRPr lang="en-US" sz="1600" dirty="0"/>
          </a:p>
          <a:p>
            <a:pPr rtl="1" algn="r" indent="0" marL="0">
              <a:buNone/>
            </a:pPr>
            <a:r>
              <a:rPr lang="ar-EG" altLang="en-US" sz="1300" dirty="0">
                <a:solidFill>
                  <a:schemeClr val="tx1"/>
                </a:solidFill>
              </a:rPr>
              <a:t>إعادة ضبط: استراحات ونظافة وتعبئة وتوجيه</a:t>
            </a:r>
            <a:endParaRPr lang="en-US" sz="1600" dirty="0"/>
          </a:p>
        </p:txBody>
      </p:sp>
      <p:sp>
        <p:nvSpPr>
          <p:cNvPr id="21" name="tl-dot-397"/>
          <p:cNvSpPr/>
          <p:nvPr/>
        </p:nvSpPr>
        <p:spPr>
          <a:xfrm>
            <a:off x="8686571" y="1965960"/>
            <a:ext cx="365760" cy="365760"/>
          </a:xfrm>
          <a:prstGeom prst="ellipse">
            <a:avLst/>
          </a:prstGeom>
          <a:solidFill>
            <a:schemeClr val="accent1"/>
          </a:solidFill>
          <a:ln w="38100">
            <a:solidFill>
              <a:schemeClr val="bg1"/>
            </a:solidFill>
            <a:prstDash val="solid"/>
          </a:ln>
        </p:spPr>
      </p:sp>
      <p:sp>
        <p:nvSpPr>
          <p:cNvPr id="22" name="text-398"/>
          <p:cNvSpPr txBox="1"/>
          <p:nvPr/>
        </p:nvSpPr>
        <p:spPr>
          <a:xfrm>
            <a:off x="7944917" y="1508760"/>
            <a:ext cx="1849069" cy="365760"/>
          </a:xfrm>
          <a:prstGeom prst="rect">
            <a:avLst/>
          </a:prstGeom>
          <a:noFill/>
          <a:ln/>
        </p:spPr>
        <p:txBody>
          <a:bodyPr wrap="square" lIns="0" tIns="0" rIns="0" bIns="0" rtlCol="0" anchor="t"/>
          <a:lstStyle/>
          <a:p>
            <a:pPr algn="ctr" indent="0" marL="0">
              <a:buNone/>
            </a:pPr>
            <a:r>
              <a:rPr lang="en-US" sz="1600" b="1" dirty="0">
                <a:solidFill>
                  <a:schemeClr val="tx2"/>
                </a:solidFill>
              </a:rPr>
              <a:t>11:30</a:t>
            </a:r>
            <a:endParaRPr lang="en-US" sz="1600" dirty="0"/>
          </a:p>
        </p:txBody>
      </p:sp>
      <p:sp>
        <p:nvSpPr>
          <p:cNvPr id="23" name="tl-card-399"/>
          <p:cNvSpPr/>
          <p:nvPr/>
        </p:nvSpPr>
        <p:spPr>
          <a:xfrm>
            <a:off x="8018069" y="2606040"/>
            <a:ext cx="1702765" cy="3520440"/>
          </a:xfrm>
          <a:prstGeom prst="roundRect">
            <a:avLst>
              <a:gd name="adj" fmla="val 6444"/>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24" name="text-400"/>
          <p:cNvSpPr txBox="1"/>
          <p:nvPr/>
        </p:nvSpPr>
        <p:spPr>
          <a:xfrm>
            <a:off x="8173517" y="2788920"/>
            <a:ext cx="1391869" cy="320040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Lunch peak</a:t>
            </a:r>
            <a:endParaRPr lang="en-US" sz="1600" dirty="0"/>
          </a:p>
          <a:p>
            <a:pPr indent="0" marL="0">
              <a:spcAft>
                <a:spcPts val="1000"/>
              </a:spcAft>
              <a:buNone/>
            </a:pPr>
            <a:r>
              <a:rPr lang="en-US" sz="1300" dirty="0">
                <a:solidFill>
                  <a:schemeClr val="bg1"/>
                </a:solidFill>
              </a:rPr>
              <a:t>Full deployment, customer connection focus</a:t>
            </a:r>
            <a:endParaRPr lang="en-US" sz="1600" dirty="0"/>
          </a:p>
          <a:p>
            <a:pPr rtl="1" algn="r" indent="0" marL="0">
              <a:buNone/>
            </a:pPr>
            <a:r>
              <a:rPr lang="ar-EG" altLang="en-US" sz="1300" dirty="0">
                <a:solidFill>
                  <a:schemeClr val="bg1"/>
                </a:solidFill>
              </a:rPr>
              <a:t>ذروة الظهيرة: توزيع كامل وتركيز على العميل</a:t>
            </a:r>
            <a:endParaRPr lang="en-US" sz="1600" dirty="0"/>
          </a:p>
        </p:txBody>
      </p:sp>
      <p:sp>
        <p:nvSpPr>
          <p:cNvPr id="25" name="tl-dot-401"/>
          <p:cNvSpPr/>
          <p:nvPr/>
        </p:nvSpPr>
        <p:spPr>
          <a:xfrm>
            <a:off x="10535641" y="1965960"/>
            <a:ext cx="365760" cy="365760"/>
          </a:xfrm>
          <a:prstGeom prst="ellipse">
            <a:avLst/>
          </a:prstGeom>
          <a:solidFill>
            <a:schemeClr val="tx1"/>
          </a:solidFill>
          <a:ln w="38100">
            <a:solidFill>
              <a:schemeClr val="bg1"/>
            </a:solidFill>
            <a:prstDash val="solid"/>
          </a:ln>
        </p:spPr>
      </p:sp>
      <p:sp>
        <p:nvSpPr>
          <p:cNvPr id="26" name="text-402"/>
          <p:cNvSpPr txBox="1"/>
          <p:nvPr/>
        </p:nvSpPr>
        <p:spPr>
          <a:xfrm>
            <a:off x="9793986" y="1508760"/>
            <a:ext cx="1849069" cy="365760"/>
          </a:xfrm>
          <a:prstGeom prst="rect">
            <a:avLst/>
          </a:prstGeom>
          <a:noFill/>
          <a:ln/>
        </p:spPr>
        <p:txBody>
          <a:bodyPr wrap="square" lIns="0" tIns="0" rIns="0" bIns="0" rtlCol="0" anchor="t"/>
          <a:lstStyle/>
          <a:p>
            <a:pPr algn="ctr" indent="0" marL="0">
              <a:buNone/>
            </a:pPr>
            <a:r>
              <a:rPr lang="en-US" sz="1600" b="1" dirty="0">
                <a:solidFill>
                  <a:schemeClr val="tx2"/>
                </a:solidFill>
              </a:rPr>
              <a:t>13:30</a:t>
            </a:r>
            <a:endParaRPr lang="en-US" sz="1600" dirty="0"/>
          </a:p>
        </p:txBody>
      </p:sp>
      <p:sp>
        <p:nvSpPr>
          <p:cNvPr id="27" name="tl-card-403"/>
          <p:cNvSpPr/>
          <p:nvPr/>
        </p:nvSpPr>
        <p:spPr>
          <a:xfrm>
            <a:off x="9867138" y="2606040"/>
            <a:ext cx="1702765" cy="3520440"/>
          </a:xfrm>
          <a:prstGeom prst="roundRect">
            <a:avLst>
              <a:gd name="adj" fmla="val 6444"/>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28" name="text-404"/>
          <p:cNvSpPr txBox="1"/>
          <p:nvPr/>
        </p:nvSpPr>
        <p:spPr>
          <a:xfrm>
            <a:off x="10022586" y="2788920"/>
            <a:ext cx="1391869" cy="320040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Transition</a:t>
            </a:r>
            <a:endParaRPr lang="en-US" sz="1600" dirty="0"/>
          </a:p>
          <a:p>
            <a:pPr indent="0" marL="0">
              <a:spcAft>
                <a:spcPts val="1000"/>
              </a:spcAft>
              <a:buNone/>
            </a:pPr>
            <a:r>
              <a:rPr lang="en-US" sz="1300" dirty="0">
                <a:solidFill>
                  <a:schemeClr val="bg1"/>
                </a:solidFill>
              </a:rPr>
              <a:t>Daily Plan notes, thank team, self-review</a:t>
            </a:r>
            <a:endParaRPr lang="en-US" sz="1600" dirty="0"/>
          </a:p>
          <a:p>
            <a:pPr rtl="1" algn="r" indent="0" marL="0">
              <a:buNone/>
            </a:pPr>
            <a:r>
              <a:rPr lang="ar-EG" altLang="en-US" sz="1300" dirty="0">
                <a:solidFill>
                  <a:schemeClr val="bg1"/>
                </a:solidFill>
              </a:rPr>
              <a:t>التسليم: ملاحظات وشكر الفريق ومراجعة ذاتية</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Reflect &amp; Commit</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تأمّل والتزم</a:t>
            </a:r>
            <a:endParaRPr lang="ar-EG" sz="2000" dirty="0"/>
          </a:p>
        </p:txBody>
      </p:sp>
      <p:sp>
        <p:nvSpPr>
          <p:cNvPr id="4" name="text-405"/>
          <p:cNvSpPr txBox="1"/>
          <p:nvPr/>
        </p:nvSpPr>
        <p:spPr>
          <a:xfrm>
            <a:off x="548640" y="1508760"/>
            <a:ext cx="6400800" cy="320040"/>
          </a:xfrm>
          <a:prstGeom prst="rect">
            <a:avLst/>
          </a:prstGeom>
          <a:noFill/>
          <a:ln/>
        </p:spPr>
        <p:txBody>
          <a:bodyPr wrap="square" lIns="0" tIns="0" rIns="0" bIns="0" rtlCol="0" anchor="t"/>
          <a:lstStyle/>
          <a:p>
            <a:pPr indent="0" marL="0">
              <a:buNone/>
            </a:pPr>
            <a:r>
              <a:rPr lang="en-US" sz="1400" b="1" dirty="0">
                <a:solidFill>
                  <a:schemeClr val="accent6"/>
                </a:solidFill>
              </a:rPr>
              <a:t>Rate yourself: L = Learning · O = Owning · A = Advising</a:t>
            </a:r>
            <a:endParaRPr lang="en-US" sz="1400" dirty="0"/>
          </a:p>
        </p:txBody>
      </p:sp>
      <p:sp>
        <p:nvSpPr>
          <p:cNvPr id="5" name="text-406"/>
          <p:cNvSpPr txBox="1"/>
          <p:nvPr/>
        </p:nvSpPr>
        <p:spPr>
          <a:xfrm>
            <a:off x="6949440" y="1508760"/>
            <a:ext cx="4693615" cy="320040"/>
          </a:xfrm>
          <a:prstGeom prst="rect">
            <a:avLst/>
          </a:prstGeom>
          <a:noFill/>
          <a:ln/>
        </p:spPr>
        <p:txBody>
          <a:bodyPr wrap="square" lIns="0" tIns="0" rIns="0" bIns="0" rtlCol="0" anchor="t"/>
          <a:lstStyle/>
          <a:p>
            <a:pPr rtl="1" algn="r" indent="0" marL="0">
              <a:buNone/>
            </a:pPr>
            <a:r>
              <a:rPr lang="ar-EG" altLang="en-US" sz="1400" b="1" dirty="0">
                <a:solidFill>
                  <a:schemeClr val="accent6"/>
                </a:solidFill>
              </a:rPr>
              <a:t>قيّم نفسك: تعلُّم · امتلاك · توجيه</a:t>
            </a:r>
            <a:endParaRPr lang="en-US" sz="1400" dirty="0"/>
          </a:p>
        </p:txBody>
      </p:sp>
      <p:sp>
        <p:nvSpPr>
          <p:cNvPr id="6" name="refl-407"/>
          <p:cNvSpPr/>
          <p:nvPr/>
        </p:nvSpPr>
        <p:spPr>
          <a:xfrm>
            <a:off x="548640" y="1920240"/>
            <a:ext cx="11094415" cy="731520"/>
          </a:xfrm>
          <a:prstGeom prst="roundRect">
            <a:avLst>
              <a:gd name="adj" fmla="val 12500"/>
            </a:avLst>
          </a:prstGeom>
          <a:solidFill>
            <a:schemeClr val="bg2"/>
          </a:solidFill>
          <a:ln w="12700">
            <a:solidFill>
              <a:schemeClr val="bg2"/>
            </a:solidFill>
            <a:prstDash val="solid"/>
          </a:ln>
        </p:spPr>
      </p:sp>
      <p:sp>
        <p:nvSpPr>
          <p:cNvPr id="7" name="text-408"/>
          <p:cNvSpPr txBox="1"/>
          <p:nvPr/>
        </p:nvSpPr>
        <p:spPr>
          <a:xfrm>
            <a:off x="822960" y="1920240"/>
            <a:ext cx="4937760" cy="731520"/>
          </a:xfrm>
          <a:prstGeom prst="rect">
            <a:avLst/>
          </a:prstGeom>
          <a:noFill/>
          <a:ln/>
        </p:spPr>
        <p:txBody>
          <a:bodyPr wrap="square" lIns="0" tIns="0" rIns="0" bIns="0" rtlCol="0" anchor="ctr"/>
          <a:lstStyle/>
          <a:p>
            <a:pPr indent="0" marL="0">
              <a:buNone/>
            </a:pPr>
            <a:r>
              <a:rPr lang="en-US" sz="1400" dirty="0">
                <a:solidFill>
                  <a:schemeClr val="tx1"/>
                </a:solidFill>
              </a:rPr>
              <a:t>I transition my shift by checking out with the store, the team and myself.</a:t>
            </a:r>
            <a:endParaRPr lang="en-US" sz="1400" dirty="0"/>
          </a:p>
        </p:txBody>
      </p:sp>
      <p:sp>
        <p:nvSpPr>
          <p:cNvPr id="8" name="text-409"/>
          <p:cNvSpPr txBox="1"/>
          <p:nvPr/>
        </p:nvSpPr>
        <p:spPr>
          <a:xfrm>
            <a:off x="5532120" y="1920240"/>
            <a:ext cx="3566160" cy="731520"/>
          </a:xfrm>
          <a:prstGeom prst="rect">
            <a:avLst/>
          </a:prstGeom>
          <a:noFill/>
          <a:ln/>
        </p:spPr>
        <p:txBody>
          <a:bodyPr wrap="square" lIns="0" tIns="0" rIns="0" bIns="0" rtlCol="0" anchor="ctr"/>
          <a:lstStyle/>
          <a:p>
            <a:pPr rtl="1" algn="r" indent="0" marL="0">
              <a:buNone/>
            </a:pPr>
            <a:r>
              <a:rPr lang="ar-EG" altLang="en-US" sz="1400" dirty="0">
                <a:solidFill>
                  <a:schemeClr val="tx2"/>
                </a:solidFill>
              </a:rPr>
              <a:t>أسلّم شفتي بالمراجعة مع المتجر والفريق ونفسي.</a:t>
            </a:r>
            <a:endParaRPr lang="en-US" sz="1400" dirty="0"/>
          </a:p>
        </p:txBody>
      </p:sp>
      <p:sp>
        <p:nvSpPr>
          <p:cNvPr id="9" name="loa-410"/>
          <p:cNvSpPr/>
          <p:nvPr/>
        </p:nvSpPr>
        <p:spPr>
          <a:xfrm>
            <a:off x="9372600" y="2029968"/>
            <a:ext cx="512064" cy="512064"/>
          </a:xfrm>
          <a:prstGeom prst="ellipse">
            <a:avLst/>
          </a:prstGeom>
          <a:solidFill>
            <a:schemeClr val="bg1"/>
          </a:solidFill>
          <a:ln w="19050">
            <a:solidFill>
              <a:schemeClr val="accent1"/>
            </a:solidFill>
            <a:prstDash val="solid"/>
          </a:ln>
        </p:spPr>
      </p:sp>
      <p:sp>
        <p:nvSpPr>
          <p:cNvPr id="10" name="text-411"/>
          <p:cNvSpPr txBox="1"/>
          <p:nvPr/>
        </p:nvSpPr>
        <p:spPr>
          <a:xfrm>
            <a:off x="9372600" y="2029968"/>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L</a:t>
            </a:r>
            <a:endParaRPr lang="en-US" sz="1400" dirty="0"/>
          </a:p>
        </p:txBody>
      </p:sp>
      <p:sp>
        <p:nvSpPr>
          <p:cNvPr id="11" name="loa-412"/>
          <p:cNvSpPr/>
          <p:nvPr/>
        </p:nvSpPr>
        <p:spPr>
          <a:xfrm>
            <a:off x="10122408" y="2029968"/>
            <a:ext cx="512064" cy="512064"/>
          </a:xfrm>
          <a:prstGeom prst="ellipse">
            <a:avLst/>
          </a:prstGeom>
          <a:solidFill>
            <a:schemeClr val="bg1"/>
          </a:solidFill>
          <a:ln w="19050">
            <a:solidFill>
              <a:schemeClr val="accent1"/>
            </a:solidFill>
            <a:prstDash val="solid"/>
          </a:ln>
        </p:spPr>
      </p:sp>
      <p:sp>
        <p:nvSpPr>
          <p:cNvPr id="12" name="text-413"/>
          <p:cNvSpPr txBox="1"/>
          <p:nvPr/>
        </p:nvSpPr>
        <p:spPr>
          <a:xfrm>
            <a:off x="10122408" y="2029968"/>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O</a:t>
            </a:r>
            <a:endParaRPr lang="en-US" sz="1400" dirty="0"/>
          </a:p>
        </p:txBody>
      </p:sp>
      <p:sp>
        <p:nvSpPr>
          <p:cNvPr id="13" name="loa-414"/>
          <p:cNvSpPr/>
          <p:nvPr/>
        </p:nvSpPr>
        <p:spPr>
          <a:xfrm>
            <a:off x="10872216" y="2029968"/>
            <a:ext cx="512064" cy="512064"/>
          </a:xfrm>
          <a:prstGeom prst="ellipse">
            <a:avLst/>
          </a:prstGeom>
          <a:solidFill>
            <a:schemeClr val="bg1"/>
          </a:solidFill>
          <a:ln w="19050">
            <a:solidFill>
              <a:schemeClr val="accent1"/>
            </a:solidFill>
            <a:prstDash val="solid"/>
          </a:ln>
        </p:spPr>
      </p:sp>
      <p:sp>
        <p:nvSpPr>
          <p:cNvPr id="14" name="text-415"/>
          <p:cNvSpPr txBox="1"/>
          <p:nvPr/>
        </p:nvSpPr>
        <p:spPr>
          <a:xfrm>
            <a:off x="10872216" y="2029968"/>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A</a:t>
            </a:r>
            <a:endParaRPr lang="en-US" sz="1400" dirty="0"/>
          </a:p>
        </p:txBody>
      </p:sp>
      <p:sp>
        <p:nvSpPr>
          <p:cNvPr id="15" name="refl-416"/>
          <p:cNvSpPr/>
          <p:nvPr/>
        </p:nvSpPr>
        <p:spPr>
          <a:xfrm>
            <a:off x="548640" y="2761488"/>
            <a:ext cx="11094415" cy="731520"/>
          </a:xfrm>
          <a:prstGeom prst="roundRect">
            <a:avLst>
              <a:gd name="adj" fmla="val 12500"/>
            </a:avLst>
          </a:prstGeom>
          <a:solidFill>
            <a:schemeClr val="bg2"/>
          </a:solidFill>
          <a:ln w="12700">
            <a:solidFill>
              <a:schemeClr val="bg2"/>
            </a:solidFill>
            <a:prstDash val="solid"/>
          </a:ln>
        </p:spPr>
      </p:sp>
      <p:sp>
        <p:nvSpPr>
          <p:cNvPr id="16" name="text-417"/>
          <p:cNvSpPr txBox="1"/>
          <p:nvPr/>
        </p:nvSpPr>
        <p:spPr>
          <a:xfrm>
            <a:off x="822960" y="2761488"/>
            <a:ext cx="4937760" cy="731520"/>
          </a:xfrm>
          <a:prstGeom prst="rect">
            <a:avLst/>
          </a:prstGeom>
          <a:noFill/>
          <a:ln/>
        </p:spPr>
        <p:txBody>
          <a:bodyPr wrap="square" lIns="0" tIns="0" rIns="0" bIns="0" rtlCol="0" anchor="ctr"/>
          <a:lstStyle/>
          <a:p>
            <a:pPr indent="0" marL="0">
              <a:buNone/>
            </a:pPr>
            <a:r>
              <a:rPr lang="en-US" sz="1400" dirty="0">
                <a:solidFill>
                  <a:schemeClr val="tx1"/>
                </a:solidFill>
              </a:rPr>
              <a:t>I put myself in the best position to read customer cues.</a:t>
            </a:r>
            <a:endParaRPr lang="en-US" sz="1400" dirty="0"/>
          </a:p>
        </p:txBody>
      </p:sp>
      <p:sp>
        <p:nvSpPr>
          <p:cNvPr id="17" name="text-418"/>
          <p:cNvSpPr txBox="1"/>
          <p:nvPr/>
        </p:nvSpPr>
        <p:spPr>
          <a:xfrm>
            <a:off x="5532120" y="2761488"/>
            <a:ext cx="3566160" cy="731520"/>
          </a:xfrm>
          <a:prstGeom prst="rect">
            <a:avLst/>
          </a:prstGeom>
          <a:noFill/>
          <a:ln/>
        </p:spPr>
        <p:txBody>
          <a:bodyPr wrap="square" lIns="0" tIns="0" rIns="0" bIns="0" rtlCol="0" anchor="ctr"/>
          <a:lstStyle/>
          <a:p>
            <a:pPr rtl="1" algn="r" indent="0" marL="0">
              <a:buNone/>
            </a:pPr>
            <a:r>
              <a:rPr lang="ar-EG" altLang="en-US" sz="1400" dirty="0">
                <a:solidFill>
                  <a:schemeClr val="tx2"/>
                </a:solidFill>
              </a:rPr>
              <a:t>أضع نفسي حيث أرى احتياجات العملاء.</a:t>
            </a:r>
            <a:endParaRPr lang="en-US" sz="1400" dirty="0"/>
          </a:p>
        </p:txBody>
      </p:sp>
      <p:sp>
        <p:nvSpPr>
          <p:cNvPr id="18" name="loa-419"/>
          <p:cNvSpPr/>
          <p:nvPr/>
        </p:nvSpPr>
        <p:spPr>
          <a:xfrm>
            <a:off x="9372600" y="2871216"/>
            <a:ext cx="512064" cy="512064"/>
          </a:xfrm>
          <a:prstGeom prst="ellipse">
            <a:avLst/>
          </a:prstGeom>
          <a:solidFill>
            <a:schemeClr val="bg1"/>
          </a:solidFill>
          <a:ln w="19050">
            <a:solidFill>
              <a:schemeClr val="accent1"/>
            </a:solidFill>
            <a:prstDash val="solid"/>
          </a:ln>
        </p:spPr>
      </p:sp>
      <p:sp>
        <p:nvSpPr>
          <p:cNvPr id="19" name="text-420"/>
          <p:cNvSpPr txBox="1"/>
          <p:nvPr/>
        </p:nvSpPr>
        <p:spPr>
          <a:xfrm>
            <a:off x="9372600" y="2871216"/>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L</a:t>
            </a:r>
            <a:endParaRPr lang="en-US" sz="1400" dirty="0"/>
          </a:p>
        </p:txBody>
      </p:sp>
      <p:sp>
        <p:nvSpPr>
          <p:cNvPr id="20" name="loa-421"/>
          <p:cNvSpPr/>
          <p:nvPr/>
        </p:nvSpPr>
        <p:spPr>
          <a:xfrm>
            <a:off x="10122408" y="2871216"/>
            <a:ext cx="512064" cy="512064"/>
          </a:xfrm>
          <a:prstGeom prst="ellipse">
            <a:avLst/>
          </a:prstGeom>
          <a:solidFill>
            <a:schemeClr val="bg1"/>
          </a:solidFill>
          <a:ln w="19050">
            <a:solidFill>
              <a:schemeClr val="accent1"/>
            </a:solidFill>
            <a:prstDash val="solid"/>
          </a:ln>
        </p:spPr>
      </p:sp>
      <p:sp>
        <p:nvSpPr>
          <p:cNvPr id="21" name="text-422"/>
          <p:cNvSpPr txBox="1"/>
          <p:nvPr/>
        </p:nvSpPr>
        <p:spPr>
          <a:xfrm>
            <a:off x="10122408" y="2871216"/>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O</a:t>
            </a:r>
            <a:endParaRPr lang="en-US" sz="1400" dirty="0"/>
          </a:p>
        </p:txBody>
      </p:sp>
      <p:sp>
        <p:nvSpPr>
          <p:cNvPr id="22" name="loa-423"/>
          <p:cNvSpPr/>
          <p:nvPr/>
        </p:nvSpPr>
        <p:spPr>
          <a:xfrm>
            <a:off x="10872216" y="2871216"/>
            <a:ext cx="512064" cy="512064"/>
          </a:xfrm>
          <a:prstGeom prst="ellipse">
            <a:avLst/>
          </a:prstGeom>
          <a:solidFill>
            <a:schemeClr val="bg1"/>
          </a:solidFill>
          <a:ln w="19050">
            <a:solidFill>
              <a:schemeClr val="accent1"/>
            </a:solidFill>
            <a:prstDash val="solid"/>
          </a:ln>
        </p:spPr>
      </p:sp>
      <p:sp>
        <p:nvSpPr>
          <p:cNvPr id="23" name="text-424"/>
          <p:cNvSpPr txBox="1"/>
          <p:nvPr/>
        </p:nvSpPr>
        <p:spPr>
          <a:xfrm>
            <a:off x="10872216" y="2871216"/>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A</a:t>
            </a:r>
            <a:endParaRPr lang="en-US" sz="1400" dirty="0"/>
          </a:p>
        </p:txBody>
      </p:sp>
      <p:sp>
        <p:nvSpPr>
          <p:cNvPr id="24" name="refl-425"/>
          <p:cNvSpPr/>
          <p:nvPr/>
        </p:nvSpPr>
        <p:spPr>
          <a:xfrm>
            <a:off x="548640" y="3602736"/>
            <a:ext cx="11094415" cy="731520"/>
          </a:xfrm>
          <a:prstGeom prst="roundRect">
            <a:avLst>
              <a:gd name="adj" fmla="val 12500"/>
            </a:avLst>
          </a:prstGeom>
          <a:solidFill>
            <a:schemeClr val="bg2"/>
          </a:solidFill>
          <a:ln w="12700">
            <a:solidFill>
              <a:schemeClr val="bg2"/>
            </a:solidFill>
            <a:prstDash val="solid"/>
          </a:ln>
        </p:spPr>
      </p:sp>
      <p:sp>
        <p:nvSpPr>
          <p:cNvPr id="25" name="text-426"/>
          <p:cNvSpPr txBox="1"/>
          <p:nvPr/>
        </p:nvSpPr>
        <p:spPr>
          <a:xfrm>
            <a:off x="822960" y="3602736"/>
            <a:ext cx="4937760" cy="731520"/>
          </a:xfrm>
          <a:prstGeom prst="rect">
            <a:avLst/>
          </a:prstGeom>
          <a:noFill/>
          <a:ln/>
        </p:spPr>
        <p:txBody>
          <a:bodyPr wrap="square" lIns="0" tIns="0" rIns="0" bIns="0" rtlCol="0" anchor="ctr"/>
          <a:lstStyle/>
          <a:p>
            <a:pPr indent="0" marL="0">
              <a:buNone/>
            </a:pPr>
            <a:r>
              <a:rPr lang="en-US" sz="1400" dirty="0">
                <a:solidFill>
                  <a:schemeClr val="tx1"/>
                </a:solidFill>
              </a:rPr>
              <a:t>I understand when and how to flex the play.</a:t>
            </a:r>
            <a:endParaRPr lang="en-US" sz="1400" dirty="0"/>
          </a:p>
        </p:txBody>
      </p:sp>
      <p:sp>
        <p:nvSpPr>
          <p:cNvPr id="26" name="text-427"/>
          <p:cNvSpPr txBox="1"/>
          <p:nvPr/>
        </p:nvSpPr>
        <p:spPr>
          <a:xfrm>
            <a:off x="5532120" y="3602736"/>
            <a:ext cx="3566160" cy="731520"/>
          </a:xfrm>
          <a:prstGeom prst="rect">
            <a:avLst/>
          </a:prstGeom>
          <a:noFill/>
          <a:ln/>
        </p:spPr>
        <p:txBody>
          <a:bodyPr wrap="square" lIns="0" tIns="0" rIns="0" bIns="0" rtlCol="0" anchor="ctr"/>
          <a:lstStyle/>
          <a:p>
            <a:pPr rtl="1" algn="r" indent="0" marL="0">
              <a:buNone/>
            </a:pPr>
            <a:r>
              <a:rPr lang="ar-EG" altLang="en-US" sz="1400" dirty="0">
                <a:solidFill>
                  <a:schemeClr val="tx2"/>
                </a:solidFill>
              </a:rPr>
              <a:t>أعرف متى وكيف أعدّل خطة الشفت.</a:t>
            </a:r>
            <a:endParaRPr lang="en-US" sz="1400" dirty="0"/>
          </a:p>
        </p:txBody>
      </p:sp>
      <p:sp>
        <p:nvSpPr>
          <p:cNvPr id="27" name="loa-428"/>
          <p:cNvSpPr/>
          <p:nvPr/>
        </p:nvSpPr>
        <p:spPr>
          <a:xfrm>
            <a:off x="9372600" y="3712464"/>
            <a:ext cx="512064" cy="512064"/>
          </a:xfrm>
          <a:prstGeom prst="ellipse">
            <a:avLst/>
          </a:prstGeom>
          <a:solidFill>
            <a:schemeClr val="bg1"/>
          </a:solidFill>
          <a:ln w="19050">
            <a:solidFill>
              <a:schemeClr val="accent1"/>
            </a:solidFill>
            <a:prstDash val="solid"/>
          </a:ln>
        </p:spPr>
      </p:sp>
      <p:sp>
        <p:nvSpPr>
          <p:cNvPr id="28" name="text-429"/>
          <p:cNvSpPr txBox="1"/>
          <p:nvPr/>
        </p:nvSpPr>
        <p:spPr>
          <a:xfrm>
            <a:off x="9372600" y="3712464"/>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L</a:t>
            </a:r>
            <a:endParaRPr lang="en-US" sz="1400" dirty="0"/>
          </a:p>
        </p:txBody>
      </p:sp>
      <p:sp>
        <p:nvSpPr>
          <p:cNvPr id="29" name="loa-430"/>
          <p:cNvSpPr/>
          <p:nvPr/>
        </p:nvSpPr>
        <p:spPr>
          <a:xfrm>
            <a:off x="10122408" y="3712464"/>
            <a:ext cx="512064" cy="512064"/>
          </a:xfrm>
          <a:prstGeom prst="ellipse">
            <a:avLst/>
          </a:prstGeom>
          <a:solidFill>
            <a:schemeClr val="bg1"/>
          </a:solidFill>
          <a:ln w="19050">
            <a:solidFill>
              <a:schemeClr val="accent1"/>
            </a:solidFill>
            <a:prstDash val="solid"/>
          </a:ln>
        </p:spPr>
      </p:sp>
      <p:sp>
        <p:nvSpPr>
          <p:cNvPr id="30" name="text-431"/>
          <p:cNvSpPr txBox="1"/>
          <p:nvPr/>
        </p:nvSpPr>
        <p:spPr>
          <a:xfrm>
            <a:off x="10122408" y="3712464"/>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O</a:t>
            </a:r>
            <a:endParaRPr lang="en-US" sz="1400" dirty="0"/>
          </a:p>
        </p:txBody>
      </p:sp>
      <p:sp>
        <p:nvSpPr>
          <p:cNvPr id="31" name="loa-432"/>
          <p:cNvSpPr/>
          <p:nvPr/>
        </p:nvSpPr>
        <p:spPr>
          <a:xfrm>
            <a:off x="10872216" y="3712464"/>
            <a:ext cx="512064" cy="512064"/>
          </a:xfrm>
          <a:prstGeom prst="ellipse">
            <a:avLst/>
          </a:prstGeom>
          <a:solidFill>
            <a:schemeClr val="bg1"/>
          </a:solidFill>
          <a:ln w="19050">
            <a:solidFill>
              <a:schemeClr val="accent1"/>
            </a:solidFill>
            <a:prstDash val="solid"/>
          </a:ln>
        </p:spPr>
      </p:sp>
      <p:sp>
        <p:nvSpPr>
          <p:cNvPr id="32" name="text-433"/>
          <p:cNvSpPr txBox="1"/>
          <p:nvPr/>
        </p:nvSpPr>
        <p:spPr>
          <a:xfrm>
            <a:off x="10872216" y="3712464"/>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A</a:t>
            </a:r>
            <a:endParaRPr lang="en-US" sz="1400" dirty="0"/>
          </a:p>
        </p:txBody>
      </p:sp>
      <p:sp>
        <p:nvSpPr>
          <p:cNvPr id="33" name="refl-434"/>
          <p:cNvSpPr/>
          <p:nvPr/>
        </p:nvSpPr>
        <p:spPr>
          <a:xfrm>
            <a:off x="548640" y="4443984"/>
            <a:ext cx="11094415" cy="731520"/>
          </a:xfrm>
          <a:prstGeom prst="roundRect">
            <a:avLst>
              <a:gd name="adj" fmla="val 12500"/>
            </a:avLst>
          </a:prstGeom>
          <a:solidFill>
            <a:schemeClr val="bg2"/>
          </a:solidFill>
          <a:ln w="12700">
            <a:solidFill>
              <a:schemeClr val="bg2"/>
            </a:solidFill>
            <a:prstDash val="solid"/>
          </a:ln>
        </p:spPr>
      </p:sp>
      <p:sp>
        <p:nvSpPr>
          <p:cNvPr id="34" name="text-435"/>
          <p:cNvSpPr txBox="1"/>
          <p:nvPr/>
        </p:nvSpPr>
        <p:spPr>
          <a:xfrm>
            <a:off x="822960" y="4443984"/>
            <a:ext cx="4937760" cy="731520"/>
          </a:xfrm>
          <a:prstGeom prst="rect">
            <a:avLst/>
          </a:prstGeom>
          <a:noFill/>
          <a:ln/>
        </p:spPr>
        <p:txBody>
          <a:bodyPr wrap="square" lIns="0" tIns="0" rIns="0" bIns="0" rtlCol="0" anchor="ctr"/>
          <a:lstStyle/>
          <a:p>
            <a:pPr indent="0" marL="0">
              <a:buNone/>
            </a:pPr>
            <a:r>
              <a:rPr lang="en-US" sz="1400" dirty="0">
                <a:solidFill>
                  <a:schemeClr val="tx1"/>
                </a:solidFill>
              </a:rPr>
              <a:t>I consistently document key information for the team.</a:t>
            </a:r>
            <a:endParaRPr lang="en-US" sz="1400" dirty="0"/>
          </a:p>
        </p:txBody>
      </p:sp>
      <p:sp>
        <p:nvSpPr>
          <p:cNvPr id="35" name="text-436"/>
          <p:cNvSpPr txBox="1"/>
          <p:nvPr/>
        </p:nvSpPr>
        <p:spPr>
          <a:xfrm>
            <a:off x="5532120" y="4443984"/>
            <a:ext cx="3566160" cy="731520"/>
          </a:xfrm>
          <a:prstGeom prst="rect">
            <a:avLst/>
          </a:prstGeom>
          <a:noFill/>
          <a:ln/>
        </p:spPr>
        <p:txBody>
          <a:bodyPr wrap="square" lIns="0" tIns="0" rIns="0" bIns="0" rtlCol="0" anchor="ctr"/>
          <a:lstStyle/>
          <a:p>
            <a:pPr rtl="1" algn="r" indent="0" marL="0">
              <a:buNone/>
            </a:pPr>
            <a:r>
              <a:rPr lang="ar-EG" altLang="en-US" sz="1400" dirty="0">
                <a:solidFill>
                  <a:schemeClr val="tx2"/>
                </a:solidFill>
              </a:rPr>
              <a:t>أوثّق المعلومات المهمة للفريق باستمرار.</a:t>
            </a:r>
            <a:endParaRPr lang="en-US" sz="1400" dirty="0"/>
          </a:p>
        </p:txBody>
      </p:sp>
      <p:sp>
        <p:nvSpPr>
          <p:cNvPr id="36" name="loa-437"/>
          <p:cNvSpPr/>
          <p:nvPr/>
        </p:nvSpPr>
        <p:spPr>
          <a:xfrm>
            <a:off x="9372600" y="4553712"/>
            <a:ext cx="512064" cy="512064"/>
          </a:xfrm>
          <a:prstGeom prst="ellipse">
            <a:avLst/>
          </a:prstGeom>
          <a:solidFill>
            <a:schemeClr val="bg1"/>
          </a:solidFill>
          <a:ln w="19050">
            <a:solidFill>
              <a:schemeClr val="accent1"/>
            </a:solidFill>
            <a:prstDash val="solid"/>
          </a:ln>
        </p:spPr>
      </p:sp>
      <p:sp>
        <p:nvSpPr>
          <p:cNvPr id="37" name="text-438"/>
          <p:cNvSpPr txBox="1"/>
          <p:nvPr/>
        </p:nvSpPr>
        <p:spPr>
          <a:xfrm>
            <a:off x="9372600" y="4553712"/>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L</a:t>
            </a:r>
            <a:endParaRPr lang="en-US" sz="1400" dirty="0"/>
          </a:p>
        </p:txBody>
      </p:sp>
      <p:sp>
        <p:nvSpPr>
          <p:cNvPr id="38" name="loa-439"/>
          <p:cNvSpPr/>
          <p:nvPr/>
        </p:nvSpPr>
        <p:spPr>
          <a:xfrm>
            <a:off x="10122408" y="4553712"/>
            <a:ext cx="512064" cy="512064"/>
          </a:xfrm>
          <a:prstGeom prst="ellipse">
            <a:avLst/>
          </a:prstGeom>
          <a:solidFill>
            <a:schemeClr val="bg1"/>
          </a:solidFill>
          <a:ln w="19050">
            <a:solidFill>
              <a:schemeClr val="accent1"/>
            </a:solidFill>
            <a:prstDash val="solid"/>
          </a:ln>
        </p:spPr>
      </p:sp>
      <p:sp>
        <p:nvSpPr>
          <p:cNvPr id="39" name="text-440"/>
          <p:cNvSpPr txBox="1"/>
          <p:nvPr/>
        </p:nvSpPr>
        <p:spPr>
          <a:xfrm>
            <a:off x="10122408" y="4553712"/>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O</a:t>
            </a:r>
            <a:endParaRPr lang="en-US" sz="1400" dirty="0"/>
          </a:p>
        </p:txBody>
      </p:sp>
      <p:sp>
        <p:nvSpPr>
          <p:cNvPr id="40" name="loa-441"/>
          <p:cNvSpPr/>
          <p:nvPr/>
        </p:nvSpPr>
        <p:spPr>
          <a:xfrm>
            <a:off x="10872216" y="4553712"/>
            <a:ext cx="512064" cy="512064"/>
          </a:xfrm>
          <a:prstGeom prst="ellipse">
            <a:avLst/>
          </a:prstGeom>
          <a:solidFill>
            <a:schemeClr val="bg1"/>
          </a:solidFill>
          <a:ln w="19050">
            <a:solidFill>
              <a:schemeClr val="accent1"/>
            </a:solidFill>
            <a:prstDash val="solid"/>
          </a:ln>
        </p:spPr>
      </p:sp>
      <p:sp>
        <p:nvSpPr>
          <p:cNvPr id="41" name="text-442"/>
          <p:cNvSpPr txBox="1"/>
          <p:nvPr/>
        </p:nvSpPr>
        <p:spPr>
          <a:xfrm>
            <a:off x="10872216" y="4553712"/>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A</a:t>
            </a:r>
            <a:endParaRPr lang="en-US" sz="1400" dirty="0"/>
          </a:p>
        </p:txBody>
      </p:sp>
      <p:sp>
        <p:nvSpPr>
          <p:cNvPr id="42" name="refl-443"/>
          <p:cNvSpPr/>
          <p:nvPr/>
        </p:nvSpPr>
        <p:spPr>
          <a:xfrm>
            <a:off x="548640" y="5285232"/>
            <a:ext cx="11094415" cy="731520"/>
          </a:xfrm>
          <a:prstGeom prst="roundRect">
            <a:avLst>
              <a:gd name="adj" fmla="val 12500"/>
            </a:avLst>
          </a:prstGeom>
          <a:solidFill>
            <a:schemeClr val="bg2"/>
          </a:solidFill>
          <a:ln w="12700">
            <a:solidFill>
              <a:schemeClr val="bg2"/>
            </a:solidFill>
            <a:prstDash val="solid"/>
          </a:ln>
        </p:spPr>
      </p:sp>
      <p:sp>
        <p:nvSpPr>
          <p:cNvPr id="43" name="text-444"/>
          <p:cNvSpPr txBox="1"/>
          <p:nvPr/>
        </p:nvSpPr>
        <p:spPr>
          <a:xfrm>
            <a:off x="822960" y="5285232"/>
            <a:ext cx="4937760" cy="731520"/>
          </a:xfrm>
          <a:prstGeom prst="rect">
            <a:avLst/>
          </a:prstGeom>
          <a:noFill/>
          <a:ln/>
        </p:spPr>
        <p:txBody>
          <a:bodyPr wrap="square" lIns="0" tIns="0" rIns="0" bIns="0" rtlCol="0" anchor="ctr"/>
          <a:lstStyle/>
          <a:p>
            <a:pPr indent="0" marL="0">
              <a:buNone/>
            </a:pPr>
            <a:r>
              <a:rPr lang="en-US" sz="1400" dirty="0">
                <a:solidFill>
                  <a:schemeClr val="tx1"/>
                </a:solidFill>
              </a:rPr>
              <a:t>I set an energetic and positive tone on my shifts.</a:t>
            </a:r>
            <a:endParaRPr lang="en-US" sz="1400" dirty="0"/>
          </a:p>
        </p:txBody>
      </p:sp>
      <p:sp>
        <p:nvSpPr>
          <p:cNvPr id="44" name="text-445"/>
          <p:cNvSpPr txBox="1"/>
          <p:nvPr/>
        </p:nvSpPr>
        <p:spPr>
          <a:xfrm>
            <a:off x="5532120" y="5285232"/>
            <a:ext cx="3566160" cy="731520"/>
          </a:xfrm>
          <a:prstGeom prst="rect">
            <a:avLst/>
          </a:prstGeom>
          <a:noFill/>
          <a:ln/>
        </p:spPr>
        <p:txBody>
          <a:bodyPr wrap="square" lIns="0" tIns="0" rIns="0" bIns="0" rtlCol="0" anchor="ctr"/>
          <a:lstStyle/>
          <a:p>
            <a:pPr rtl="1" algn="r" indent="0" marL="0">
              <a:buNone/>
            </a:pPr>
            <a:r>
              <a:rPr lang="ar-EG" altLang="en-US" sz="1400" dirty="0">
                <a:solidFill>
                  <a:schemeClr val="tx2"/>
                </a:solidFill>
              </a:rPr>
              <a:t>أصنع روحاً إيجابية ونشيطة في شفتاتي.</a:t>
            </a:r>
            <a:endParaRPr lang="en-US" sz="1400" dirty="0"/>
          </a:p>
        </p:txBody>
      </p:sp>
      <p:sp>
        <p:nvSpPr>
          <p:cNvPr id="45" name="loa-446"/>
          <p:cNvSpPr/>
          <p:nvPr/>
        </p:nvSpPr>
        <p:spPr>
          <a:xfrm>
            <a:off x="9372600" y="5394960"/>
            <a:ext cx="512064" cy="512064"/>
          </a:xfrm>
          <a:prstGeom prst="ellipse">
            <a:avLst/>
          </a:prstGeom>
          <a:solidFill>
            <a:schemeClr val="bg1"/>
          </a:solidFill>
          <a:ln w="19050">
            <a:solidFill>
              <a:schemeClr val="accent1"/>
            </a:solidFill>
            <a:prstDash val="solid"/>
          </a:ln>
        </p:spPr>
      </p:sp>
      <p:sp>
        <p:nvSpPr>
          <p:cNvPr id="46" name="text-447"/>
          <p:cNvSpPr txBox="1"/>
          <p:nvPr/>
        </p:nvSpPr>
        <p:spPr>
          <a:xfrm>
            <a:off x="9372600" y="5394960"/>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L</a:t>
            </a:r>
            <a:endParaRPr lang="en-US" sz="1400" dirty="0"/>
          </a:p>
        </p:txBody>
      </p:sp>
      <p:sp>
        <p:nvSpPr>
          <p:cNvPr id="47" name="loa-448"/>
          <p:cNvSpPr/>
          <p:nvPr/>
        </p:nvSpPr>
        <p:spPr>
          <a:xfrm>
            <a:off x="10122408" y="5394960"/>
            <a:ext cx="512064" cy="512064"/>
          </a:xfrm>
          <a:prstGeom prst="ellipse">
            <a:avLst/>
          </a:prstGeom>
          <a:solidFill>
            <a:schemeClr val="bg1"/>
          </a:solidFill>
          <a:ln w="19050">
            <a:solidFill>
              <a:schemeClr val="accent1"/>
            </a:solidFill>
            <a:prstDash val="solid"/>
          </a:ln>
        </p:spPr>
      </p:sp>
      <p:sp>
        <p:nvSpPr>
          <p:cNvPr id="48" name="text-449"/>
          <p:cNvSpPr txBox="1"/>
          <p:nvPr/>
        </p:nvSpPr>
        <p:spPr>
          <a:xfrm>
            <a:off x="10122408" y="5394960"/>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O</a:t>
            </a:r>
            <a:endParaRPr lang="en-US" sz="1400" dirty="0"/>
          </a:p>
        </p:txBody>
      </p:sp>
      <p:sp>
        <p:nvSpPr>
          <p:cNvPr id="49" name="loa-450"/>
          <p:cNvSpPr/>
          <p:nvPr/>
        </p:nvSpPr>
        <p:spPr>
          <a:xfrm>
            <a:off x="10872216" y="5394960"/>
            <a:ext cx="512064" cy="512064"/>
          </a:xfrm>
          <a:prstGeom prst="ellipse">
            <a:avLst/>
          </a:prstGeom>
          <a:solidFill>
            <a:schemeClr val="bg1"/>
          </a:solidFill>
          <a:ln w="19050">
            <a:solidFill>
              <a:schemeClr val="accent1"/>
            </a:solidFill>
            <a:prstDash val="solid"/>
          </a:ln>
        </p:spPr>
      </p:sp>
      <p:sp>
        <p:nvSpPr>
          <p:cNvPr id="50" name="text-451"/>
          <p:cNvSpPr txBox="1"/>
          <p:nvPr/>
        </p:nvSpPr>
        <p:spPr>
          <a:xfrm>
            <a:off x="10872216" y="5394960"/>
            <a:ext cx="512064" cy="512064"/>
          </a:xfrm>
          <a:prstGeom prst="rect">
            <a:avLst/>
          </a:prstGeom>
          <a:noFill/>
          <a:ln/>
        </p:spPr>
        <p:txBody>
          <a:bodyPr wrap="square" lIns="0" tIns="0" rIns="0" bIns="0" rtlCol="0" anchor="ctr"/>
          <a:lstStyle/>
          <a:p>
            <a:pPr algn="ctr" indent="0" marL="0">
              <a:buNone/>
            </a:pPr>
            <a:r>
              <a:rPr lang="en-US" sz="1400" b="1" dirty="0">
                <a:solidFill>
                  <a:schemeClr val="tx2"/>
                </a:solidFill>
              </a:rPr>
              <a:t>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10241280" cy="566928"/>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Text 0"/>
          <p:cNvSpPr/>
          <p:nvPr>
            <p:ph idx="102" type="body" hasCustomPrompt="1"/>
          </p:nvPr>
        </p:nvSpPr>
        <p:spPr>
          <a:xfrm>
            <a:off x="548640" y="896112"/>
            <a:ext cx="11094415" cy="457200"/>
          </a:xfrm>
          <a:prstGeom prst="rect">
            <a:avLst/>
          </a:prstGeom>
          <a:noFill/>
          <a:ln/>
        </p:spPr>
        <p:txBody>
          <a:bodyPr wrap="square" lIns="0" tIns="0" rIns="0" bIns="0" rtlCol="0" anchor="ctr"/>
          <a:lstStyle/>
          <a:p>
            <a:pPr rtl="1" algn="r" indent="0" marL="0">
              <a:buNone/>
            </a:pPr>
            <a:r>
              <a:rPr lang="ar-EG" altLang="en-US" sz="2000" b="1" dirty="0">
                <a:solidFill>
                  <a:schemeClr val="tx2"/>
                </a:solidFill>
              </a:rPr>
              <a:t>أهم الرسائل</a:t>
            </a:r>
            <a:endParaRPr lang="ar-EG" sz="2000" dirty="0"/>
          </a:p>
        </p:txBody>
      </p:sp>
      <p:sp>
        <p:nvSpPr>
          <p:cNvPr id="4" name="card-452"/>
          <p:cNvSpPr/>
          <p:nvPr/>
        </p:nvSpPr>
        <p:spPr>
          <a:xfrm>
            <a:off x="548640" y="1691640"/>
            <a:ext cx="3493008"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5" name="icon-bg-453"/>
          <p:cNvSpPr/>
          <p:nvPr/>
        </p:nvSpPr>
        <p:spPr>
          <a:xfrm>
            <a:off x="822960" y="1965960"/>
            <a:ext cx="685800" cy="685800"/>
          </a:xfrm>
          <a:prstGeom prst="ellipse">
            <a:avLst/>
          </a:prstGeom>
          <a:solidFill>
            <a:schemeClr val="accent1"/>
          </a:solidFill>
          <a:ln w="12700">
            <a:solidFill>
              <a:schemeClr val="accent1"/>
            </a:solidFill>
            <a:prstDash val="solid"/>
          </a:ln>
        </p:spPr>
      </p:sp>
      <p:pic>
        <p:nvPicPr>
          <p:cNvPr id="6" name="icon-454" descr="preencoded.png">    </p:cNvPr>
          <p:cNvPicPr>
            <a:picLocks noChangeAspect="1"/>
          </p:cNvPicPr>
          <p:nvPr/>
        </p:nvPicPr>
        <p:blipFill>
          <a:blip r:embed="rId1"/>
          <a:stretch>
            <a:fillRect/>
          </a:stretch>
        </p:blipFill>
        <p:spPr>
          <a:xfrm>
            <a:off x="973836" y="2116836"/>
            <a:ext cx="384048" cy="384048"/>
          </a:xfrm>
          <a:prstGeom prst="rect">
            <a:avLst/>
          </a:prstGeom>
        </p:spPr>
      </p:pic>
      <p:sp>
        <p:nvSpPr>
          <p:cNvPr id="7" name="text-455"/>
          <p:cNvSpPr txBox="1"/>
          <p:nvPr/>
        </p:nvSpPr>
        <p:spPr>
          <a:xfrm>
            <a:off x="822960" y="2834640"/>
            <a:ext cx="2944368" cy="2011680"/>
          </a:xfrm>
          <a:prstGeom prst="rect">
            <a:avLst/>
          </a:prstGeom>
          <a:noFill/>
          <a:ln/>
        </p:spPr>
        <p:txBody>
          <a:bodyPr wrap="square" lIns="0" tIns="0" rIns="0" bIns="0" rtlCol="0" anchor="t"/>
          <a:lstStyle/>
          <a:p>
            <a:pPr algn="l" indent="0" marL="0">
              <a:spcAft>
                <a:spcPts val="200"/>
              </a:spcAft>
              <a:buNone/>
            </a:pPr>
            <a:r>
              <a:rPr lang="en-US" sz="2000" b="1" dirty="0">
                <a:solidFill>
                  <a:schemeClr val="tx1"/>
                </a:solidFill>
              </a:rPr>
              <a:t>Transition</a:t>
            </a:r>
            <a:endParaRPr lang="en-US" sz="2000" dirty="0"/>
          </a:p>
          <a:p>
            <a:pPr algn="l" indent="0" marL="0">
              <a:spcAft>
                <a:spcPts val="600"/>
              </a:spcAft>
              <a:buNone/>
            </a:pPr>
            <a:r>
              <a:rPr lang="en-US" sz="1400" dirty="0">
                <a:solidFill>
                  <a:schemeClr val="tx1"/>
                </a:solidFill>
              </a:rPr>
              <a:t>Lead the play, not just the bar. Use Prepare › Lead › Transition and ACT every shift.</a:t>
            </a:r>
            <a:endParaRPr lang="en-US" sz="2000" dirty="0"/>
          </a:p>
          <a:p>
            <a:pPr rtl="1" algn="r" indent="0" marL="0">
              <a:spcAft>
                <a:spcPts val="200"/>
              </a:spcAft>
              <a:buNone/>
            </a:pPr>
            <a:r>
              <a:rPr lang="ar-EG" altLang="en-US" sz="2000" b="1" dirty="0">
                <a:solidFill>
                  <a:schemeClr val="tx2"/>
                </a:solidFill>
              </a:rPr>
              <a:t>الانتقال</a:t>
            </a:r>
            <a:endParaRPr lang="en-US" sz="2000" dirty="0"/>
          </a:p>
          <a:p>
            <a:pPr rtl="1" algn="r" indent="0" marL="0">
              <a:buNone/>
            </a:pPr>
            <a:r>
              <a:rPr lang="ar-EG" altLang="en-US" sz="1400" dirty="0">
                <a:solidFill>
                  <a:schemeClr val="tx1"/>
                </a:solidFill>
              </a:rPr>
              <a:t>قُد الخطة لا البار فقط. استخدم نمط الشفت ونموذج ACT دائماً.</a:t>
            </a:r>
            <a:endParaRPr lang="en-US" sz="2000" dirty="0"/>
          </a:p>
        </p:txBody>
      </p:sp>
      <p:sp>
        <p:nvSpPr>
          <p:cNvPr id="8" name="card-456"/>
          <p:cNvSpPr/>
          <p:nvPr/>
        </p:nvSpPr>
        <p:spPr>
          <a:xfrm>
            <a:off x="4315968" y="1691640"/>
            <a:ext cx="3493008" cy="3291840"/>
          </a:xfrm>
          <a:prstGeom prst="roundRect">
            <a:avLst>
              <a:gd name="adj" fmla="val 3333"/>
            </a:avLst>
          </a:prstGeom>
          <a:solidFill>
            <a:schemeClr val="accent1"/>
          </a:solidFill>
          <a:ln w="12700">
            <a:solidFill>
              <a:schemeClr val="accent1"/>
            </a:solidFill>
            <a:prstDash val="solid"/>
          </a:ln>
          <a:effectLst>
            <a:outerShdw sx="100000" sy="100000" kx="0" ky="0" algn="bl" rotWithShape="0" blurRad="101600" dist="25400" dir="5400000">
              <a:srgbClr val="1E3932">
                <a:alpha val="12000"/>
              </a:srgbClr>
            </a:outerShdw>
          </a:effectLst>
        </p:spPr>
      </p:sp>
      <p:sp>
        <p:nvSpPr>
          <p:cNvPr id="9" name="icon-bg-457"/>
          <p:cNvSpPr/>
          <p:nvPr/>
        </p:nvSpPr>
        <p:spPr>
          <a:xfrm>
            <a:off x="4590288" y="1965960"/>
            <a:ext cx="685800" cy="685800"/>
          </a:xfrm>
          <a:prstGeom prst="ellipse">
            <a:avLst/>
          </a:prstGeom>
          <a:solidFill>
            <a:schemeClr val="tx1"/>
          </a:solidFill>
          <a:ln w="12700">
            <a:solidFill>
              <a:schemeClr val="tx1"/>
            </a:solidFill>
            <a:prstDash val="solid"/>
          </a:ln>
        </p:spPr>
      </p:sp>
      <p:pic>
        <p:nvPicPr>
          <p:cNvPr id="10" name="icon-458" descr="preencoded.png">    </p:cNvPr>
          <p:cNvPicPr>
            <a:picLocks noChangeAspect="1"/>
          </p:cNvPicPr>
          <p:nvPr/>
        </p:nvPicPr>
        <p:blipFill>
          <a:blip r:embed="rId2"/>
          <a:stretch>
            <a:fillRect/>
          </a:stretch>
        </p:blipFill>
        <p:spPr>
          <a:xfrm>
            <a:off x="4741164" y="2116836"/>
            <a:ext cx="384048" cy="384048"/>
          </a:xfrm>
          <a:prstGeom prst="rect">
            <a:avLst/>
          </a:prstGeom>
        </p:spPr>
      </p:pic>
      <p:sp>
        <p:nvSpPr>
          <p:cNvPr id="11" name="text-459"/>
          <p:cNvSpPr txBox="1"/>
          <p:nvPr/>
        </p:nvSpPr>
        <p:spPr>
          <a:xfrm>
            <a:off x="4590288" y="2834640"/>
            <a:ext cx="2944368" cy="2011680"/>
          </a:xfrm>
          <a:prstGeom prst="rect">
            <a:avLst/>
          </a:prstGeom>
          <a:noFill/>
          <a:ln/>
        </p:spPr>
        <p:txBody>
          <a:bodyPr wrap="square" lIns="0" tIns="0" rIns="0" bIns="0" rtlCol="0" anchor="t"/>
          <a:lstStyle/>
          <a:p>
            <a:pPr algn="l" indent="0" marL="0">
              <a:spcAft>
                <a:spcPts val="200"/>
              </a:spcAft>
              <a:buNone/>
            </a:pPr>
            <a:r>
              <a:rPr lang="en-US" sz="2000" b="1" dirty="0">
                <a:solidFill>
                  <a:schemeClr val="bg1"/>
                </a:solidFill>
              </a:rPr>
              <a:t>Communicate</a:t>
            </a:r>
            <a:endParaRPr lang="en-US" sz="2000" dirty="0"/>
          </a:p>
          <a:p>
            <a:pPr algn="l" indent="0" marL="0">
              <a:spcAft>
                <a:spcPts val="600"/>
              </a:spcAft>
              <a:buNone/>
            </a:pPr>
            <a:r>
              <a:rPr lang="en-US" sz="1400" dirty="0">
                <a:solidFill>
                  <a:schemeClr val="bg1"/>
                </a:solidFill>
              </a:rPr>
              <a:t>Quick Connect, listen first, LATTE for recovery, SBI-N for feedback.</a:t>
            </a:r>
            <a:endParaRPr lang="en-US" sz="2000" dirty="0"/>
          </a:p>
          <a:p>
            <a:pPr rtl="1" algn="r" indent="0" marL="0">
              <a:spcAft>
                <a:spcPts val="200"/>
              </a:spcAft>
              <a:buNone/>
            </a:pPr>
            <a:r>
              <a:rPr lang="ar-EG" altLang="en-US" sz="2000" b="1" dirty="0">
                <a:solidFill>
                  <a:schemeClr val="accent4"/>
                </a:solidFill>
              </a:rPr>
              <a:t>التواصل</a:t>
            </a:r>
            <a:endParaRPr lang="en-US" sz="2000" dirty="0"/>
          </a:p>
          <a:p>
            <a:pPr rtl="1" algn="r" indent="0" marL="0">
              <a:buNone/>
            </a:pPr>
            <a:r>
              <a:rPr lang="ar-EG" altLang="en-US" sz="1400" dirty="0">
                <a:solidFill>
                  <a:schemeClr val="bg1"/>
                </a:solidFill>
              </a:rPr>
              <a:t>اجتماع سريع، أنصت أولاً، LATTE لاستعادة العميل، وSBI-N للتغذية الراجعة.</a:t>
            </a:r>
            <a:endParaRPr lang="en-US" sz="2000" dirty="0"/>
          </a:p>
        </p:txBody>
      </p:sp>
      <p:sp>
        <p:nvSpPr>
          <p:cNvPr id="12" name="card-460"/>
          <p:cNvSpPr/>
          <p:nvPr/>
        </p:nvSpPr>
        <p:spPr>
          <a:xfrm>
            <a:off x="8083296" y="1691640"/>
            <a:ext cx="3493008"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E3932">
                <a:alpha val="12000"/>
              </a:srgbClr>
            </a:outerShdw>
          </a:effectLst>
        </p:spPr>
      </p:sp>
      <p:sp>
        <p:nvSpPr>
          <p:cNvPr id="13" name="icon-bg-461"/>
          <p:cNvSpPr/>
          <p:nvPr/>
        </p:nvSpPr>
        <p:spPr>
          <a:xfrm>
            <a:off x="8357616" y="1965960"/>
            <a:ext cx="685800" cy="685800"/>
          </a:xfrm>
          <a:prstGeom prst="ellipse">
            <a:avLst/>
          </a:prstGeom>
          <a:solidFill>
            <a:schemeClr val="accent1"/>
          </a:solidFill>
          <a:ln w="12700">
            <a:solidFill>
              <a:schemeClr val="accent1"/>
            </a:solidFill>
            <a:prstDash val="solid"/>
          </a:ln>
        </p:spPr>
      </p:sp>
      <p:pic>
        <p:nvPicPr>
          <p:cNvPr id="14" name="icon-462" descr="preencoded.png">    </p:cNvPr>
          <p:cNvPicPr>
            <a:picLocks noChangeAspect="1"/>
          </p:cNvPicPr>
          <p:nvPr/>
        </p:nvPicPr>
        <p:blipFill>
          <a:blip r:embed="rId3"/>
          <a:stretch>
            <a:fillRect/>
          </a:stretch>
        </p:blipFill>
        <p:spPr>
          <a:xfrm>
            <a:off x="8508492" y="2116836"/>
            <a:ext cx="384048" cy="384048"/>
          </a:xfrm>
          <a:prstGeom prst="rect">
            <a:avLst/>
          </a:prstGeom>
        </p:spPr>
      </p:pic>
      <p:sp>
        <p:nvSpPr>
          <p:cNvPr id="15" name="text-463"/>
          <p:cNvSpPr txBox="1"/>
          <p:nvPr/>
        </p:nvSpPr>
        <p:spPr>
          <a:xfrm>
            <a:off x="8357616" y="2834640"/>
            <a:ext cx="2944368" cy="2011680"/>
          </a:xfrm>
          <a:prstGeom prst="rect">
            <a:avLst/>
          </a:prstGeom>
          <a:noFill/>
          <a:ln/>
        </p:spPr>
        <p:txBody>
          <a:bodyPr wrap="square" lIns="0" tIns="0" rIns="0" bIns="0" rtlCol="0" anchor="t"/>
          <a:lstStyle/>
          <a:p>
            <a:pPr algn="l" indent="0" marL="0">
              <a:spcAft>
                <a:spcPts val="200"/>
              </a:spcAft>
              <a:buNone/>
            </a:pPr>
            <a:r>
              <a:rPr lang="en-US" sz="2000" b="1" dirty="0">
                <a:solidFill>
                  <a:schemeClr val="tx1"/>
                </a:solidFill>
              </a:rPr>
              <a:t>Time</a:t>
            </a:r>
            <a:endParaRPr lang="en-US" sz="2000" dirty="0"/>
          </a:p>
          <a:p>
            <a:pPr algn="l" indent="0" marL="0">
              <a:spcAft>
                <a:spcPts val="600"/>
              </a:spcAft>
              <a:buNone/>
            </a:pPr>
            <a:r>
              <a:rPr lang="en-US" sz="1400" dirty="0">
                <a:solidFill>
                  <a:schemeClr val="tx1"/>
                </a:solidFill>
              </a:rPr>
              <a:t>Plan with your tools, protect the peak, delegate clearly, hand off cleanly.</a:t>
            </a:r>
            <a:endParaRPr lang="en-US" sz="2000" dirty="0"/>
          </a:p>
          <a:p>
            <a:pPr rtl="1" algn="r" indent="0" marL="0">
              <a:spcAft>
                <a:spcPts val="200"/>
              </a:spcAft>
              <a:buNone/>
            </a:pPr>
            <a:r>
              <a:rPr lang="ar-EG" altLang="en-US" sz="2000" b="1" dirty="0">
                <a:solidFill>
                  <a:schemeClr val="tx2"/>
                </a:solidFill>
              </a:rPr>
              <a:t>الوقت</a:t>
            </a:r>
            <a:endParaRPr lang="en-US" sz="2000" dirty="0"/>
          </a:p>
          <a:p>
            <a:pPr rtl="1" algn="r" indent="0" marL="0">
              <a:buNone/>
            </a:pPr>
            <a:r>
              <a:rPr lang="ar-EG" altLang="en-US" sz="1400" dirty="0">
                <a:solidFill>
                  <a:schemeClr val="tx1"/>
                </a:solidFill>
              </a:rPr>
              <a:t>خطّط بأدواتك، احمِ الذروة، فوّض بوضوح، وسلّم بإحكام.</a:t>
            </a:r>
            <a:endParaRPr lang="en-US" sz="2000" dirty="0"/>
          </a:p>
        </p:txBody>
      </p:sp>
      <p:sp>
        <p:nvSpPr>
          <p:cNvPr id="16" name="card-464"/>
          <p:cNvSpPr/>
          <p:nvPr/>
        </p:nvSpPr>
        <p:spPr>
          <a:xfrm>
            <a:off x="548640" y="5166360"/>
            <a:ext cx="11094415" cy="960120"/>
          </a:xfrm>
          <a:prstGeom prst="roundRect">
            <a:avLst>
              <a:gd name="adj" fmla="val 11429"/>
            </a:avLst>
          </a:prstGeom>
          <a:solidFill>
            <a:schemeClr val="tx1"/>
          </a:solidFill>
          <a:ln w="12700">
            <a:solidFill>
              <a:schemeClr val="tx1"/>
            </a:solidFill>
            <a:prstDash val="solid"/>
          </a:ln>
          <a:effectLst>
            <a:outerShdw sx="100000" sy="100000" kx="0" ky="0" algn="bl" rotWithShape="0" blurRad="101600" dist="25400" dir="5400000">
              <a:srgbClr val="1E3932">
                <a:alpha val="12000"/>
              </a:srgbClr>
            </a:outerShdw>
          </a:effectLst>
        </p:spPr>
      </p:sp>
      <p:sp>
        <p:nvSpPr>
          <p:cNvPr id="17" name="text-465"/>
          <p:cNvSpPr txBox="1"/>
          <p:nvPr/>
        </p:nvSpPr>
        <p:spPr>
          <a:xfrm>
            <a:off x="868680" y="5166360"/>
            <a:ext cx="5486400" cy="960120"/>
          </a:xfrm>
          <a:prstGeom prst="rect">
            <a:avLst/>
          </a:prstGeom>
          <a:noFill/>
          <a:ln/>
        </p:spPr>
        <p:txBody>
          <a:bodyPr wrap="square" lIns="0" tIns="0" rIns="0" bIns="0" rtlCol="0" anchor="ctr"/>
          <a:lstStyle/>
          <a:p>
            <a:pPr indent="0" marL="0">
              <a:buNone/>
            </a:pPr>
            <a:r>
              <a:rPr lang="en-US" sz="1700" b="1" i="1" dirty="0">
                <a:solidFill>
                  <a:schemeClr val="bg1"/>
                </a:solidFill>
              </a:rPr>
              <a:t>“How will I lead today?”  →  “How did I lead today?”</a:t>
            </a:r>
            <a:endParaRPr lang="en-US" sz="1700" dirty="0"/>
          </a:p>
        </p:txBody>
      </p:sp>
      <p:sp>
        <p:nvSpPr>
          <p:cNvPr id="18" name="text-466"/>
          <p:cNvSpPr txBox="1"/>
          <p:nvPr/>
        </p:nvSpPr>
        <p:spPr>
          <a:xfrm>
            <a:off x="6537960" y="5166360"/>
            <a:ext cx="4785055" cy="960120"/>
          </a:xfrm>
          <a:prstGeom prst="rect">
            <a:avLst/>
          </a:prstGeom>
          <a:noFill/>
          <a:ln/>
        </p:spPr>
        <p:txBody>
          <a:bodyPr wrap="square" lIns="0" tIns="0" rIns="0" bIns="0" rtlCol="0" anchor="ctr"/>
          <a:lstStyle/>
          <a:p>
            <a:pPr rtl="1" algn="r" indent="0" marL="0">
              <a:buNone/>
            </a:pPr>
            <a:r>
              <a:rPr lang="ar-EG" altLang="en-US" sz="1700" b="1" dirty="0">
                <a:solidFill>
                  <a:schemeClr val="accent3"/>
                </a:solidFill>
              </a:rPr>
              <a:t>«كيف سأقود اليوم؟» ← «كيف قدتُ اليوم؟»</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end-circle"/>
          <p:cNvSpPr/>
          <p:nvPr/>
        </p:nvSpPr>
        <p:spPr>
          <a:xfrm>
            <a:off x="6675120" y="868680"/>
            <a:ext cx="5120640" cy="5120640"/>
          </a:xfrm>
          <a:prstGeom prst="ellipse">
            <a:avLst/>
          </a:prstGeom>
          <a:solidFill>
            <a:schemeClr val="accent1"/>
          </a:solidFill>
          <a:ln w="12700">
            <a:solidFill>
              <a:schemeClr val="accent1"/>
            </a:solidFill>
            <a:prstDash val="solid"/>
          </a:ln>
        </p:spPr>
      </p:sp>
      <p:pic>
        <p:nvPicPr>
          <p:cNvPr id="3" name="end-logo" descr="preencoded.png">    </p:cNvPr>
          <p:cNvPicPr>
            <a:picLocks noChangeAspect="1"/>
          </p:cNvPicPr>
          <p:nvPr/>
        </p:nvPicPr>
        <p:blipFill>
          <a:blip r:embed="rId1"/>
          <a:stretch>
            <a:fillRect/>
          </a:stretch>
        </p:blipFill>
        <p:spPr>
          <a:xfrm>
            <a:off x="7589520" y="1783080"/>
            <a:ext cx="3291840" cy="3291840"/>
          </a:xfrm>
          <a:prstGeom prst="rect">
            <a:avLst/>
          </a:prstGeom>
        </p:spPr>
      </p:pic>
      <p:sp>
        <p:nvSpPr>
          <p:cNvPr id="4" name="text-467"/>
          <p:cNvSpPr txBox="1"/>
          <p:nvPr/>
        </p:nvSpPr>
        <p:spPr>
          <a:xfrm>
            <a:off x="640080" y="1188720"/>
            <a:ext cx="6400800" cy="1005840"/>
          </a:xfrm>
          <a:prstGeom prst="rect">
            <a:avLst/>
          </a:prstGeom>
          <a:noFill/>
          <a:ln/>
        </p:spPr>
        <p:txBody>
          <a:bodyPr wrap="square" lIns="0" tIns="0" rIns="0" bIns="0" rtlCol="0" anchor="t"/>
          <a:lstStyle/>
          <a:p>
            <a:pPr indent="0" marL="0">
              <a:buNone/>
            </a:pPr>
            <a:r>
              <a:rPr lang="en-US" sz="5400" b="1" dirty="0">
                <a:solidFill>
                  <a:schemeClr val="bg1"/>
                </a:solidFill>
              </a:rPr>
              <a:t>Thank You</a:t>
            </a:r>
            <a:endParaRPr lang="en-US" sz="5400" dirty="0"/>
          </a:p>
        </p:txBody>
      </p:sp>
      <p:sp>
        <p:nvSpPr>
          <p:cNvPr id="5" name="text-468"/>
          <p:cNvSpPr txBox="1"/>
          <p:nvPr/>
        </p:nvSpPr>
        <p:spPr>
          <a:xfrm>
            <a:off x="640080" y="2194560"/>
            <a:ext cx="5669280" cy="868680"/>
          </a:xfrm>
          <a:prstGeom prst="rect">
            <a:avLst/>
          </a:prstGeom>
          <a:noFill/>
          <a:ln/>
        </p:spPr>
        <p:txBody>
          <a:bodyPr wrap="square" lIns="0" tIns="0" rIns="0" bIns="0" rtlCol="0" anchor="t"/>
          <a:lstStyle/>
          <a:p>
            <a:pPr rtl="1" algn="r" indent="0" marL="0">
              <a:buNone/>
            </a:pPr>
            <a:r>
              <a:rPr lang="ar-EG" altLang="en-US" sz="4400" b="1" dirty="0">
                <a:solidFill>
                  <a:schemeClr val="accent4"/>
                </a:solidFill>
              </a:rPr>
              <a:t>شكراً لكم</a:t>
            </a:r>
            <a:endParaRPr lang="en-US" sz="4400" dirty="0"/>
          </a:p>
        </p:txBody>
      </p:sp>
      <p:sp>
        <p:nvSpPr>
          <p:cNvPr id="6" name="text-469"/>
          <p:cNvSpPr txBox="1"/>
          <p:nvPr/>
        </p:nvSpPr>
        <p:spPr>
          <a:xfrm>
            <a:off x="640080" y="3154680"/>
            <a:ext cx="6400800" cy="457200"/>
          </a:xfrm>
          <a:prstGeom prst="rect">
            <a:avLst/>
          </a:prstGeom>
          <a:noFill/>
          <a:ln/>
        </p:spPr>
        <p:txBody>
          <a:bodyPr wrap="square" lIns="0" tIns="0" rIns="0" bIns="0" rtlCol="0" anchor="t"/>
          <a:lstStyle/>
          <a:p>
            <a:pPr indent="0" marL="0">
              <a:buNone/>
            </a:pPr>
            <a:r>
              <a:rPr lang="en-US" sz="1800" dirty="0">
                <a:solidFill>
                  <a:schemeClr val="accent3"/>
                </a:solidFill>
              </a:rPr>
              <a:t>Questions &amp; discussion  ·  أسئلة ونقاش</a:t>
            </a:r>
            <a:endParaRPr lang="en-US" sz="1800" dirty="0"/>
          </a:p>
        </p:txBody>
      </p:sp>
      <p:sp>
        <p:nvSpPr>
          <p:cNvPr id="7" name="text-470"/>
          <p:cNvSpPr txBox="1"/>
          <p:nvPr/>
        </p:nvSpPr>
        <p:spPr>
          <a:xfrm>
            <a:off x="640080" y="4160520"/>
            <a:ext cx="5760720" cy="2103120"/>
          </a:xfrm>
          <a:prstGeom prst="rect">
            <a:avLst/>
          </a:prstGeom>
          <a:noFill/>
          <a:ln/>
        </p:spPr>
        <p:txBody>
          <a:bodyPr wrap="square" lIns="0" tIns="0" rIns="0" bIns="0" rtlCol="0" anchor="t"/>
          <a:lstStyle/>
          <a:p>
            <a:pPr indent="0" marL="0">
              <a:buNone/>
            </a:pPr>
            <a:r>
              <a:rPr lang="en-US" sz="1100" b="1" dirty="0">
                <a:solidFill>
                  <a:schemeClr val="accent4"/>
                </a:solidFill>
              </a:rPr>
              <a:t>Sources  ·  المصادر</a:t>
            </a:r>
            <a:endParaRPr lang="en-US" sz="1100" dirty="0"/>
          </a:p>
          <a:p>
            <a:pPr marL="127000" indent="-127000">
              <a:buSzPct val="100000"/>
              <a:buChar char="•"/>
            </a:pPr>
            <a:r>
              <a:rPr lang="en-US" sz="1000" dirty="0">
                <a:solidFill>
                  <a:schemeClr val="accent4"/>
                </a:solidFill>
              </a:rPr>
              <a:t>Starbucks, Excellence in Operations Standards – Shift Supervisor Approach &amp; Career Development Guide (2018, internal)</a:t>
            </a:r>
            <a:endParaRPr lang="en-US" sz="1100" dirty="0"/>
          </a:p>
          <a:p>
            <a:pPr marL="127000" indent="-127000">
              <a:buSzPct val="100000"/>
              <a:buChar char="•"/>
            </a:pPr>
            <a:r>
              <a:rPr lang="en-US" sz="1000" dirty="0">
                <a:solidFill>
                  <a:schemeClr val="accent4"/>
                </a:solidFill>
              </a:rPr>
              <a:t>Starbucks Mission &amp; Values; The Green Apron Book (Five Ways of Being)</a:t>
            </a:r>
            <a:endParaRPr lang="en-US" sz="1100" dirty="0"/>
          </a:p>
          <a:p>
            <a:pPr marL="127000" indent="-127000">
              <a:buSzPct val="100000"/>
              <a:buChar char="•"/>
            </a:pPr>
            <a:r>
              <a:rPr lang="en-US" sz="1000" dirty="0">
                <a:solidFill>
                  <a:schemeClr val="accent4"/>
                </a:solidFill>
              </a:rPr>
              <a:t>Charles Duhigg, The Power of Habit – the LATTE method</a:t>
            </a:r>
            <a:endParaRPr lang="en-US" sz="1100" dirty="0"/>
          </a:p>
          <a:p>
            <a:pPr marL="127000" indent="-127000">
              <a:buSzPct val="100000"/>
              <a:buChar char="•"/>
            </a:pPr>
            <a:r>
              <a:rPr lang="en-US" sz="1000" dirty="0">
                <a:solidFill>
                  <a:schemeClr val="accent4"/>
                </a:solidFill>
              </a:rPr>
              <a:t>Starbucks “Back to Starbucks” / Green Apron Service coverage (Reuters, NBC News, Customer Experience Dive, 2025)</a:t>
            </a:r>
            <a:endParaRPr lang="en-US" sz="1100" dirty="0"/>
          </a:p>
          <a:p>
            <a:pPr marL="127000" indent="-127000">
              <a:buSzPct val="100000"/>
              <a:buChar char="•"/>
            </a:pPr>
            <a:r>
              <a:rPr lang="en-US" sz="1000" dirty="0">
                <a:solidFill>
                  <a:schemeClr val="accent4"/>
                </a:solidFill>
              </a:rPr>
              <a:t>Center for Creative Leadership – SBI feedback model; Eisenhower matrix</a:t>
            </a:r>
            <a:endParaRPr lang="en-US" sz="1100" dirty="0"/>
          </a:p>
        </p:txBody>
      </p:sp>
    </p:spTree>
  </p:cSld>
  <p:clrMapOvr>
    <a:masterClrMapping/>
  </p:clrMapOvr>
</p:sld>
</file>

<file path=ppt/theme/theme1.xml><?xml version="1.0" encoding="utf-8"?>
<a:theme xmlns:a="http://schemas.openxmlformats.org/drawingml/2006/main" name="Starbucks Green">
  <a:themeElements>
    <a:clrScheme name="Starbucks Green">
      <a:dk1>
        <a:srgbClr val="1E3932"/>
      </a:dk1>
      <a:lt1>
        <a:srgbClr val="FFFFFF"/>
      </a:lt1>
      <a:dk2>
        <a:srgbClr val="00704A"/>
      </a:dk2>
      <a:lt2>
        <a:srgbClr val="F1F8F5"/>
      </a:lt2>
      <a:accent1>
        <a:srgbClr val="00704A"/>
      </a:accent1>
      <a:accent2>
        <a:srgbClr val="1E3932"/>
      </a:accent2>
      <a:accent3>
        <a:srgbClr val="CBA258"/>
      </a:accent3>
      <a:accent4>
        <a:srgbClr val="D4E9E2"/>
      </a:accent4>
      <a:accent5>
        <a:srgbClr val="006241"/>
      </a:accent5>
      <a:accent6>
        <a:srgbClr val="5C6F68"/>
      </a:accent6>
      <a:hlink>
        <a:srgbClr val="00704A"/>
      </a:hlink>
      <a:folHlink>
        <a:srgbClr val="006241"/>
      </a:folHlink>
    </a:clrScheme>
    <a:fontScheme name="Starbucks Green">
      <a:majorFont>
        <a:latin typeface="Arial"/>
        <a:ea typeface=""/>
        <a:cs typeface="Arial"/>
        <a:font script="Jpan" typeface="游ゴシック Light"/>
        <a:font script="Hang" typeface="맑은 고딕"/>
        <a:font script="Hans" typeface="等线 Light"/>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Shift Supervisor Leadership Program</dc:title>
  <dc:subject>Transition Effectively, Communicate Effectively, Effective Time Management</dc:subject>
  <dc:creator>Shift Supervisor Development</dc:creator>
  <cp:lastModifiedBy>Shift Supervisor Development</cp:lastModifiedBy>
  <cp:revision>1</cp:revision>
  <dcterms:created xsi:type="dcterms:W3CDTF">2026-10-20T00:22:48Z</dcterms:created>
  <dcterms:modified xsi:type="dcterms:W3CDTF">2026-10-20T00:22:48Z</dcterms:modified>
</cp:coreProperties>
</file>