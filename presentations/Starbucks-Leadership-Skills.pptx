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abc782a-62e7-8eba-11e7-96e13bf8f8fe}">
          <p14:sldIdLst>
            <p14:sldId id="256"/>
            <p14:sldId id="257"/>
          </p14:sldIdLst>
        </p14:section>
        <p14:section name="Communicate Effectively" id="{bbac40a7-734e-e1ba-c6ab-c423c99a853f}">
          <p14:sldIdLst>
            <p14:sldId id="258"/>
            <p14:sldId id="259"/>
            <p14:sldId id="260"/>
            <p14:sldId id="261"/>
          </p14:sldIdLst>
        </p14:section>
        <p14:section name="Transition to Supervisor" id="{677f4c05-218c-fd5a-80e2-025d0289dd0a}">
          <p14:sldIdLst>
            <p14:sldId id="262"/>
            <p14:sldId id="263"/>
            <p14:sldId id="264"/>
          </p14:sldIdLst>
        </p14:section>
        <p14:section name="Time Management" id="{e9678cec-967e-777a-da20-6367c1e21853}">
          <p14:sldIdLst>
            <p14:sldId id="265"/>
            <p14:sldId id="266"/>
            <p14:sldId id="267"/>
          </p14:sldIdLst>
        </p14:section>
        <p14:section name="Wrap-up" id="{35dc1f3e-48de-f940-5923-68e20596beff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أهلاً بيكم. النهارده هنتكلم عن 3 مهارات مهمة جداً لأي حد شغال في ستاربكس وعايز يكبر: إزاي نتواصل صح، إزاي ننتقل من باريستا لسوبرفايزر، وإزاي ننظم وقتنا.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البرزنتيشن مقسوم 3 أجزاء. كل جزء هشرح فيه الفكرة ببساطة وأديكم نصايح عملية من جوه الفرع.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أول مهارة: التواصل الفعّال. ستاربكس مش بس بتبيع قهوة، هي بتبيع تجربة، والتجربة دي بتبدأ بكلمة حلوة وسماع كويس.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التواصل مهم في 3 اتجاهات: مع العميل عشان يحس إنه مرحب بيه ويرجع تاني، مع الفريق عشان الشغل يمشي من غير أخطاء، ومع المدير عشان نحل المشاكل بدري.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ستاربكس عندها طريقة اسمها LATTE للتعامل مع أي عميل مضايق: اسمع للآخر، وضّح إنك فاهمه، اتصرف بسرعة، اشكره إنه قالك، واشرحله عملت إيه. سهلة تتفتكر لأنها زي اسم المشروب.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نصايح بسيطة: اسمع أكتر ما تتكلم، خلي كلامك واضح وقصير، خلي نبرتك إيجابية حتى في وقت الزحمة، واتعلم تدي وتاخد فيدباك. والقاعدة الذهبية: الشكر قدام الناس، والتصحيح على جنب.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التاني: إزاي تنتقل من باريستا لشيفت سوبرفايزر. أهم حاجة تفهمها إن دورك بيتغير من إنك تعمل الشغل بنفسك لإنك تقود الفريق اللي بيعمله.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شوفوا الفرق: الباريستا تركيزه على شغله هو، إنما السوبرفايزر تركيزه على الفريق كله. النجاح مبقاش إنت عملت كام مشروب، بقى الفريق كله اشتغل إزاي.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مفاتيح: كن قدوة، علّم بدل ما تأمر، وزّع المهام ووثق في فريقك، وخليك ودود بس عادل، لأن أصحابك اللي كانوا زمايلك بقوا فريقك ولازم القواعد تبقى على الكل.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الجزء التالت: إدارة الوقت. في ستاربكس فيه أوقات زحمة جامدة، والفرق بين شيفت ناجح وشيفت فوضى هو التخطيط.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قسّم الشيفت لـ 4 لحظات: قبل الشيفت جهّز الجدول ووزّع الأماكن، في الزحمة كل واحد في مكانه ومفيش مهام جانبية، في الهدوء نضّف وكمّل النواقص ودرّب، وفي الآخر سلّم الشيفت بملاحظات واضحة.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مش كل حاجة ليها نفس الأهمية. المهم والمستعجل اعمله فوراً، المهم ومش مستعجل خطط له، المستعجل ومش مهم ادّيه لحد من الفريق، واللي لا مهم ولا مستعجل سيبه خالص.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الخلاصة في 3 كلمات: اتواصل، قود، ونظّم وقتك. لو عملنا الـ3 دول هنبقى فريق أقوى وعملاءنا هيبقوا أسعد.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شكراً ليكم على وقتكم. لو فيه أي أسئلة أنا موجود.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9377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47548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i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Leading the Starbucks Way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3 simple skills every partner needs to grow</a:t>
            </a:r>
            <a:endParaRPr lang="en-US" sz="1800" dirty="0"/>
          </a:p>
        </p:txBody>
      </p:sp>
      <p:sp>
        <p:nvSpPr>
          <p:cNvPr id="4" name="Hero circle 1"/>
          <p:cNvSpPr/>
          <p:nvPr/>
        </p:nvSpPr>
        <p:spPr>
          <a:xfrm>
            <a:off x="6309360" y="777240"/>
            <a:ext cx="960120" cy="9601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Communic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0058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10515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Communicate</a:t>
            </a:r>
            <a:endParaRPr lang="en-US" sz="1500" dirty="0"/>
          </a:p>
        </p:txBody>
      </p:sp>
      <p:sp>
        <p:nvSpPr>
          <p:cNvPr id="7" name="Hero circle 2"/>
          <p:cNvSpPr/>
          <p:nvPr/>
        </p:nvSpPr>
        <p:spPr>
          <a:xfrm>
            <a:off x="6309360" y="2057400"/>
            <a:ext cx="960120" cy="9601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1" descr="L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86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06640" y="2331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Lead</a:t>
            </a:r>
            <a:endParaRPr lang="en-US" sz="1500" dirty="0"/>
          </a:p>
        </p:txBody>
      </p:sp>
      <p:sp>
        <p:nvSpPr>
          <p:cNvPr id="10" name="Hero circle 3"/>
          <p:cNvSpPr/>
          <p:nvPr/>
        </p:nvSpPr>
        <p:spPr>
          <a:xfrm>
            <a:off x="6309360" y="3337560"/>
            <a:ext cx="960120" cy="9601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2" descr="Manage ti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35661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06640" y="3611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Manage time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29718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we'll talk about today</a:t>
            </a:r>
            <a:endParaRPr lang="en-US" sz="3000" dirty="0"/>
          </a:p>
        </p:txBody>
      </p:sp>
      <p:sp>
        <p:nvSpPr>
          <p:cNvPr id="3" name="Agenda card 1"/>
          <p:cNvSpPr/>
          <p:nvPr/>
        </p:nvSpPr>
        <p:spPr>
          <a:xfrm>
            <a:off x="548640" y="1325880"/>
            <a:ext cx="2468880" cy="320040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Communicate Effective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0020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01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Communicate Effectively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Talk and listen so customers and partners feel heard</a:t>
            </a:r>
            <a:endParaRPr lang="en-US" sz="1400" dirty="0"/>
          </a:p>
        </p:txBody>
      </p:sp>
      <p:sp>
        <p:nvSpPr>
          <p:cNvPr id="9" name="Agenda card 2"/>
          <p:cNvSpPr/>
          <p:nvPr/>
        </p:nvSpPr>
        <p:spPr>
          <a:xfrm>
            <a:off x="3291840" y="1325880"/>
            <a:ext cx="2468880" cy="320040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356616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Transition to Supervis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160020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25603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Transition to Supervisor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Move from doing the work to leading the team</a:t>
            </a:r>
            <a:endParaRPr lang="en-US" sz="1400" dirty="0"/>
          </a:p>
        </p:txBody>
      </p:sp>
      <p:sp>
        <p:nvSpPr>
          <p:cNvPr id="15" name="Agenda card 3"/>
          <p:cNvSpPr/>
          <p:nvPr/>
        </p:nvSpPr>
        <p:spPr>
          <a:xfrm>
            <a:off x="6035040" y="1325880"/>
            <a:ext cx="2468880" cy="320040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0936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Effective Time Manag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830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160020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03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5603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Effective Time Management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3383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Plan the shift so the rush feels easy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Communicate Effectively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Connection starts with a conversation</a:t>
            </a:r>
            <a:endParaRPr lang="en-US" sz="1800" dirty="0"/>
          </a:p>
        </p:txBody>
      </p:sp>
      <p:sp>
        <p:nvSpPr>
          <p:cNvPr id="5" name="Section circle"/>
          <p:cNvSpPr/>
          <p:nvPr/>
        </p:nvSpPr>
        <p:spPr>
          <a:xfrm>
            <a:off x="6400800" y="1417320"/>
            <a:ext cx="2286000" cy="22860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Communicate Effective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11680"/>
            <a:ext cx="1097280" cy="1097280"/>
          </a:xfrm>
          <a:prstGeom prst="rect">
            <a:avLst/>
          </a:prstGeom>
        </p:spPr>
      </p:pic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Why communication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22960" cy="8229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4" name="Image 0" descr="With custom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490472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298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With customers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Builds the friendly "Starbucks Experience" and turns visitors into regulars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822960" cy="8229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8" name="Image 1" descr="With your te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3347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441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With your team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2807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Fewer mistakes, faster orders and a calmer shift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566160"/>
            <a:ext cx="822960" cy="822960"/>
          </a:xfrm>
          <a:prstGeom prst="ellipse">
            <a:avLst/>
          </a:prstGeom>
          <a:solidFill>
            <a:schemeClr val="bg2"/>
          </a:solidFill>
          <a:ln/>
        </p:spPr>
      </p:sp>
      <p:pic>
        <p:nvPicPr>
          <p:cNvPr id="12" name="Image 2" descr="With your manag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776472"/>
            <a:ext cx="402336" cy="40233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584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With your manager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950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Share ideas and problems early, before they grow</a:t>
            </a:r>
            <a:endParaRPr lang="en-US" sz="1400" dirty="0"/>
          </a:p>
        </p:txBody>
      </p:sp>
      <p:sp>
        <p:nvSpPr>
          <p:cNvPr id="15" name="Quote card"/>
          <p:cNvSpPr/>
          <p:nvPr/>
        </p:nvSpPr>
        <p:spPr>
          <a:xfrm>
            <a:off x="6035040" y="1280160"/>
            <a:ext cx="2560320" cy="3108960"/>
          </a:xfrm>
          <a:prstGeom prst="roundRect">
            <a:avLst>
              <a:gd name="adj" fmla="val 5357"/>
            </a:avLst>
          </a:prstGeom>
          <a:solidFill>
            <a:schemeClr val="tx1"/>
          </a:solidFill>
          <a:ln/>
        </p:spPr>
      </p:sp>
      <p:pic>
        <p:nvPicPr>
          <p:cNvPr id="16" name="Image 3" descr="Quo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554480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309360" y="2148840"/>
            <a:ext cx="2057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Good communication turns a cup of coffee into a moment people remember.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LATTE model for unhappy customers</a:t>
            </a:r>
            <a:endParaRPr lang="en-US" sz="3000" dirty="0"/>
          </a:p>
        </p:txBody>
      </p:sp>
      <p:sp>
        <p:nvSpPr>
          <p:cNvPr id="3" name="LATTE Listen"/>
          <p:cNvSpPr/>
          <p:nvPr/>
        </p:nvSpPr>
        <p:spPr>
          <a:xfrm>
            <a:off x="822960" y="14173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1920240" y="1920240"/>
            <a:ext cx="45720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2651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Let the customer finish</a:t>
            </a:r>
            <a:endParaRPr lang="en-US" sz="1400" dirty="0"/>
          </a:p>
        </p:txBody>
      </p:sp>
      <p:sp>
        <p:nvSpPr>
          <p:cNvPr id="8" name="LATTE Acknowledge"/>
          <p:cNvSpPr/>
          <p:nvPr/>
        </p:nvSpPr>
        <p:spPr>
          <a:xfrm>
            <a:off x="2468880" y="141732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68880" y="14173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3566160" y="1920240"/>
            <a:ext cx="45720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194560" y="2651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Acknowledge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Show you understand</a:t>
            </a:r>
            <a:endParaRPr lang="en-US" sz="1400" dirty="0"/>
          </a:p>
        </p:txBody>
      </p:sp>
      <p:sp>
        <p:nvSpPr>
          <p:cNvPr id="13" name="LATTE Take action"/>
          <p:cNvSpPr/>
          <p:nvPr/>
        </p:nvSpPr>
        <p:spPr>
          <a:xfrm>
            <a:off x="4114800" y="14173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114800" y="14173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5212080" y="1920240"/>
            <a:ext cx="45720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3840480" y="2651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Take action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Fix the problem fast</a:t>
            </a:r>
            <a:endParaRPr lang="en-US" sz="1400" dirty="0"/>
          </a:p>
        </p:txBody>
      </p:sp>
      <p:sp>
        <p:nvSpPr>
          <p:cNvPr id="18" name="LATTE Thank"/>
          <p:cNvSpPr/>
          <p:nvPr/>
        </p:nvSpPr>
        <p:spPr>
          <a:xfrm>
            <a:off x="5760720" y="1417320"/>
            <a:ext cx="1005840" cy="10058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60720" y="14173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</a:t>
            </a:r>
            <a:endParaRPr lang="en-US" sz="3600" dirty="0"/>
          </a:p>
        </p:txBody>
      </p:sp>
      <p:sp>
        <p:nvSpPr>
          <p:cNvPr id="20" name="Shape 18"/>
          <p:cNvSpPr/>
          <p:nvPr/>
        </p:nvSpPr>
        <p:spPr>
          <a:xfrm>
            <a:off x="6858000" y="1920240"/>
            <a:ext cx="45720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86400" y="2651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Thank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Thank them for telling you</a:t>
            </a:r>
            <a:endParaRPr lang="en-US" sz="1400" dirty="0"/>
          </a:p>
        </p:txBody>
      </p:sp>
      <p:sp>
        <p:nvSpPr>
          <p:cNvPr id="23" name="LATTE Explain"/>
          <p:cNvSpPr/>
          <p:nvPr/>
        </p:nvSpPr>
        <p:spPr>
          <a:xfrm>
            <a:off x="7406640" y="14173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406640" y="14173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2651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Explain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22376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Say what you did and why</a:t>
            </a:r>
            <a:endParaRPr lang="en-US" sz="1400" dirty="0"/>
          </a:p>
        </p:txBody>
      </p:sp>
      <p:sp>
        <p:nvSpPr>
          <p:cNvPr id="27" name="LATTE tip"/>
          <p:cNvSpPr/>
          <p:nvPr/>
        </p:nvSpPr>
        <p:spPr>
          <a:xfrm>
            <a:off x="548640" y="3977640"/>
            <a:ext cx="804672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3977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Easy to remember: you serve a latte, and you solve problems with LATTE too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 simple tips to communicate better</a:t>
            </a:r>
            <a:endParaRPr lang="en-US" sz="3000" dirty="0"/>
          </a:p>
        </p:txBody>
      </p:sp>
      <p:sp>
        <p:nvSpPr>
          <p:cNvPr id="3" name="Tip card 1"/>
          <p:cNvSpPr/>
          <p:nvPr/>
        </p:nvSpPr>
        <p:spPr>
          <a:xfrm>
            <a:off x="548640" y="128016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2763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Listen more than you ta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10512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Listen more than you talk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99339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Eye contact, nod, don't interrupt</a:t>
            </a:r>
            <a:endParaRPr lang="en-US" sz="1400" dirty="0"/>
          </a:p>
        </p:txBody>
      </p:sp>
      <p:sp>
        <p:nvSpPr>
          <p:cNvPr id="8" name="Tip card 2"/>
          <p:cNvSpPr/>
          <p:nvPr/>
        </p:nvSpPr>
        <p:spPr>
          <a:xfrm>
            <a:off x="4663440" y="128016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937760" y="162763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Be clear and sh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1051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897880" y="15544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 clear and short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897880" y="199339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One message at a time, simple words</a:t>
            </a:r>
            <a:endParaRPr lang="en-US" sz="1400" dirty="0"/>
          </a:p>
        </p:txBody>
      </p:sp>
      <p:sp>
        <p:nvSpPr>
          <p:cNvPr id="13" name="Tip card 3"/>
          <p:cNvSpPr/>
          <p:nvPr/>
        </p:nvSpPr>
        <p:spPr>
          <a:xfrm>
            <a:off x="548640" y="292608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327355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Keep a positive t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45643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00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Keep a positive tone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6393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smile can be heard, even on a busy day</a:t>
            </a:r>
            <a:endParaRPr lang="en-US" sz="1400" dirty="0"/>
          </a:p>
        </p:txBody>
      </p:sp>
      <p:sp>
        <p:nvSpPr>
          <p:cNvPr id="18" name="Tip card 4"/>
          <p:cNvSpPr/>
          <p:nvPr/>
        </p:nvSpPr>
        <p:spPr>
          <a:xfrm>
            <a:off x="4663440" y="292608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4937760" y="327355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Give and ask for feedba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3456432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897880" y="3200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Give and ask for feedback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5897880" y="36393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Praise in public, correct in private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Transition to Supervisor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From doing the work to leading the work</a:t>
            </a:r>
            <a:endParaRPr lang="en-US" sz="1800" dirty="0"/>
          </a:p>
        </p:txBody>
      </p:sp>
      <p:sp>
        <p:nvSpPr>
          <p:cNvPr id="5" name="Section circle"/>
          <p:cNvSpPr/>
          <p:nvPr/>
        </p:nvSpPr>
        <p:spPr>
          <a:xfrm>
            <a:off x="6400800" y="1417320"/>
            <a:ext cx="2286000" cy="22860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Transition to Supervis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11680"/>
            <a:ext cx="1097280" cy="1097280"/>
          </a:xfrm>
          <a:prstGeom prst="rect">
            <a:avLst/>
          </a:prstGeom>
        </p:spPr>
      </p:pic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From barista to supervisor</a:t>
            </a:r>
            <a:endParaRPr lang="en-US" sz="3000" dirty="0"/>
          </a:p>
        </p:txBody>
      </p:sp>
      <p:sp>
        <p:nvSpPr>
          <p:cNvPr id="3" name="Barista card"/>
          <p:cNvSpPr/>
          <p:nvPr/>
        </p:nvSpPr>
        <p:spPr>
          <a:xfrm>
            <a:off x="548640" y="1234440"/>
            <a:ext cx="3657600" cy="3337560"/>
          </a:xfrm>
          <a:prstGeom prst="roundRect">
            <a:avLst>
              <a:gd name="adj" fmla="val 4110"/>
            </a:avLst>
          </a:prstGeom>
          <a:solidFill>
            <a:schemeClr val="bg2"/>
          </a:solidFill>
          <a:ln/>
        </p:spPr>
      </p:sp>
      <p:pic>
        <p:nvPicPr>
          <p:cNvPr id="4" name="Image 0" descr="Bari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5087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508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Barista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194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I focus on my own tasks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I make great drinks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I follow the shift plan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6"/>
                </a:solidFill>
              </a:rPr>
              <a:t>Success = my work</a:t>
            </a:r>
            <a:endParaRPr lang="en-US" sz="1600" dirty="0"/>
          </a:p>
        </p:txBody>
      </p:sp>
      <p:sp>
        <p:nvSpPr>
          <p:cNvPr id="7" name="Shift Supervisor card"/>
          <p:cNvSpPr/>
          <p:nvPr/>
        </p:nvSpPr>
        <p:spPr>
          <a:xfrm>
            <a:off x="4937760" y="1234440"/>
            <a:ext cx="3657600" cy="3337560"/>
          </a:xfrm>
          <a:prstGeom prst="roundRect">
            <a:avLst>
              <a:gd name="adj" fmla="val 4110"/>
            </a:avLst>
          </a:prstGeom>
          <a:solidFill>
            <a:schemeClr val="tx1"/>
          </a:solidFill>
          <a:ln/>
        </p:spPr>
      </p:sp>
      <p:pic>
        <p:nvPicPr>
          <p:cNvPr id="8" name="Image 1" descr="Shift Supervis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50876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1508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Shift Supervisor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257800" y="21945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3"/>
                </a:solidFill>
              </a:rPr>
              <a:t>I focus on the whole team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3"/>
                </a:solidFill>
              </a:rPr>
              <a:t>I help partners make great drinks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3"/>
                </a:solidFill>
              </a:rPr>
              <a:t>I build the shift plan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3"/>
                </a:solidFill>
              </a:rPr>
              <a:t>Success = the team's work</a:t>
            </a:r>
            <a:endParaRPr lang="en-US" sz="1600" dirty="0"/>
          </a:p>
        </p:txBody>
      </p:sp>
      <p:sp>
        <p:nvSpPr>
          <p:cNvPr id="11" name="Arrow circle"/>
          <p:cNvSpPr/>
          <p:nvPr/>
        </p:nvSpPr>
        <p:spPr>
          <a:xfrm>
            <a:off x="4251960" y="26060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2" descr="beco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761488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 keys to a smooth transition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234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Lead by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9616" y="1408176"/>
            <a:ext cx="338328" cy="338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234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Lead by example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23444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Follow the standards you ask others to follow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13258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mage 1" descr="Coach, don't just comm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9616" y="2276856"/>
            <a:ext cx="338328" cy="3383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2402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Coach, don't just command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5029200" y="210312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Show how, explain why, then let them try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9718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3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1325880" y="29718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mage 2" descr="Delegate and tru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3145536"/>
            <a:ext cx="338328" cy="33832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4028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Delegate and trust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029200" y="297180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You can't do everything; give clear roles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Shape 14"/>
          <p:cNvSpPr/>
          <p:nvPr/>
        </p:nvSpPr>
        <p:spPr>
          <a:xfrm>
            <a:off x="1325880" y="3840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mage 3" descr="Friendly but f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9616" y="4014216"/>
            <a:ext cx="338328" cy="33832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240280" y="384048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Friendly but fair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29200" y="38404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Yesterday's coworkers are today's team: same rules for all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Effective Time Management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3"/>
                </a:solidFill>
              </a:rPr>
              <a:t>Every minute matters during the rush</a:t>
            </a:r>
            <a:endParaRPr lang="en-US" sz="1800" dirty="0"/>
          </a:p>
        </p:txBody>
      </p:sp>
      <p:sp>
        <p:nvSpPr>
          <p:cNvPr id="5" name="Section circle"/>
          <p:cNvSpPr/>
          <p:nvPr/>
        </p:nvSpPr>
        <p:spPr>
          <a:xfrm>
            <a:off x="6400800" y="1417320"/>
            <a:ext cx="2286000" cy="22860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Effective Time Mana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2011680"/>
            <a:ext cx="1097280" cy="1097280"/>
          </a:xfrm>
          <a:prstGeom prst="rect">
            <a:avLst/>
          </a:prstGeom>
        </p:spPr>
      </p:pic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2461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Plan your shift in 4 moments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1874520"/>
            <a:ext cx="6949440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</a:ln>
        </p:spPr>
      </p:sp>
      <p:sp>
        <p:nvSpPr>
          <p:cNvPr id="4" name="Step 1"/>
          <p:cNvSpPr/>
          <p:nvPr/>
        </p:nvSpPr>
        <p:spPr>
          <a:xfrm>
            <a:off x="1097280" y="14630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Before the sh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7592" y="167335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514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Before the shift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9718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Check the schedule and assign each partner a spot</a:t>
            </a:r>
            <a:endParaRPr lang="en-US" sz="1400" dirty="0"/>
          </a:p>
        </p:txBody>
      </p:sp>
      <p:sp>
        <p:nvSpPr>
          <p:cNvPr id="8" name="Step 2"/>
          <p:cNvSpPr/>
          <p:nvPr/>
        </p:nvSpPr>
        <p:spPr>
          <a:xfrm>
            <a:off x="3154680" y="146304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mage 1" descr="Peak hou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7335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06040" y="2514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Peak hours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2697480" y="29718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Right person in the right place, no side tasks</a:t>
            </a:r>
            <a:endParaRPr lang="en-US" sz="1400" dirty="0"/>
          </a:p>
        </p:txBody>
      </p:sp>
      <p:sp>
        <p:nvSpPr>
          <p:cNvPr id="12" name="Step 3"/>
          <p:cNvSpPr/>
          <p:nvPr/>
        </p:nvSpPr>
        <p:spPr>
          <a:xfrm>
            <a:off x="5212080" y="14630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Slow 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1673352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663440" y="2514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Slow times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754880" y="29718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Clean, restock and train while it's quiet</a:t>
            </a:r>
            <a:endParaRPr lang="en-US" sz="1400" dirty="0"/>
          </a:p>
        </p:txBody>
      </p:sp>
      <p:sp>
        <p:nvSpPr>
          <p:cNvPr id="16" name="Step 4"/>
          <p:cNvSpPr/>
          <p:nvPr/>
        </p:nvSpPr>
        <p:spPr>
          <a:xfrm>
            <a:off x="7269480" y="14630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End of shi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792" y="1673352"/>
            <a:ext cx="402336" cy="40233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20840" y="25146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End of shift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6812280" y="29718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Clear handover notes for the next team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Peak hours = protect the bar. Everything else can wait.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Prioritize: what comes first?</a:t>
            </a:r>
            <a:endParaRPr lang="en-US" sz="3000" dirty="0"/>
          </a:p>
        </p:txBody>
      </p:sp>
      <p:sp>
        <p:nvSpPr>
          <p:cNvPr id="3" name="Do it now"/>
          <p:cNvSpPr/>
          <p:nvPr/>
        </p:nvSpPr>
        <p:spPr>
          <a:xfrm>
            <a:off x="54864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Do it now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3716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Urgent + important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Long line, spill on the floor, upset customer</a:t>
            </a:r>
            <a:endParaRPr lang="en-US" sz="1400" dirty="0"/>
          </a:p>
        </p:txBody>
      </p:sp>
      <p:sp>
        <p:nvSpPr>
          <p:cNvPr id="7" name="Plan it"/>
          <p:cNvSpPr/>
          <p:nvPr/>
        </p:nvSpPr>
        <p:spPr>
          <a:xfrm>
            <a:off x="461772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tx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Plan it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3716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Important, not urgent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Training a new partner, weekly order</a:t>
            </a:r>
            <a:endParaRPr lang="en-US" sz="1400" dirty="0"/>
          </a:p>
        </p:txBody>
      </p:sp>
      <p:sp>
        <p:nvSpPr>
          <p:cNvPr id="11" name="Delegate it"/>
          <p:cNvSpPr/>
          <p:nvPr/>
        </p:nvSpPr>
        <p:spPr>
          <a:xfrm>
            <a:off x="548640" y="288036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Delegate it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063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Urgent, not important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611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Restock cups, empty the trash</a:t>
            </a:r>
            <a:endParaRPr lang="en-US" sz="1400" dirty="0"/>
          </a:p>
        </p:txBody>
      </p:sp>
      <p:sp>
        <p:nvSpPr>
          <p:cNvPr id="15" name="Drop it"/>
          <p:cNvSpPr/>
          <p:nvPr/>
        </p:nvSpPr>
        <p:spPr>
          <a:xfrm>
            <a:off x="4617720" y="288036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Drop it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3063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Not urgent, not important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3611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Phone scrolling, long side chats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 things to remember</a:t>
            </a:r>
            <a:endParaRPr lang="en-US" sz="3000" dirty="0"/>
          </a:p>
        </p:txBody>
      </p:sp>
      <p:sp>
        <p:nvSpPr>
          <p:cNvPr id="3" name="Takeaway 1"/>
          <p:cNvSpPr/>
          <p:nvPr/>
        </p:nvSpPr>
        <p:spPr>
          <a:xfrm>
            <a:off x="1325880" y="1554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mage 0" descr="Communic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7830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Communicate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Listen first, speak clearly, use LATTE</a:t>
            </a:r>
            <a:endParaRPr lang="en-US" sz="1500" dirty="0"/>
          </a:p>
        </p:txBody>
      </p:sp>
      <p:sp>
        <p:nvSpPr>
          <p:cNvPr id="7" name="Takeaway 2"/>
          <p:cNvSpPr/>
          <p:nvPr/>
        </p:nvSpPr>
        <p:spPr>
          <a:xfrm>
            <a:off x="4069080" y="1554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1" descr="L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30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2918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Lead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47472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Your success is now your team's success</a:t>
            </a:r>
            <a:endParaRPr lang="en-US" sz="1500" dirty="0"/>
          </a:p>
        </p:txBody>
      </p:sp>
      <p:sp>
        <p:nvSpPr>
          <p:cNvPr id="11" name="Takeaway 3"/>
          <p:cNvSpPr/>
          <p:nvPr/>
        </p:nvSpPr>
        <p:spPr>
          <a:xfrm>
            <a:off x="6812280" y="1554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2" descr="Manage ti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78308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035040" y="26974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Manage time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217920" y="32004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Plan the shift and do first things first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7180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Questions?</a:t>
            </a:r>
            <a:endParaRPr lang="en-US" sz="2200" dirty="0"/>
          </a:p>
        </p:txBody>
      </p:sp>
      <p:sp>
        <p:nvSpPr>
          <p:cNvPr id="4" name="Closing circle"/>
          <p:cNvSpPr/>
          <p:nvPr/>
        </p:nvSpPr>
        <p:spPr>
          <a:xfrm>
            <a:off x="6126480" y="118872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mage 0" descr="Coffee c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783080"/>
            <a:ext cx="1188720" cy="1188720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9718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 Apron">
  <a:themeElements>
    <a:clrScheme name="Green Apron">
      <a:dk1>
        <a:srgbClr val="1E3932"/>
      </a:dk1>
      <a:lt1>
        <a:srgbClr val="FFFFFF"/>
      </a:lt1>
      <a:dk2>
        <a:srgbClr val="00704A"/>
      </a:dk2>
      <a:lt2>
        <a:srgbClr val="EAF4F0"/>
      </a:lt2>
      <a:accent1>
        <a:srgbClr val="00704A"/>
      </a:accent1>
      <a:accent2>
        <a:srgbClr val="CBA258"/>
      </a:accent2>
      <a:accent3>
        <a:srgbClr val="D4E9E2"/>
      </a:accent3>
      <a:accent4>
        <a:srgbClr val="1E3932"/>
      </a:accent4>
      <a:accent5>
        <a:srgbClr val="006241"/>
      </a:accent5>
      <a:accent6>
        <a:srgbClr val="6B7B75"/>
      </a:accent6>
      <a:hlink>
        <a:srgbClr val="00704A"/>
      </a:hlink>
      <a:folHlink>
        <a:srgbClr val="1E3932"/>
      </a:folHlink>
    </a:clrScheme>
    <a:fontScheme name="Green Apr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Leading the Starbucks Way</dc:title>
  <dc:subject>PptxGenJS Presentation</dc:subject>
  <dc:creator>PptxGenJS</dc:creator>
  <cp:lastModifiedBy>PptxGenJS</cp:lastModifiedBy>
  <cp:revision>1</cp:revision>
  <dcterms:created xsi:type="dcterms:W3CDTF">2026-10-20T17:53:19Z</dcterms:created>
  <dcterms:modified xsi:type="dcterms:W3CDTF">2026-10-20T17:53:19Z</dcterms:modified>
</cp:coreProperties>
</file>