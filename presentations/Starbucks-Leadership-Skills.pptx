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33c12c1-1557-4faf-0c5f-143ee3ec21cc}">
          <p14:sldIdLst>
            <p14:sldId id="256"/>
            <p14:sldId id="257"/>
          </p14:sldIdLst>
        </p14:section>
        <p14:section name="Communicate Effectively" id="{6bf13ab6-29b9-d209-dcc1-8e6ea28eb0f3}">
          <p14:sldIdLst>
            <p14:sldId id="258"/>
            <p14:sldId id="259"/>
            <p14:sldId id="260"/>
            <p14:sldId id="261"/>
          </p14:sldIdLst>
        </p14:section>
        <p14:section name="Transition to Supervisor" id="{b857e83c-bd4b-3a84-111e-a60adffb6332}">
          <p14:sldIdLst>
            <p14:sldId id="262"/>
            <p14:sldId id="263"/>
            <p14:sldId id="264"/>
          </p14:sldIdLst>
        </p14:section>
        <p14:section name="Time Management" id="{2e714637-44f0-c833-ed87-a7978fdd4c90}">
          <p14:sldIdLst>
            <p14:sldId id="265"/>
            <p14:sldId id="266"/>
            <p14:sldId id="267"/>
          </p14:sldIdLst>
        </p14:section>
        <p14:section name="Wrap-up" id="{3e61b64b-d495-806f-d6bc-f2abd0ee257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أهلاً بيكم. النهارده هنتكلم عن 3 مهارات مهمة جداً لأي حد شغال في ستاربكس وعايز يكبر: إزاي نتواصل صح، إزاي ننتقل من باريستا لسوبرفايزر، وإزاي ننظم وقتنا.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البرزنتيشن مقسوم 3 أجزاء. كل جزء هشرح فيه الفكرة ببساطة وأديكم نصايح عملية من جوه الفرع.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أول مهارة: التواصل الفعّال. ستاربكس مش بس بتبيع قهوة، هي بتبيع تجربة، والتجربة دي بتبدأ بكلمة حلوة وسماع كويس.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التواصل مهم في 3 اتجاهات: مع العميل عشان يحس إنه مرحب بيه ويرجع تاني، مع الفريق عشان الشغل يمشي من غير أخطاء، ومع المدير عشان نحل المشاكل بدري.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ستاربكس عندها طريقة اسمها LATTE للتعامل مع أي عميل مضايق: اسمع للآخر، وضّح إنك فاهمه، اتصرف بسرعة، اشكره إنه قالك، واشرحله عملت إيه. سهلة تتفتكر لأنها زي اسم المشروب.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نصايح بسيطة: اسمع أكتر ما تتكلم، خلي كلامك واضح وقصير، خلي نبرتك إيجابية حتى في وقت الزحمة، واتعلم تدي وتاخد فيدباك. والقاعدة الذهبية: الشكر قدام الناس، والتصحيح على جنب.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التاني: إزاي تنتقل من باريستا لشيفت سوبرفايزر. أهم حاجة تفهمها إن دورك بيتغير من إنك تعمل الشغل بنفسك لإنك تقود الفريق اللي بيعمله.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شوفوا الفرق: الباريستا تركيزه على شغله هو، إنما السوبرفايزر تركيزه على الفريق كله. النجاح مبقاش إنت عملت كام مشروب، بقى الفريق كله اشتغل إزاي.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مفاتيح: كن قدوة، علّم بدل ما تأمر، وزّع المهام ووثق في فريقك، وخليك ودود بس عادل، لأن أصحابك اللي كانوا زمايلك بقوا فريقك ولازم القواعد تبقى على الكل.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التالت: إدارة الوقت. في ستاربكس فيه أوقات زحمة جامدة، والفرق بين شيفت ناجح وشيفت فوضى هو التخطيط.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قسّم الشيفت لـ 4 لحظات: قبل الشيفت جهّز الجدول ووزّع الأماكن، في الزحمة كل واحد في مكانه ومفيش مهام جانبية، في الهدوء نضّف وكمّل النواقص ودرّب، وفي الآخر سلّم الشيفت بملاحظات واضحة.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مش كل حاجة ليها نفس الأهمية. المهم والمستعجل اعمله فوراً، المهم ومش مستعجل خطط له، المستعجل ومش مهم ادّيه لحد من الفريق، واللي لا مهم ولا مستعجل سيبه خالص.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الخلاصة في 3 كلمات: اتواصل، قود، ونظّم وقتك. لو عملنا الـ3 دول هنبقى فريق أقوى وعملاءنا هيبقوا أسعد.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 ليكم على وقتكم. لو فيه أي أسئلة أنا موجود.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Leading the Starbucks Way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القيادة على طريقة ستاربكس</a:t>
            </a:r>
            <a:endParaRPr lang="ar-EG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3 simple skills every partner needs to grow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6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مهارات بسيطة يحتاجها كل فرد في الفريق ليتطوّر</a:t>
            </a:r>
            <a:endParaRPr lang="en-US" sz="1600" dirty="0"/>
          </a:p>
        </p:txBody>
      </p:sp>
      <p:sp>
        <p:nvSpPr>
          <p:cNvPr id="5" name="Hero circle 1"/>
          <p:cNvSpPr/>
          <p:nvPr/>
        </p:nvSpPr>
        <p:spPr>
          <a:xfrm>
            <a:off x="6172200" y="68580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Communic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69480" y="822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Communicate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</a:t>
            </a:r>
            <a:endParaRPr lang="en-US" sz="1500" dirty="0"/>
          </a:p>
        </p:txBody>
      </p:sp>
      <p:sp>
        <p:nvSpPr>
          <p:cNvPr id="8" name="Hero circle 2"/>
          <p:cNvSpPr/>
          <p:nvPr/>
        </p:nvSpPr>
        <p:spPr>
          <a:xfrm>
            <a:off x="6172200" y="201168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L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Lead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القيادة</a:t>
            </a:r>
            <a:endParaRPr lang="en-US" sz="1500" dirty="0"/>
          </a:p>
        </p:txBody>
      </p:sp>
      <p:sp>
        <p:nvSpPr>
          <p:cNvPr id="11" name="Hero circle 3"/>
          <p:cNvSpPr/>
          <p:nvPr/>
        </p:nvSpPr>
        <p:spPr>
          <a:xfrm>
            <a:off x="6172200" y="333756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Manage t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34747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Manage time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الوقت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we'll talk about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محاور العرض</a:t>
            </a:r>
            <a:endParaRPr lang="ar-EG" sz="1800" dirty="0"/>
          </a:p>
        </p:txBody>
      </p:sp>
      <p:sp>
        <p:nvSpPr>
          <p:cNvPr id="4" name="Agenda card 1"/>
          <p:cNvSpPr/>
          <p:nvPr/>
        </p:nvSpPr>
        <p:spPr>
          <a:xfrm>
            <a:off x="548640" y="1371600"/>
            <a:ext cx="2514600" cy="3246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mmunicate Effective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7739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6002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Communicate Effectively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الفعّال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Talk and listen so people feel heard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تحدّث واستمع ليشعر الجميع بالاهتمام</a:t>
            </a:r>
            <a:endParaRPr lang="en-US" sz="1200" dirty="0"/>
          </a:p>
        </p:txBody>
      </p:sp>
      <p:sp>
        <p:nvSpPr>
          <p:cNvPr id="10" name="Agenda card 2"/>
          <p:cNvSpPr/>
          <p:nvPr/>
        </p:nvSpPr>
        <p:spPr>
          <a:xfrm>
            <a:off x="3291840" y="1371600"/>
            <a:ext cx="2514600" cy="3246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Transition to Supervis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77393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16002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Transition to Supervisor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الانتقال لدور المشرف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Move from doing the work to leading the team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تنفيذ العمل إلى قيادة الفريق</a:t>
            </a:r>
            <a:endParaRPr lang="en-US" sz="1200" dirty="0"/>
          </a:p>
        </p:txBody>
      </p:sp>
      <p:sp>
        <p:nvSpPr>
          <p:cNvPr id="16" name="Agenda card 3"/>
          <p:cNvSpPr/>
          <p:nvPr/>
        </p:nvSpPr>
        <p:spPr>
          <a:xfrm>
            <a:off x="6035040" y="1371600"/>
            <a:ext cx="2514600" cy="3246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Effective Time Manage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77393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06640" y="16002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Effective Time Management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الوقت بفعالية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Plan the shift so the rush feels easy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للشيفت لتمرّ أوقات الزحمة بسهولة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01</a:t>
            </a:r>
            <a:endParaRPr lang="en-US" sz="6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Communicate Effectively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الفعّال</a:t>
            </a:r>
            <a:endParaRPr lang="ar-EG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accent3"/>
                </a:solidFill>
              </a:rPr>
              <a:t>Connection starts with a conversation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6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الحقيقي يبدأ بحوار</a:t>
            </a:r>
            <a:endParaRPr lang="en-US" sz="1600" dirty="0"/>
          </a:p>
        </p:txBody>
      </p:sp>
      <p:sp>
        <p:nvSpPr>
          <p:cNvPr id="6" name="Section circle"/>
          <p:cNvSpPr/>
          <p:nvPr/>
        </p:nvSpPr>
        <p:spPr>
          <a:xfrm>
            <a:off x="6400800" y="1417320"/>
            <a:ext cx="2286000" cy="22860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Communicate Effective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communication matters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التواصل مهم؟</a:t>
            </a:r>
            <a:endParaRPr lang="ar-EG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Image 0" descr="With 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0934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99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With customers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العملاء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3990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Turns visitors into regulars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الزوار إلى عملاء دائمين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96312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9" name="Image 1" descr="With your te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88336"/>
            <a:ext cx="393192" cy="3931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47802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With your team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الفريق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247802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Fewer mistakes, a calmer shift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أخطاء أقل وشيفت أهدأ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575304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" name="Image 2" descr="With your manag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767328"/>
            <a:ext cx="393192" cy="3931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557016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With your manager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المدير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383280" y="35570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Share problems early, before they grow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المشاكل مبكرًا قبل أن تكبر</a:t>
            </a:r>
            <a:endParaRPr lang="en-US" sz="1300" dirty="0"/>
          </a:p>
        </p:txBody>
      </p:sp>
      <p:sp>
        <p:nvSpPr>
          <p:cNvPr id="16" name="Quote card"/>
          <p:cNvSpPr/>
          <p:nvPr/>
        </p:nvSpPr>
        <p:spPr>
          <a:xfrm>
            <a:off x="6035040" y="1417320"/>
            <a:ext cx="2560320" cy="3063240"/>
          </a:xfrm>
          <a:prstGeom prst="roundRect">
            <a:avLst>
              <a:gd name="adj" fmla="val 5357"/>
            </a:avLst>
          </a:prstGeom>
          <a:solidFill>
            <a:schemeClr val="tx1"/>
          </a:solidFill>
          <a:ln/>
        </p:spPr>
      </p:sp>
      <p:pic>
        <p:nvPicPr>
          <p:cNvPr id="17" name="Image 3" descr="Quo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2148840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chemeClr val="bg1"/>
                </a:solidFill>
              </a:rPr>
              <a:t>Good communication turns a cup of coffee into a moment people remember.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الجيد يحوّل كوب القهوة إلى لحظة لا تُنسى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LATTE model for unhappy customers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LATTE للتعامل مع العميل غير الراضي</a:t>
            </a:r>
            <a:endParaRPr lang="ar-EG" sz="1800" dirty="0"/>
          </a:p>
        </p:txBody>
      </p:sp>
      <p:sp>
        <p:nvSpPr>
          <p:cNvPr id="4" name="LATTE Listen"/>
          <p:cNvSpPr/>
          <p:nvPr/>
        </p:nvSpPr>
        <p:spPr>
          <a:xfrm>
            <a:off x="868680" y="1371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892808" y="1828800"/>
            <a:ext cx="5120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Listen</a:t>
            </a:r>
            <a:endParaRPr lang="en-US" sz="1600" dirty="0"/>
          </a:p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Let the customer finish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 العميل يُكمل كلامه</a:t>
            </a:r>
            <a:endParaRPr lang="en-US" sz="1200" dirty="0"/>
          </a:p>
        </p:txBody>
      </p:sp>
      <p:sp>
        <p:nvSpPr>
          <p:cNvPr id="9" name="LATTE Acknowledge"/>
          <p:cNvSpPr/>
          <p:nvPr/>
        </p:nvSpPr>
        <p:spPr>
          <a:xfrm>
            <a:off x="2514600" y="137160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146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538728" y="1828800"/>
            <a:ext cx="5120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9456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Acknowledge</a:t>
            </a:r>
            <a:endParaRPr lang="en-US" sz="1600" dirty="0"/>
          </a:p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تفهّم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Show you understand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أظهِر أنك فاهم</a:t>
            </a:r>
            <a:endParaRPr lang="en-US" sz="1200" dirty="0"/>
          </a:p>
        </p:txBody>
      </p:sp>
      <p:sp>
        <p:nvSpPr>
          <p:cNvPr id="14" name="LATTE Take action"/>
          <p:cNvSpPr/>
          <p:nvPr/>
        </p:nvSpPr>
        <p:spPr>
          <a:xfrm>
            <a:off x="4160520" y="1371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5184648" y="1828800"/>
            <a:ext cx="5120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4048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Take action</a:t>
            </a:r>
            <a:endParaRPr lang="en-US" sz="1600" dirty="0"/>
          </a:p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تصرّف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Fix the problem fast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 المشكلة بسرعة</a:t>
            </a:r>
            <a:endParaRPr lang="en-US" sz="1200" dirty="0"/>
          </a:p>
        </p:txBody>
      </p:sp>
      <p:sp>
        <p:nvSpPr>
          <p:cNvPr id="19" name="LATTE Thank"/>
          <p:cNvSpPr/>
          <p:nvPr/>
        </p:nvSpPr>
        <p:spPr>
          <a:xfrm>
            <a:off x="5806440" y="137160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0644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830568" y="1828800"/>
            <a:ext cx="51206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Thank</a:t>
            </a:r>
            <a:endParaRPr lang="en-US" sz="1600" dirty="0"/>
          </a:p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اشكُر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Thank them for telling you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اشكره على ملاحظته</a:t>
            </a:r>
            <a:endParaRPr lang="en-US" sz="1200" dirty="0"/>
          </a:p>
        </p:txBody>
      </p:sp>
      <p:sp>
        <p:nvSpPr>
          <p:cNvPr id="24" name="LATTE Explain"/>
          <p:cNvSpPr/>
          <p:nvPr/>
        </p:nvSpPr>
        <p:spPr>
          <a:xfrm>
            <a:off x="7452360" y="1371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523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Explain</a:t>
            </a:r>
            <a:endParaRPr lang="en-US" sz="1600" dirty="0"/>
          </a:p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Say what you did and why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ما فعلته ولماذا</a:t>
            </a:r>
            <a:endParaRPr lang="en-US" sz="1200" dirty="0"/>
          </a:p>
        </p:txBody>
      </p:sp>
      <p:sp>
        <p:nvSpPr>
          <p:cNvPr id="28" name="LATTE tip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1"/>
                </a:solidFill>
              </a:rPr>
              <a:t>Easy to remember: you serve a latte, and you solve problems with LATTE too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سهلة الحفظ: تقدّم اللاتيه للعميل، وتحلّ المشاكل بـ LATTE أيضًا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 simple tips to communicate better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نصائح بسيطة لتواصل أفضل</a:t>
            </a:r>
            <a:endParaRPr lang="ar-EG" sz="1800" dirty="0"/>
          </a:p>
        </p:txBody>
      </p:sp>
      <p:sp>
        <p:nvSpPr>
          <p:cNvPr id="4" name="Tip card 1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sten more than you tal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481328"/>
            <a:ext cx="2697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Listen more than you talk</a:t>
            </a:r>
            <a:endParaRPr lang="en-US" sz="1500" dirty="0"/>
          </a:p>
          <a:p>
            <a:pPr rtl="1" algn="l" indent="0" marL="0">
              <a:spcAft>
                <a:spcPts val="600"/>
              </a:spcAft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استمع أكثر مما تتكلم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Eye contact, nod, don't interrupt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في عينيه، ولا تقاطعه</a:t>
            </a:r>
            <a:endParaRPr lang="en-US" sz="1500" dirty="0"/>
          </a:p>
        </p:txBody>
      </p:sp>
      <p:sp>
        <p:nvSpPr>
          <p:cNvPr id="8" name="Tip card 2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Be clear and sh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95681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81328"/>
            <a:ext cx="2697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Be clear and short</a:t>
            </a:r>
            <a:endParaRPr lang="en-US" sz="1500" dirty="0"/>
          </a:p>
          <a:p>
            <a:pPr rtl="1" algn="l" indent="0" marL="0">
              <a:spcAft>
                <a:spcPts val="600"/>
              </a:spcAft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واضحًا ومختصرًا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One message, simple words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واحدة بكلمات بسيطة</a:t>
            </a:r>
            <a:endParaRPr lang="en-US" sz="1500" dirty="0"/>
          </a:p>
        </p:txBody>
      </p:sp>
      <p:sp>
        <p:nvSpPr>
          <p:cNvPr id="12" name="Tip card 3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429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Keep a positive t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60273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3127248"/>
            <a:ext cx="2697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Keep a positive tone</a:t>
            </a:r>
            <a:endParaRPr lang="en-US" sz="1500" dirty="0"/>
          </a:p>
          <a:p>
            <a:pPr rtl="1" algn="l" indent="0" marL="0">
              <a:spcAft>
                <a:spcPts val="600"/>
              </a:spcAft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حافظ على نبرة إيجابية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A smile can be heard, even in the rush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الابتسامة تُسمَع حتى وقت الزحمة</a:t>
            </a:r>
            <a:endParaRPr lang="en-US" sz="1500" dirty="0"/>
          </a:p>
        </p:txBody>
      </p:sp>
      <p:sp>
        <p:nvSpPr>
          <p:cNvPr id="16" name="Tip card 4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4892040" y="3429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Give and ask for feedba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60273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60720" y="3127248"/>
            <a:ext cx="2697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Give and ask for feedback</a:t>
            </a:r>
            <a:endParaRPr lang="en-US" sz="1500" dirty="0"/>
          </a:p>
          <a:p>
            <a:pPr rtl="1" algn="l" indent="0" marL="0">
              <a:spcAft>
                <a:spcPts val="600"/>
              </a:spcAft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قدّم واطلب الملاحظات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Praise in public, correct in private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امدح أمام الجميع وصحّح على انفراد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02</a:t>
            </a:r>
            <a:endParaRPr lang="en-US" sz="6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Transition to Supervisor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الانتقال لدور المشرف</a:t>
            </a:r>
            <a:endParaRPr lang="ar-EG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accent3"/>
                </a:solidFill>
              </a:rPr>
              <a:t>From doing the work to leading the work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6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أداء العمل إلى قيادته</a:t>
            </a:r>
            <a:endParaRPr lang="en-US" sz="1600" dirty="0"/>
          </a:p>
        </p:txBody>
      </p:sp>
      <p:sp>
        <p:nvSpPr>
          <p:cNvPr id="6" name="Section circle"/>
          <p:cNvSpPr/>
          <p:nvPr/>
        </p:nvSpPr>
        <p:spPr>
          <a:xfrm>
            <a:off x="6400800" y="1417320"/>
            <a:ext cx="2286000" cy="22860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Transition to Super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barista to supervisor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باريستا إلى مشرف</a:t>
            </a:r>
            <a:endParaRPr lang="ar-EG" sz="1800" dirty="0"/>
          </a:p>
        </p:txBody>
      </p:sp>
      <p:sp>
        <p:nvSpPr>
          <p:cNvPr id="4" name="Barista card"/>
          <p:cNvSpPr/>
          <p:nvPr/>
        </p:nvSpPr>
        <p:spPr>
          <a:xfrm>
            <a:off x="548640" y="1371600"/>
            <a:ext cx="365760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pic>
        <p:nvPicPr>
          <p:cNvPr id="5" name="Image 0" descr="Bari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Barista</a:t>
            </a:r>
            <a:endParaRPr lang="en-US" sz="18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باريستا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96112" y="239572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2286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 focus on my own tasks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أركّز على مهامي فقط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96112" y="2962656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28529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 make great drinks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أحضّر مشروبات ممتازة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96112" y="3529584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34198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 follow the shift plan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أتبع خطة الشيفت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6112" y="4096512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39867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Success = my work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النجاح = شغلي أنا</a:t>
            </a:r>
            <a:endParaRPr lang="en-US" sz="1300" dirty="0"/>
          </a:p>
        </p:txBody>
      </p:sp>
      <p:sp>
        <p:nvSpPr>
          <p:cNvPr id="15" name="Shift Supervisor card"/>
          <p:cNvSpPr/>
          <p:nvPr/>
        </p:nvSpPr>
        <p:spPr>
          <a:xfrm>
            <a:off x="4937760" y="1371600"/>
            <a:ext cx="3657600" cy="329184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/>
        </p:spPr>
      </p:sp>
      <p:pic>
        <p:nvPicPr>
          <p:cNvPr id="16" name="Image 1" descr="Shift Supervis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727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80644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Shift Supervisor</a:t>
            </a:r>
            <a:endParaRPr lang="en-US" sz="18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مشرف الشيفت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285232" y="239572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532120" y="2286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I focus on the whole team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أركّز على الفريق كله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285232" y="2962656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532120" y="28529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I help partners do great work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أساعد الزملاء ليُتقنوا عملهم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285232" y="3529584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532120" y="34198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I build the shift plan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أضع خطة الشيفت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285232" y="4096512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532120" y="39867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Success = the team's work</a:t>
            </a:r>
            <a:endParaRPr lang="en-US" sz="13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النجاح = شغل الفريق</a:t>
            </a:r>
            <a:endParaRPr lang="en-US" sz="1300" dirty="0"/>
          </a:p>
        </p:txBody>
      </p:sp>
      <p:sp>
        <p:nvSpPr>
          <p:cNvPr id="26" name="Arrow circle"/>
          <p:cNvSpPr/>
          <p:nvPr/>
        </p:nvSpPr>
        <p:spPr>
          <a:xfrm>
            <a:off x="4251960" y="2697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2" descr="beco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852928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 keys to a smooth transition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مفاتيح لانتقال سلس</a:t>
            </a:r>
            <a:endParaRPr lang="ar-EG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ead by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15453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Lead by example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قدوة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Follow the standards you ask others to follow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التزم بالمعايير التي تطلبها من الآخرين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945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097280" y="2194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oach, don't just comm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236829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11680" y="2194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Coach, don't just command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 ولا تكتفِ بالأوامر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194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Show how, explain why, then let them try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الطريقة والسبب، ثم دعهم يجرّبوا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017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1097280" y="3017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Delegate and tru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31912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Delegate and trust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فوّض وثِق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3017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You can't do everything: give clear roles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 تفعل كل شيء وحدك: وزّع الأدوار بوضوح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8404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4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1097280" y="3840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riendly but f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401421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1168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Friendly but fair</a:t>
            </a:r>
            <a:endParaRPr lang="en-US" sz="1500" dirty="0"/>
          </a:p>
          <a:p>
            <a:pPr rtl="1" algn="l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ودود لكن عادل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840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Same rules for everyone, even old friends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القواعد للجميع، حتى أصدقاء الأمس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03</a:t>
            </a:r>
            <a:endParaRPr lang="en-US" sz="6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Effective Time Management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الوقت بفعالية</a:t>
            </a:r>
            <a:endParaRPr lang="ar-EG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accent3"/>
                </a:solidFill>
              </a:rPr>
              <a:t>Every minute matters during the rush</a:t>
            </a:r>
            <a:endParaRPr lang="en-US" sz="1600" dirty="0"/>
          </a:p>
          <a:p>
            <a:pPr rtl="1" algn="l" indent="0" marL="0">
              <a:buNone/>
            </a:pPr>
            <a:r>
              <a:rPr lang="ar-EG" altLang="en-US" sz="16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دقيقة مهمة وقت الزحمة</a:t>
            </a:r>
            <a:endParaRPr lang="en-US" sz="1600" dirty="0"/>
          </a:p>
        </p:txBody>
      </p:sp>
      <p:sp>
        <p:nvSpPr>
          <p:cNvPr id="6" name="Section circle"/>
          <p:cNvSpPr/>
          <p:nvPr/>
        </p:nvSpPr>
        <p:spPr>
          <a:xfrm>
            <a:off x="6400800" y="1417320"/>
            <a:ext cx="2286000" cy="22860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Effective Time Man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Plan your shift in 4 moments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لشيفتك في 4 مراحل</a:t>
            </a:r>
            <a:endParaRPr lang="ar-EG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69494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1097280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Before the shi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5819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Before the shift</a:t>
            </a:r>
            <a:endParaRPr lang="en-US" sz="1500" dirty="0"/>
          </a:p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الشيفت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0175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Check the schedule, give each partner a spot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الجدول ووزّع كل فرد على مكانه</a:t>
            </a:r>
            <a:endParaRPr lang="en-US" sz="1200" dirty="0"/>
          </a:p>
        </p:txBody>
      </p:sp>
      <p:sp>
        <p:nvSpPr>
          <p:cNvPr id="9" name="Step 2"/>
          <p:cNvSpPr/>
          <p:nvPr/>
        </p:nvSpPr>
        <p:spPr>
          <a:xfrm>
            <a:off x="3154680" y="1371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eak hou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5819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Peak hours</a:t>
            </a:r>
            <a:endParaRPr lang="en-US" sz="1500" dirty="0"/>
          </a:p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الذروة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30175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Right person, right place, no side tasks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الشخص المناسب في المكان المناسب</a:t>
            </a:r>
            <a:endParaRPr lang="en-US" sz="1200" dirty="0"/>
          </a:p>
        </p:txBody>
      </p:sp>
      <p:sp>
        <p:nvSpPr>
          <p:cNvPr id="13" name="Step 3"/>
          <p:cNvSpPr/>
          <p:nvPr/>
        </p:nvSpPr>
        <p:spPr>
          <a:xfrm>
            <a:off x="5212080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Slow ti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5819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Slow times</a:t>
            </a:r>
            <a:endParaRPr lang="en-US" sz="1500" dirty="0"/>
          </a:p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الهدوء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709160" y="30175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Clean, restock and train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نظّف، استكمل النواقص، ودرّب</a:t>
            </a:r>
            <a:endParaRPr lang="en-US" sz="1200" dirty="0"/>
          </a:p>
        </p:txBody>
      </p:sp>
      <p:sp>
        <p:nvSpPr>
          <p:cNvPr id="17" name="Step 4"/>
          <p:cNvSpPr/>
          <p:nvPr/>
        </p:nvSpPr>
        <p:spPr>
          <a:xfrm>
            <a:off x="7269480" y="1371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End of shif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5819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08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End of shift</a:t>
            </a:r>
            <a:endParaRPr lang="en-US" sz="1500" dirty="0"/>
          </a:p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نهاية الشيفت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766560" y="30175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Clear handover notes for the next team</a:t>
            </a:r>
            <a:endParaRPr lang="en-US" sz="1200" dirty="0"/>
          </a:p>
          <a:p>
            <a:pPr rtl="1" algn="ct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تسليم واضحة للفريق التالي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Peak hours = protect the bar. Everything else can wait.</a:t>
            </a:r>
            <a:endParaRPr lang="en-US" sz="1400" dirty="0"/>
          </a:p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الذروة = احمِ البار. أي شيء آخر يمكنه الانتظار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Prioritize: what comes first?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رتّب أولوياتك: ماذا أولًا؟</a:t>
            </a:r>
            <a:endParaRPr lang="ar-EG" sz="1800" dirty="0"/>
          </a:p>
        </p:txBody>
      </p:sp>
      <p:sp>
        <p:nvSpPr>
          <p:cNvPr id="4" name="Do it now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Do it now</a:t>
            </a:r>
            <a:endParaRPr lang="en-US" sz="18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نفّذ فورًا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Urgent + important</a:t>
            </a:r>
            <a:endParaRPr lang="en-US" sz="1100" dirty="0"/>
          </a:p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عاجل + مهم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Long line, spill, upset customer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طابور طويل، انسكاب، عميل متضايق</a:t>
            </a:r>
            <a:endParaRPr lang="en-US" sz="1200" dirty="0"/>
          </a:p>
        </p:txBody>
      </p:sp>
      <p:sp>
        <p:nvSpPr>
          <p:cNvPr id="8" name="Plan it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Plan it</a:t>
            </a:r>
            <a:endParaRPr lang="en-US" sz="18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له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Important, not urgent</a:t>
            </a:r>
            <a:endParaRPr lang="en-US" sz="1100" dirty="0"/>
          </a:p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 وغير عاجل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2128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Training a new partner, weekly order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زميل جديد، الطلبية الأسبوعية</a:t>
            </a:r>
            <a:endParaRPr lang="en-US" sz="1200" dirty="0"/>
          </a:p>
        </p:txBody>
      </p:sp>
      <p:sp>
        <p:nvSpPr>
          <p:cNvPr id="12" name="Delegate it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Delegate it</a:t>
            </a:r>
            <a:endParaRPr lang="en-US" sz="18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فوّضه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Urgent, not important</a:t>
            </a:r>
            <a:endParaRPr lang="en-US" sz="1100" dirty="0"/>
          </a:p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عاجل وغير مهم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58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Restock cups, empty the trash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استكمال الأكواب، تفريغ القمامة</a:t>
            </a:r>
            <a:endParaRPr lang="en-US" sz="1200" dirty="0"/>
          </a:p>
        </p:txBody>
      </p:sp>
      <p:sp>
        <p:nvSpPr>
          <p:cNvPr id="16" name="Drop it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Drop it</a:t>
            </a:r>
            <a:endParaRPr lang="en-US" sz="1800" dirty="0"/>
          </a:p>
          <a:p>
            <a:pPr rtl="1" algn="l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اتركه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Not urgent, not important</a:t>
            </a:r>
            <a:endParaRPr lang="en-US" sz="1100" dirty="0"/>
          </a:p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عاجل وغير مهم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858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Phone scrolling, long side chats</a:t>
            </a:r>
            <a:endParaRPr lang="en-US" sz="1200" dirty="0"/>
          </a:p>
          <a:p>
            <a:pPr rtl="1" algn="l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تصفّح الموبايل، الدردشة الطويلة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 things to remember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أشياء لا تنساها</a:t>
            </a:r>
            <a:endParaRPr lang="ar-EG" sz="1800" dirty="0"/>
          </a:p>
        </p:txBody>
      </p:sp>
      <p:sp>
        <p:nvSpPr>
          <p:cNvPr id="4" name="Takeaway 1"/>
          <p:cNvSpPr/>
          <p:nvPr/>
        </p:nvSpPr>
        <p:spPr>
          <a:xfrm>
            <a:off x="1325880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ommunic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Communicate</a:t>
            </a:r>
            <a:endParaRPr lang="en-US" sz="2000" dirty="0"/>
          </a:p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تواصَل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03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Listen first, speak clearly, use LATTE</a:t>
            </a:r>
            <a:endParaRPr lang="en-US" sz="1300" dirty="0"/>
          </a:p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استمع أولًا، تكلّم بوضوح، واستخدم LATTE</a:t>
            </a:r>
            <a:endParaRPr lang="en-US" sz="1300" dirty="0"/>
          </a:p>
        </p:txBody>
      </p:sp>
      <p:sp>
        <p:nvSpPr>
          <p:cNvPr id="8" name="Takeaway 2"/>
          <p:cNvSpPr/>
          <p:nvPr/>
        </p:nvSpPr>
        <p:spPr>
          <a:xfrm>
            <a:off x="4069080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L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Lead</a:t>
            </a:r>
            <a:endParaRPr lang="en-US" sz="2000" dirty="0"/>
          </a:p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قُد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3703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Your success is now your team's success</a:t>
            </a:r>
            <a:endParaRPr lang="en-US" sz="1300" dirty="0"/>
          </a:p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نجاحك الآن هو نجاح فريقك</a:t>
            </a:r>
            <a:endParaRPr lang="en-US" sz="1300" dirty="0"/>
          </a:p>
        </p:txBody>
      </p:sp>
      <p:sp>
        <p:nvSpPr>
          <p:cNvPr id="12" name="Takeaway 3"/>
          <p:cNvSpPr/>
          <p:nvPr/>
        </p:nvSpPr>
        <p:spPr>
          <a:xfrm>
            <a:off x="6812280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Manage t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350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Manage time</a:t>
            </a:r>
            <a:endParaRPr lang="en-US" sz="2000" dirty="0"/>
          </a:p>
          <a:p>
            <a:pPr rtl="1" algn="ctr" indent="0" marL="0">
              <a:buNone/>
            </a:pPr>
            <a:r>
              <a:rPr lang="ar-EG" altLang="en-US" sz="17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نظّم وقتك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3703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Plan the shift and do first things first</a:t>
            </a:r>
            <a:endParaRPr lang="en-US" sz="1300" dirty="0"/>
          </a:p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للشيفت وابدأ بالأهم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لكم!</a:t>
            </a:r>
            <a:endParaRPr lang="ar-EG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Questions?</a:t>
            </a:r>
            <a:endParaRPr lang="en-US" sz="2000" dirty="0"/>
          </a:p>
          <a:p>
            <a:pPr rtl="1" algn="l" indent="0" marL="0">
              <a:buNone/>
            </a:pPr>
            <a:r>
              <a:rPr lang="ar-EG" altLang="en-US" sz="2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أسئلة؟</a:t>
            </a:r>
            <a:endParaRPr lang="en-US" sz="2000" dirty="0"/>
          </a:p>
        </p:txBody>
      </p:sp>
      <p:sp>
        <p:nvSpPr>
          <p:cNvPr id="5" name="Closing circle"/>
          <p:cNvSpPr/>
          <p:nvPr/>
        </p:nvSpPr>
        <p:spPr>
          <a:xfrm>
            <a:off x="6126480" y="118872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ffee c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83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Apron">
  <a:themeElements>
    <a:clrScheme name="Green Apron">
      <a:dk1>
        <a:srgbClr val="1E3932"/>
      </a:dk1>
      <a:lt1>
        <a:srgbClr val="FFFFFF"/>
      </a:lt1>
      <a:dk2>
        <a:srgbClr val="00704A"/>
      </a:dk2>
      <a:lt2>
        <a:srgbClr val="EAF4F0"/>
      </a:lt2>
      <a:accent1>
        <a:srgbClr val="00704A"/>
      </a:accent1>
      <a:accent2>
        <a:srgbClr val="CBA258"/>
      </a:accent2>
      <a:accent3>
        <a:srgbClr val="D4E9E2"/>
      </a:accent3>
      <a:accent4>
        <a:srgbClr val="1E3932"/>
      </a:accent4>
      <a:accent5>
        <a:srgbClr val="006241"/>
      </a:accent5>
      <a:accent6>
        <a:srgbClr val="5C6B66"/>
      </a:accent6>
      <a:hlink>
        <a:srgbClr val="00704A"/>
      </a:hlink>
      <a:folHlink>
        <a:srgbClr val="1E3932"/>
      </a:folHlink>
    </a:clrScheme>
    <a:fontScheme name="Green Apr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Leading the Starbucks Way</dc:title>
  <dc:subject>PptxGenJS Presentation</dc:subject>
  <dc:creator>PptxGenJS</dc:creator>
  <cp:lastModifiedBy>PptxGenJS</cp:lastModifiedBy>
  <cp:revision>1</cp:revision>
  <dcterms:created xsi:type="dcterms:W3CDTF">2026-10-20T17:59:28Z</dcterms:created>
  <dcterms:modified xsi:type="dcterms:W3CDTF">2026-10-20T17:59:28Z</dcterms:modified>
</cp:coreProperties>
</file>